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65" r:id="rId2"/>
    <p:sldMasterId id="2147483682" r:id="rId3"/>
  </p:sldMasterIdLst>
  <p:notesMasterIdLst>
    <p:notesMasterId r:id="rId48"/>
  </p:notesMasterIdLst>
  <p:handoutMasterIdLst>
    <p:handoutMasterId r:id="rId49"/>
  </p:handoutMasterIdLst>
  <p:sldIdLst>
    <p:sldId id="256" r:id="rId4"/>
    <p:sldId id="305" r:id="rId5"/>
    <p:sldId id="277" r:id="rId6"/>
    <p:sldId id="278" r:id="rId7"/>
    <p:sldId id="279" r:id="rId8"/>
    <p:sldId id="280" r:id="rId9"/>
    <p:sldId id="281" r:id="rId10"/>
    <p:sldId id="282" r:id="rId11"/>
    <p:sldId id="284" r:id="rId12"/>
    <p:sldId id="296" r:id="rId13"/>
    <p:sldId id="283" r:id="rId14"/>
    <p:sldId id="285" r:id="rId15"/>
    <p:sldId id="286" r:id="rId16"/>
    <p:sldId id="303" r:id="rId17"/>
    <p:sldId id="287" r:id="rId18"/>
    <p:sldId id="288" r:id="rId19"/>
    <p:sldId id="289" r:id="rId20"/>
    <p:sldId id="290" r:id="rId21"/>
    <p:sldId id="291" r:id="rId22"/>
    <p:sldId id="307" r:id="rId23"/>
    <p:sldId id="292" r:id="rId24"/>
    <p:sldId id="297" r:id="rId25"/>
    <p:sldId id="294" r:id="rId26"/>
    <p:sldId id="295" r:id="rId27"/>
    <p:sldId id="298" r:id="rId28"/>
    <p:sldId id="299" r:id="rId29"/>
    <p:sldId id="300" r:id="rId30"/>
    <p:sldId id="266" r:id="rId31"/>
    <p:sldId id="265" r:id="rId32"/>
    <p:sldId id="267" r:id="rId33"/>
    <p:sldId id="262" r:id="rId34"/>
    <p:sldId id="263" r:id="rId35"/>
    <p:sldId id="268" r:id="rId36"/>
    <p:sldId id="270" r:id="rId37"/>
    <p:sldId id="269" r:id="rId38"/>
    <p:sldId id="271" r:id="rId39"/>
    <p:sldId id="272" r:id="rId40"/>
    <p:sldId id="273" r:id="rId41"/>
    <p:sldId id="274" r:id="rId42"/>
    <p:sldId id="276" r:id="rId43"/>
    <p:sldId id="304" r:id="rId44"/>
    <p:sldId id="306" r:id="rId45"/>
    <p:sldId id="275" r:id="rId46"/>
    <p:sldId id="302" r:id="rId47"/>
  </p:sldIdLst>
  <p:sldSz cx="16256000" cy="9144000"/>
  <p:notesSz cx="16256000" cy="9144000"/>
  <p:embeddedFontLs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mbria Math" panose="02040503050406030204" pitchFamily="18" charset="0"/>
      <p:regular r:id="rId54"/>
    </p:embeddedFont>
    <p:embeddedFont>
      <p:font typeface="Roboto" panose="02000000000000000000" pitchFamily="2" charset="0"/>
      <p:regular r:id="rId55"/>
      <p:bold r:id="rId56"/>
      <p:italic r:id="rId57"/>
      <p:boldItalic r:id="rId58"/>
    </p:embeddedFont>
    <p:embeddedFont>
      <p:font typeface="Tahoma" panose="020B0604030504040204" pitchFamily="34" charset="0"/>
      <p:regular r:id="rId59"/>
      <p:bold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86" autoAdjust="0"/>
    <p:restoredTop sz="96764" autoAdjust="0"/>
  </p:normalViewPr>
  <p:slideViewPr>
    <p:cSldViewPr snapToGrid="0">
      <p:cViewPr varScale="1">
        <p:scale>
          <a:sx n="97" d="100"/>
          <a:sy n="97" d="100"/>
        </p:scale>
        <p:origin x="21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13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10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5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E884CEB-65DA-497F-A37A-625FB091C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DFC328-0DED-42C7-B0C7-F7F21D5466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0816-24C7-4FFD-A496-E641701393F2}" type="datetimeFigureOut">
              <a:rPr lang="es-PE" smtClean="0"/>
              <a:t>5/07/2022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6A3B04-6C57-4AF4-9759-9B632F8B68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756F68-F69B-43DC-BBE4-2483D937A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8AB5A-9BED-488A-BE9C-6D8CC7386E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6001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9207500" y="0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080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9207500" y="8685213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Árboles binarios </a:t>
            </a:r>
          </a:p>
          <a:p>
            <a:r>
              <a:rPr lang="es-ES" dirty="0"/>
              <a:t>Árboles k-arios</a:t>
            </a:r>
          </a:p>
          <a:p>
            <a:r>
              <a:rPr lang="es-ES" dirty="0"/>
              <a:t>Árboles </a:t>
            </a:r>
            <a:r>
              <a:rPr lang="es-ES" dirty="0" err="1"/>
              <a:t>permutacionales</a:t>
            </a:r>
            <a:r>
              <a:rPr lang="es-ES" dirty="0"/>
              <a:t> </a:t>
            </a:r>
          </a:p>
          <a:p>
            <a:r>
              <a:rPr lang="es-ES" dirty="0"/>
              <a:t>Árboles combinatorios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fld id="{00000000-1234-1234-1234-123412341234}" type="slidenum">
              <a:rPr lang="es-P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0563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es-PE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9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E1632868-82E5-43FB-91B8-89177129DA85}" type="slidenum">
              <a:rPr lang="es-PE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31</a:t>
            </a:fld>
            <a:endParaRPr lang="es-PE" sz="1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360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es-PE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1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5A4EC76E-626A-47D4-B2B6-A8F6005175CB}" type="slidenum">
              <a:rPr lang="es-PE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32</a:t>
            </a:fld>
            <a:endParaRPr lang="es-PE" sz="1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9861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fld id="{00000000-1234-1234-1234-123412341234}" type="slidenum">
              <a:rPr lang="es-P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7837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12800" y="0"/>
            <a:ext cx="15172201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 b="0" i="0" u="none" strike="noStrike" cap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120650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86690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260350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335280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410210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483870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558800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633730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2102554" y="2690282"/>
            <a:ext cx="13795200" cy="546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55880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5207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Roboto"/>
              <a:buChar char="○"/>
              <a:defRPr sz="4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476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Roboto"/>
              <a:buChar char="■"/>
              <a:defRPr sz="3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438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●"/>
              <a:defRPr sz="3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438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○"/>
              <a:defRPr sz="3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○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2065866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6502400" y="8322733"/>
            <a:ext cx="5125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2519377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2438400" y="5120639"/>
            <a:ext cx="1137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>
            <a:spLocks noGrp="1"/>
          </p:cNvSpPr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 rot="10800000" flipH="1">
            <a:off x="0" y="1167000"/>
            <a:ext cx="16256101" cy="79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/>
          <p:nvPr/>
        </p:nvSpPr>
        <p:spPr>
          <a:xfrm>
            <a:off x="0" y="1166844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174666" y="29066"/>
            <a:ext cx="156918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/>
        </p:nvSpPr>
        <p:spPr>
          <a:xfrm rot="10800000" flipH="1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/>
          <p:nvPr/>
        </p:nvSpPr>
        <p:spPr>
          <a:xfrm rot="-5400000">
            <a:off x="1349666" y="4475400"/>
            <a:ext cx="91440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 rot="5400000">
            <a:off x="3460311" y="4475866"/>
            <a:ext cx="91428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8781333" y="1287466"/>
            <a:ext cx="6821400" cy="6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 rot="10800000" flipH="1">
            <a:off x="0" y="-133"/>
            <a:ext cx="16256101" cy="834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 rot="10800000" flipH="1">
            <a:off x="0" y="8218211"/>
            <a:ext cx="16256101" cy="131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101600" y="8349911"/>
            <a:ext cx="149013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ctr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513694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18896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13893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12800" y="0"/>
            <a:ext cx="15172201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 b="0" i="0" u="none" strike="noStrike" cap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120650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86690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260350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335280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410210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483870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558800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633730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2102554" y="2690282"/>
            <a:ext cx="13795200" cy="546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55880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5207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Roboto"/>
              <a:buChar char="○"/>
              <a:defRPr sz="4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476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Roboto"/>
              <a:buChar char="■"/>
              <a:defRPr sz="3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438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●"/>
              <a:defRPr sz="3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438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○"/>
              <a:defRPr sz="3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○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2065866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6502400" y="8322733"/>
            <a:ext cx="5125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2519377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969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2438400" y="5120639"/>
            <a:ext cx="1137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6529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875713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>
            <a:spLocks noGrp="1"/>
          </p:cNvSpPr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522005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32365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79126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 rot="10800000" flipH="1">
            <a:off x="0" y="1167000"/>
            <a:ext cx="16256101" cy="79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/>
          <p:nvPr/>
        </p:nvSpPr>
        <p:spPr>
          <a:xfrm>
            <a:off x="0" y="1166844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174666" y="29066"/>
            <a:ext cx="156918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541099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/>
        </p:nvSpPr>
        <p:spPr>
          <a:xfrm rot="10800000" flipH="1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/>
          <p:nvPr/>
        </p:nvSpPr>
        <p:spPr>
          <a:xfrm rot="-5400000">
            <a:off x="1349666" y="4475400"/>
            <a:ext cx="91440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89559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71522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 rot="5400000">
            <a:off x="3460311" y="4475866"/>
            <a:ext cx="91428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8781333" y="1287466"/>
            <a:ext cx="6821400" cy="6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637310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 rot="10800000" flipH="1">
            <a:off x="0" y="-133"/>
            <a:ext cx="16256101" cy="834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 rot="10800000" flipH="1">
            <a:off x="0" y="8218211"/>
            <a:ext cx="16256101" cy="131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101600" y="8349911"/>
            <a:ext cx="149013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628578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ctr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313339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bg>
      <p:bgPr>
        <a:solidFill>
          <a:schemeClr val="accent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827522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2279653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6119286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8E92E-F748-49B1-8E7C-68FD196B0B3F}" type="datetimeFigureOut">
              <a:rPr lang="es-PE" smtClean="0"/>
              <a:t>5/07/2022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04B82-0406-432D-A276-7415AE6E4C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335397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062889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304110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28751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12800" y="0"/>
            <a:ext cx="15172201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 b="0" i="0" u="none" strike="noStrike" cap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120650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86690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260350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335280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410210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483870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558800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633730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2102554" y="2690282"/>
            <a:ext cx="13795200" cy="546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55880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5207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Roboto"/>
              <a:buChar char="○"/>
              <a:defRPr sz="4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476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Roboto"/>
              <a:buChar char="■"/>
              <a:defRPr sz="39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438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●"/>
              <a:defRPr sz="3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4381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○"/>
              <a:defRPr sz="3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○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558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sz="5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2065866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6502400" y="8322733"/>
            <a:ext cx="5125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2519377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4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6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7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8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0403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2438400" y="5120639"/>
            <a:ext cx="1137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119934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049993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>
            <a:spLocks noGrp="1"/>
          </p:cNvSpPr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68237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560404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122628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 rot="10800000" flipH="1">
            <a:off x="0" y="1167000"/>
            <a:ext cx="16256101" cy="797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/>
          <p:nvPr/>
        </p:nvSpPr>
        <p:spPr>
          <a:xfrm>
            <a:off x="0" y="1166844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174666" y="29066"/>
            <a:ext cx="156918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071280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/>
        </p:nvSpPr>
        <p:spPr>
          <a:xfrm rot="10800000" flipH="1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/>
          <p:nvPr/>
        </p:nvSpPr>
        <p:spPr>
          <a:xfrm rot="-5400000">
            <a:off x="1349666" y="4475400"/>
            <a:ext cx="91440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733486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537336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 rot="5400000">
            <a:off x="3460311" y="4475866"/>
            <a:ext cx="91428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8781333" y="1287466"/>
            <a:ext cx="6821400" cy="6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227970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 rot="10800000" flipH="1">
            <a:off x="0" y="-133"/>
            <a:ext cx="16256101" cy="834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 rot="10800000" flipH="1">
            <a:off x="0" y="8218211"/>
            <a:ext cx="16256101" cy="131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101600" y="8349911"/>
            <a:ext cx="149013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798047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ctr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149041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bg>
      <p:bgPr>
        <a:solidFill>
          <a:schemeClr val="accent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2443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36095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9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91968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1076825" y="660450"/>
            <a:ext cx="14487900" cy="77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s-PE" sz="6800" b="1" i="0" u="none" strike="noStrike" cap="none">
                <a:solidFill>
                  <a:srgbClr val="FFFFFF"/>
                </a:solidFill>
              </a:rPr>
              <a:t>Welcome to </a:t>
            </a:r>
            <a:br>
              <a:rPr lang="es-PE" sz="6800" b="1" i="0" u="none" strike="noStrike" cap="none">
                <a:solidFill>
                  <a:srgbClr val="FFFFFF"/>
                </a:solidFill>
              </a:rPr>
            </a:br>
            <a:r>
              <a:rPr lang="es-PE" sz="6800" b="1">
                <a:solidFill>
                  <a:srgbClr val="FFFFFF"/>
                </a:solidFill>
              </a:rPr>
              <a:t>Algorithms and Data Structures</a:t>
            </a:r>
            <a:r>
              <a:rPr lang="es-PE" sz="6800" b="1" i="0" u="none" strike="noStrike" cap="none">
                <a:solidFill>
                  <a:srgbClr val="FFFFFF"/>
                </a:solidFill>
              </a:rPr>
              <a:t>! - CS</a:t>
            </a:r>
            <a:r>
              <a:rPr lang="es-PE" sz="6800" b="1">
                <a:solidFill>
                  <a:srgbClr val="FFFFFF"/>
                </a:solidFill>
              </a:rPr>
              <a:t>2100</a:t>
            </a:r>
            <a:r>
              <a:rPr lang="es-PE" sz="6800" b="1" i="0" u="none" strike="noStrike" cap="none">
                <a:solidFill>
                  <a:srgbClr val="FFFFFF"/>
                </a:solidFill>
              </a:rPr>
              <a:t>  </a:t>
            </a:r>
            <a:endParaRPr sz="6800" b="1" i="0" u="none" strike="noStrike" cap="none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7200" b="1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217FCCD-3DEC-41F6-8ADA-35233D00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endParaRPr lang="es-P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5190213-311A-4F22-9ABF-4BD4FD660F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17" t="2445" r="3333" b="24667"/>
          <a:stretch/>
        </p:blipFill>
        <p:spPr bwMode="auto">
          <a:xfrm>
            <a:off x="266106" y="1439334"/>
            <a:ext cx="5090160" cy="4998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66A637-8EB5-4375-AC95-F7214820CC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" t="2445" r="48333" b="36074"/>
          <a:stretch/>
        </p:blipFill>
        <p:spPr bwMode="auto">
          <a:xfrm>
            <a:off x="1899920" y="4668522"/>
            <a:ext cx="6228080" cy="4216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cktracking explained. A gentle introduction to backtracking | by Andrea  Iacono | Medium">
            <a:extLst>
              <a:ext uri="{FF2B5EF4-FFF2-40B4-BE49-F238E27FC236}">
                <a16:creationId xmlns:a16="http://schemas.microsoft.com/office/drawing/2014/main" id="{88B6A8F9-CFAA-461B-9988-75E21039B6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2"/>
          <a:stretch/>
        </p:blipFill>
        <p:spPr bwMode="auto">
          <a:xfrm>
            <a:off x="8466588" y="1265229"/>
            <a:ext cx="7596372" cy="474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13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53F083B-A7B8-4350-A99C-569367D7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AA18DA-0DDB-4CAB-8D89-5EADD4031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33" y="3172178"/>
            <a:ext cx="8945147" cy="49863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sz="2800" dirty="0">
                <a:solidFill>
                  <a:schemeClr val="bg2"/>
                </a:solidFill>
              </a:rPr>
              <a:t>El </a:t>
            </a:r>
            <a:r>
              <a:rPr lang="es-ES" sz="2800" b="1" dirty="0" err="1">
                <a:solidFill>
                  <a:schemeClr val="bg2"/>
                </a:solidFill>
              </a:rPr>
              <a:t>backtracking</a:t>
            </a:r>
            <a:r>
              <a:rPr lang="es-ES" sz="2800" dirty="0">
                <a:solidFill>
                  <a:schemeClr val="bg2"/>
                </a:solidFill>
              </a:rPr>
              <a:t> es una técnica general de resolución de problemas, aplicable en problemas de </a:t>
            </a:r>
            <a:r>
              <a:rPr lang="es-ES" sz="2800" b="1" dirty="0">
                <a:solidFill>
                  <a:schemeClr val="bg2"/>
                </a:solidFill>
              </a:rPr>
              <a:t>optimización</a:t>
            </a:r>
            <a:r>
              <a:rPr lang="es-ES" sz="2800" dirty="0">
                <a:solidFill>
                  <a:schemeClr val="bg2"/>
                </a:solidFill>
              </a:rPr>
              <a:t>, juegos y otros tipos.</a:t>
            </a:r>
          </a:p>
          <a:p>
            <a:pPr>
              <a:lnSpc>
                <a:spcPct val="150000"/>
              </a:lnSpc>
            </a:pPr>
            <a:r>
              <a:rPr lang="es-ES" sz="2800" dirty="0">
                <a:solidFill>
                  <a:schemeClr val="bg2"/>
                </a:solidFill>
              </a:rPr>
              <a:t>El </a:t>
            </a:r>
            <a:r>
              <a:rPr lang="es-ES" sz="2800" dirty="0" err="1">
                <a:solidFill>
                  <a:schemeClr val="bg2"/>
                </a:solidFill>
              </a:rPr>
              <a:t>backtracking</a:t>
            </a:r>
            <a:r>
              <a:rPr lang="es-ES" sz="2800" dirty="0">
                <a:solidFill>
                  <a:schemeClr val="bg2"/>
                </a:solidFill>
              </a:rPr>
              <a:t> realiza una </a:t>
            </a:r>
            <a:r>
              <a:rPr lang="es-ES" sz="2800" b="1" dirty="0">
                <a:solidFill>
                  <a:schemeClr val="bg2"/>
                </a:solidFill>
              </a:rPr>
              <a:t>búsqueda exhaustiva </a:t>
            </a:r>
            <a:r>
              <a:rPr lang="es-ES" sz="2800" dirty="0">
                <a:solidFill>
                  <a:schemeClr val="bg2"/>
                </a:solidFill>
              </a:rPr>
              <a:t>y </a:t>
            </a:r>
            <a:r>
              <a:rPr lang="es-ES" sz="2800" b="1" dirty="0">
                <a:solidFill>
                  <a:schemeClr val="bg2"/>
                </a:solidFill>
              </a:rPr>
              <a:t>sistemática</a:t>
            </a:r>
            <a:r>
              <a:rPr lang="es-ES" sz="2800" dirty="0">
                <a:solidFill>
                  <a:schemeClr val="bg2"/>
                </a:solidFill>
              </a:rPr>
              <a:t> en el espacio de soluciones. Por ello, suele resultar muy ineficiente. </a:t>
            </a:r>
          </a:p>
        </p:txBody>
      </p:sp>
      <p:pic>
        <p:nvPicPr>
          <p:cNvPr id="1026" name="Picture 2" descr="Backtracking algorithm (taken from [1]). | Download Scientific Diagram">
            <a:extLst>
              <a:ext uri="{FF2B5EF4-FFF2-40B4-BE49-F238E27FC236}">
                <a16:creationId xmlns:a16="http://schemas.microsoft.com/office/drawing/2014/main" id="{E9F28A26-8561-4DE5-B591-093B8D8F8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880" y="3188460"/>
            <a:ext cx="5683568" cy="560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252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22706-D9FC-42E7-B4DA-D64192C91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r>
              <a:rPr lang="es-ES" dirty="0"/>
              <a:t>: Método General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37EA7F-C295-4C92-9125-3191A386C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33" y="3251200"/>
            <a:ext cx="14617199" cy="4978487"/>
          </a:xfrm>
        </p:spPr>
        <p:txBody>
          <a:bodyPr/>
          <a:lstStyle/>
          <a:p>
            <a:r>
              <a:rPr lang="es-ES" dirty="0"/>
              <a:t>Una solución se puede expresar como una tupla, (x</a:t>
            </a:r>
            <a:r>
              <a:rPr lang="es-ES" sz="2000" dirty="0"/>
              <a:t>1</a:t>
            </a:r>
            <a:r>
              <a:rPr lang="es-ES" dirty="0"/>
              <a:t> , x</a:t>
            </a:r>
            <a:r>
              <a:rPr lang="es-ES" sz="2000" dirty="0"/>
              <a:t>2</a:t>
            </a:r>
            <a:r>
              <a:rPr lang="es-ES" dirty="0"/>
              <a:t> , ..., </a:t>
            </a:r>
            <a:r>
              <a:rPr lang="es-ES" dirty="0" err="1"/>
              <a:t>x</a:t>
            </a:r>
            <a:r>
              <a:rPr lang="es-ES" sz="2400" dirty="0" err="1"/>
              <a:t>n</a:t>
            </a:r>
            <a:r>
              <a:rPr lang="es-ES" dirty="0"/>
              <a:t> ), que satisfaga unas restricciones y tal vez que optimice cierta función objetivo</a:t>
            </a:r>
          </a:p>
          <a:p>
            <a:r>
              <a:rPr lang="es-ES" dirty="0"/>
              <a:t>En cada momento, el algoritmo se encontrará en cierto nivel k, con una solución parcial (x</a:t>
            </a:r>
            <a:r>
              <a:rPr lang="es-ES" sz="2000" dirty="0"/>
              <a:t>1</a:t>
            </a:r>
            <a:r>
              <a:rPr lang="es-ES" dirty="0"/>
              <a:t> , ..., </a:t>
            </a:r>
            <a:r>
              <a:rPr lang="es-ES" dirty="0" err="1"/>
              <a:t>x</a:t>
            </a:r>
            <a:r>
              <a:rPr lang="es-ES" sz="2000" dirty="0" err="1"/>
              <a:t>k</a:t>
            </a:r>
            <a:r>
              <a:rPr lang="es-ES" dirty="0"/>
              <a:t> ). </a:t>
            </a:r>
          </a:p>
          <a:p>
            <a:pPr lvl="1">
              <a:spcBef>
                <a:spcPts val="1200"/>
              </a:spcBef>
            </a:pPr>
            <a:r>
              <a:rPr lang="es-ES" sz="2600" dirty="0">
                <a:solidFill>
                  <a:schemeClr val="bg2"/>
                </a:solidFill>
              </a:rPr>
              <a:t>Si se puede añadir un nuevo elemento a la solución x</a:t>
            </a:r>
            <a:r>
              <a:rPr lang="es-ES" sz="1600" dirty="0">
                <a:solidFill>
                  <a:schemeClr val="bg2"/>
                </a:solidFill>
              </a:rPr>
              <a:t>k+1</a:t>
            </a:r>
            <a:r>
              <a:rPr lang="es-ES" sz="2600" dirty="0">
                <a:solidFill>
                  <a:schemeClr val="bg2"/>
                </a:solidFill>
              </a:rPr>
              <a:t>, se genera y se avanza al nivel k+1.</a:t>
            </a:r>
          </a:p>
          <a:p>
            <a:pPr lvl="1">
              <a:spcBef>
                <a:spcPts val="1200"/>
              </a:spcBef>
            </a:pPr>
            <a:r>
              <a:rPr lang="es-ES" sz="2600" dirty="0">
                <a:solidFill>
                  <a:schemeClr val="bg2"/>
                </a:solidFill>
              </a:rPr>
              <a:t>Si no, se prueban otros valores para </a:t>
            </a:r>
            <a:r>
              <a:rPr lang="es-ES" sz="2600" dirty="0" err="1">
                <a:solidFill>
                  <a:schemeClr val="bg2"/>
                </a:solidFill>
              </a:rPr>
              <a:t>x</a:t>
            </a:r>
            <a:r>
              <a:rPr lang="es-ES" sz="1800" dirty="0" err="1">
                <a:solidFill>
                  <a:schemeClr val="bg2"/>
                </a:solidFill>
              </a:rPr>
              <a:t>k</a:t>
            </a:r>
            <a:r>
              <a:rPr lang="es-ES" sz="2600" dirty="0">
                <a:solidFill>
                  <a:schemeClr val="bg2"/>
                </a:solidFill>
              </a:rPr>
              <a:t> . </a:t>
            </a:r>
          </a:p>
          <a:p>
            <a:pPr lvl="1">
              <a:spcBef>
                <a:spcPts val="1200"/>
              </a:spcBef>
            </a:pPr>
            <a:r>
              <a:rPr lang="es-ES" sz="2600" dirty="0">
                <a:solidFill>
                  <a:schemeClr val="bg2"/>
                </a:solidFill>
              </a:rPr>
              <a:t>Si no existe ningún valor posible por probar, entonces se retrocede al nivel anterior k-1. </a:t>
            </a:r>
          </a:p>
          <a:p>
            <a:pPr lvl="1">
              <a:spcBef>
                <a:spcPts val="1200"/>
              </a:spcBef>
            </a:pPr>
            <a:r>
              <a:rPr lang="es-ES" sz="2600" dirty="0">
                <a:solidFill>
                  <a:schemeClr val="bg2"/>
                </a:solidFill>
              </a:rPr>
              <a:t>Se sigue hasta que la solución parcial sea una solución completa del problema, o hasta que no queden más posibilidades por probar.</a:t>
            </a:r>
            <a:endParaRPr lang="es-PE" sz="2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68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C8B86-BEF0-40EC-853B-97F01F0C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r>
              <a:rPr lang="es-ES" dirty="0"/>
              <a:t>: Método General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418D78-6335-4336-8508-A7AE677F6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33" y="3194756"/>
            <a:ext cx="14617199" cy="1478845"/>
          </a:xfrm>
        </p:spPr>
        <p:txBody>
          <a:bodyPr/>
          <a:lstStyle/>
          <a:p>
            <a:r>
              <a:rPr lang="es-ES" dirty="0"/>
              <a:t>El resultado es equivalente a hacer un recorrido en profundidad en el árbol de soluciones. 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C266D7-0FA9-4F80-9B8B-06062222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20" y="4337635"/>
            <a:ext cx="8821381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4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C8B86-BEF0-40EC-853B-97F01F0C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r>
              <a:rPr lang="es-ES" dirty="0"/>
              <a:t>: Método General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418D78-6335-4336-8508-A7AE677F6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33" y="3194756"/>
            <a:ext cx="14617199" cy="1478845"/>
          </a:xfrm>
        </p:spPr>
        <p:txBody>
          <a:bodyPr/>
          <a:lstStyle/>
          <a:p>
            <a:r>
              <a:rPr lang="es-PE" dirty="0"/>
              <a:t>Representación simplificada del árbol.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CFD508-588C-41A4-B670-B179D1DF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1" y="4207647"/>
            <a:ext cx="897380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4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C8B86-BEF0-40EC-853B-97F01F0C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r>
              <a:rPr lang="es-ES" dirty="0"/>
              <a:t>: Método General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418D78-6335-4336-8508-A7AE677F6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33" y="3194756"/>
            <a:ext cx="14617199" cy="5328355"/>
          </a:xfrm>
        </p:spPr>
        <p:txBody>
          <a:bodyPr/>
          <a:lstStyle/>
          <a:p>
            <a:r>
              <a:rPr lang="es-PE" b="1" dirty="0"/>
              <a:t>Árboles de </a:t>
            </a:r>
            <a:r>
              <a:rPr lang="es-PE" b="1" dirty="0" err="1"/>
              <a:t>backtracking</a:t>
            </a:r>
            <a:r>
              <a:rPr lang="es-PE" b="1" dirty="0"/>
              <a:t>:</a:t>
            </a:r>
          </a:p>
          <a:p>
            <a:pPr lvl="1">
              <a:lnSpc>
                <a:spcPct val="100000"/>
              </a:lnSpc>
            </a:pPr>
            <a:r>
              <a:rPr lang="es-ES" sz="2800" dirty="0">
                <a:solidFill>
                  <a:schemeClr val="bg2"/>
                </a:solidFill>
              </a:rPr>
              <a:t>El árbol es simplemente una forma de representar la ejecución del algoritmo. </a:t>
            </a:r>
          </a:p>
          <a:p>
            <a:pPr lvl="1">
              <a:lnSpc>
                <a:spcPct val="100000"/>
              </a:lnSpc>
            </a:pPr>
            <a:r>
              <a:rPr lang="es-ES" sz="2800" dirty="0">
                <a:solidFill>
                  <a:schemeClr val="bg2"/>
                </a:solidFill>
              </a:rPr>
              <a:t>Es implícito, no almacenado (no necesariamente). </a:t>
            </a:r>
          </a:p>
          <a:p>
            <a:pPr lvl="1">
              <a:lnSpc>
                <a:spcPct val="100000"/>
              </a:lnSpc>
            </a:pPr>
            <a:r>
              <a:rPr lang="es-ES" sz="2800" dirty="0">
                <a:solidFill>
                  <a:schemeClr val="bg2"/>
                </a:solidFill>
              </a:rPr>
              <a:t>El recorrido es en profundidad, normalmente de izquierda a derecha. </a:t>
            </a:r>
          </a:p>
          <a:p>
            <a:pPr lvl="1">
              <a:lnSpc>
                <a:spcPct val="100000"/>
              </a:lnSpc>
            </a:pPr>
            <a:r>
              <a:rPr lang="es-ES" sz="2800" dirty="0">
                <a:solidFill>
                  <a:schemeClr val="bg2"/>
                </a:solidFill>
              </a:rPr>
              <a:t>La primera decisión para aplicar </a:t>
            </a:r>
            <a:r>
              <a:rPr lang="es-ES" sz="2800" dirty="0" err="1">
                <a:solidFill>
                  <a:schemeClr val="bg2"/>
                </a:solidFill>
              </a:rPr>
              <a:t>backtracking</a:t>
            </a:r>
            <a:r>
              <a:rPr lang="es-ES" sz="2800" dirty="0">
                <a:solidFill>
                  <a:schemeClr val="bg2"/>
                </a:solidFill>
              </a:rPr>
              <a:t>: ¿cómo es la forma del árbol?</a:t>
            </a:r>
          </a:p>
          <a:p>
            <a:pPr lvl="1">
              <a:lnSpc>
                <a:spcPct val="100000"/>
              </a:lnSpc>
            </a:pPr>
            <a:r>
              <a:rPr lang="es-ES" sz="2800" dirty="0">
                <a:solidFill>
                  <a:schemeClr val="bg2"/>
                </a:solidFill>
              </a:rPr>
              <a:t>Preguntas relacionadas: ¿Qué significa cada valor de la tupla solución (x1 , ..., </a:t>
            </a:r>
            <a:r>
              <a:rPr lang="es-ES" sz="2800" dirty="0" err="1">
                <a:solidFill>
                  <a:schemeClr val="bg2"/>
                </a:solidFill>
              </a:rPr>
              <a:t>xn</a:t>
            </a:r>
            <a:r>
              <a:rPr lang="es-ES" sz="2800" dirty="0">
                <a:solidFill>
                  <a:schemeClr val="bg2"/>
                </a:solidFill>
              </a:rPr>
              <a:t> )? ¿Cómo es la representación de la solución al problema?</a:t>
            </a:r>
            <a:endParaRPr lang="es-PE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91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59E-DD81-4993-9452-76B0F5E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r>
              <a:rPr lang="es-ES" dirty="0"/>
              <a:t>: Método General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45D8A5-41E5-454B-A270-5B1075D9B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33" y="3104444"/>
            <a:ext cx="11183733" cy="5350934"/>
          </a:xfrm>
        </p:spPr>
        <p:txBody>
          <a:bodyPr/>
          <a:lstStyle/>
          <a:p>
            <a:r>
              <a:rPr lang="es-ES" b="1" dirty="0"/>
              <a:t>Árboles binarios</a:t>
            </a:r>
            <a:r>
              <a:rPr lang="es-ES" dirty="0"/>
              <a:t>: s= (x1 , x2 , ..., </a:t>
            </a:r>
            <a:r>
              <a:rPr lang="es-ES" dirty="0" err="1"/>
              <a:t>xn</a:t>
            </a:r>
            <a:r>
              <a:rPr lang="es-ES" dirty="0"/>
              <a:t> ), con xi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ϵ</a:t>
            </a:r>
            <a:r>
              <a:rPr lang="es-ES" dirty="0"/>
              <a:t> {0, 1}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E00E33-D2A3-4267-94D3-0309B8003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077" y="4378781"/>
            <a:ext cx="6211167" cy="305795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8CF000F-A89F-445E-BA3B-6E1972A441F1}"/>
              </a:ext>
            </a:extLst>
          </p:cNvPr>
          <p:cNvSpPr txBox="1"/>
          <p:nvPr/>
        </p:nvSpPr>
        <p:spPr>
          <a:xfrm>
            <a:off x="838933" y="4378781"/>
            <a:ext cx="8530846" cy="3705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31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Roboto"/>
              <a:buChar char="●"/>
              <a:tabLst/>
              <a:defRPr/>
            </a:pPr>
            <a:r>
              <a:rPr kumimoji="0" lang="es-ES" sz="3200" b="1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Tipo de problemas:</a:t>
            </a: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 elegir ciertos elementos de entre un conjunto, sin importar el orden de los elementos. </a:t>
            </a:r>
          </a:p>
          <a:p>
            <a:pPr marL="914400" lvl="1" indent="-387350">
              <a:lnSpc>
                <a:spcPct val="115000"/>
              </a:lnSpc>
              <a:spcBef>
                <a:spcPts val="1800"/>
              </a:spcBef>
              <a:buClr>
                <a:srgbClr val="737373"/>
              </a:buClr>
              <a:buSzPts val="2500"/>
              <a:buFont typeface="Roboto"/>
              <a:buChar char="○"/>
              <a:defRPr/>
            </a:pP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Encontrar un subconjunto de {12, 23, 1, 8, 33, 7, 22} que sume exactamente 50.</a:t>
            </a:r>
          </a:p>
          <a:p>
            <a:pPr marL="914400" marR="0" lvl="1" indent="-38735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737373"/>
              </a:buClr>
              <a:buSzPts val="2500"/>
              <a:buFont typeface="Roboto"/>
              <a:buChar char="○"/>
              <a:tabLst/>
              <a:defRPr/>
            </a:pP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Problema de la mochila 0/1. </a:t>
            </a:r>
          </a:p>
        </p:txBody>
      </p:sp>
    </p:spTree>
    <p:extLst>
      <p:ext uri="{BB962C8B-B14F-4D97-AF65-F5344CB8AC3E}">
        <p14:creationId xmlns:p14="http://schemas.microsoft.com/office/powerpoint/2010/main" val="700073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C60A1DE-0CDB-4796-AAAA-A76124A1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Método General</a:t>
            </a:r>
            <a:endParaRPr lang="es-PE" sz="40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4A1983-67CE-4098-B4AF-B1A9CB5D3A7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64961" y="1232781"/>
            <a:ext cx="14617700" cy="7741885"/>
          </a:xfrm>
        </p:spPr>
        <p:txBody>
          <a:bodyPr/>
          <a:lstStyle/>
          <a:p>
            <a:r>
              <a:rPr lang="es-ES" b="1" dirty="0">
                <a:solidFill>
                  <a:schemeClr val="bg2"/>
                </a:solidFill>
              </a:rPr>
              <a:t>Algoritmo</a:t>
            </a:r>
            <a:r>
              <a:rPr lang="es-ES" dirty="0">
                <a:solidFill>
                  <a:schemeClr val="bg2"/>
                </a:solidFill>
              </a:rPr>
              <a:t>: ¡esquema general! </a:t>
            </a:r>
          </a:p>
          <a:p>
            <a:r>
              <a:rPr lang="es-ES" b="1" dirty="0" err="1">
                <a:solidFill>
                  <a:schemeClr val="bg2"/>
                </a:solidFill>
              </a:rPr>
              <a:t>Backtracking</a:t>
            </a:r>
            <a:r>
              <a:rPr lang="es-ES" b="1" dirty="0">
                <a:solidFill>
                  <a:schemeClr val="bg2"/>
                </a:solidFill>
              </a:rPr>
              <a:t> (</a:t>
            </a:r>
            <a:r>
              <a:rPr lang="es-ES" b="1" dirty="0" err="1">
                <a:solidFill>
                  <a:schemeClr val="bg2"/>
                </a:solidFill>
              </a:rPr>
              <a:t>var</a:t>
            </a:r>
            <a:r>
              <a:rPr lang="es-ES" b="1" dirty="0">
                <a:solidFill>
                  <a:schemeClr val="bg2"/>
                </a:solidFill>
              </a:rPr>
              <a:t> s: </a:t>
            </a:r>
            <a:r>
              <a:rPr lang="es-ES" b="1" dirty="0" err="1">
                <a:solidFill>
                  <a:schemeClr val="bg2"/>
                </a:solidFill>
              </a:rPr>
              <a:t>TuplaSolución</a:t>
            </a:r>
            <a:r>
              <a:rPr lang="es-ES" b="1" dirty="0">
                <a:solidFill>
                  <a:schemeClr val="bg2"/>
                </a:solidFill>
              </a:rPr>
              <a:t>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bg2"/>
                </a:solidFill>
              </a:rPr>
              <a:t>	</a:t>
            </a:r>
            <a:r>
              <a:rPr lang="es-ES" sz="2600" dirty="0">
                <a:solidFill>
                  <a:schemeClr val="bg2"/>
                </a:solidFill>
              </a:rPr>
              <a:t>nivel:= 1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s:= </a:t>
            </a:r>
            <a:r>
              <a:rPr lang="es-ES" sz="2600" dirty="0" err="1">
                <a:solidFill>
                  <a:schemeClr val="bg2"/>
                </a:solidFill>
              </a:rPr>
              <a:t>s</a:t>
            </a:r>
            <a:r>
              <a:rPr lang="es-ES" sz="2600" baseline="-25000" dirty="0" err="1">
                <a:solidFill>
                  <a:schemeClr val="bg2"/>
                </a:solidFill>
              </a:rPr>
              <a:t>INICIAL</a:t>
            </a:r>
            <a:endParaRPr lang="es-ES" sz="2600" baseline="-25000" dirty="0">
              <a:solidFill>
                <a:schemeClr val="bg2"/>
              </a:solidFill>
            </a:endParaRP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fin:= false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</a:t>
            </a:r>
            <a:r>
              <a:rPr lang="es-ES" sz="2600" b="1" dirty="0">
                <a:solidFill>
                  <a:schemeClr val="bg2"/>
                </a:solidFill>
              </a:rPr>
              <a:t>repetir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Generar (nivel, s)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</a:t>
            </a:r>
            <a:r>
              <a:rPr lang="es-ES" sz="2600" dirty="0">
                <a:solidFill>
                  <a:schemeClr val="bg2"/>
                </a:solidFill>
              </a:rPr>
              <a:t> Solución (nivel, s) </a:t>
            </a:r>
            <a:r>
              <a:rPr lang="es-ES" sz="2600" b="1" dirty="0">
                <a:solidFill>
                  <a:schemeClr val="bg2"/>
                </a:solidFill>
              </a:rPr>
              <a:t>entonces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fin:= true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sino</a:t>
            </a:r>
            <a:r>
              <a:rPr lang="es-ES" sz="2600" dirty="0">
                <a:solidFill>
                  <a:schemeClr val="bg2"/>
                </a:solidFill>
              </a:rPr>
              <a:t> si Criterio (nivel, s) </a:t>
            </a:r>
            <a:r>
              <a:rPr lang="es-ES" sz="2600" b="1" dirty="0">
                <a:solidFill>
                  <a:schemeClr val="bg2"/>
                </a:solidFill>
              </a:rPr>
              <a:t>entonces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nivel:= nivel + 1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sino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</a:t>
            </a:r>
            <a:r>
              <a:rPr lang="es-ES" sz="2600" b="1" dirty="0">
                <a:solidFill>
                  <a:schemeClr val="bg2"/>
                </a:solidFill>
              </a:rPr>
              <a:t>mientras</a:t>
            </a:r>
            <a:r>
              <a:rPr lang="es-ES" sz="2600" dirty="0">
                <a:solidFill>
                  <a:schemeClr val="bg2"/>
                </a:solidFill>
              </a:rPr>
              <a:t> NOT </a:t>
            </a:r>
            <a:r>
              <a:rPr lang="es-ES" sz="2600" dirty="0" err="1">
                <a:solidFill>
                  <a:schemeClr val="bg2"/>
                </a:solidFill>
              </a:rPr>
              <a:t>MasHermanos</a:t>
            </a:r>
            <a:r>
              <a:rPr lang="es-ES" sz="2600" dirty="0">
                <a:solidFill>
                  <a:schemeClr val="bg2"/>
                </a:solidFill>
              </a:rPr>
              <a:t> (nivel, s) </a:t>
            </a:r>
            <a:r>
              <a:rPr lang="es-ES" sz="2600" b="1" dirty="0">
                <a:solidFill>
                  <a:schemeClr val="bg2"/>
                </a:solidFill>
              </a:rPr>
              <a:t>hacer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	Retroceder (nivel, s)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 err="1">
                <a:solidFill>
                  <a:schemeClr val="bg2"/>
                </a:solidFill>
              </a:rPr>
              <a:t>finsi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</a:t>
            </a:r>
            <a:r>
              <a:rPr lang="es-ES" sz="2600" b="1" dirty="0">
                <a:solidFill>
                  <a:schemeClr val="bg2"/>
                </a:solidFill>
              </a:rPr>
              <a:t>hasta</a:t>
            </a:r>
            <a:r>
              <a:rPr lang="es-ES" sz="2600" dirty="0">
                <a:solidFill>
                  <a:schemeClr val="bg2"/>
                </a:solidFill>
              </a:rPr>
              <a:t> fin</a:t>
            </a:r>
            <a:endParaRPr lang="es-PE" sz="2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3E8F79C-1F8E-4ABC-9F8E-7A762FA8C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800" dirty="0" err="1"/>
              <a:t>Backtracking</a:t>
            </a:r>
            <a:r>
              <a:rPr lang="es-ES" sz="8800" dirty="0"/>
              <a:t>: </a:t>
            </a:r>
            <a:br>
              <a:rPr lang="es-ES" sz="8800" dirty="0"/>
            </a:br>
            <a:r>
              <a:rPr lang="es-ES" sz="8800" dirty="0"/>
              <a:t>Problema del Subconjunto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75154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59E-DD81-4993-9452-76B0F5E7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55" y="243555"/>
            <a:ext cx="15691800" cy="1071600"/>
          </a:xfrm>
        </p:spPr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 Problema del Subconjunto </a:t>
            </a:r>
            <a:endParaRPr lang="es-PE" sz="40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45D8A5-41E5-454B-A270-5B1075D9BF3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49956" y="1580091"/>
            <a:ext cx="15307733" cy="7067197"/>
          </a:xfrm>
        </p:spPr>
        <p:txBody>
          <a:bodyPr/>
          <a:lstStyle/>
          <a:p>
            <a:r>
              <a:rPr lang="es-ES" b="1" dirty="0">
                <a:solidFill>
                  <a:schemeClr val="bg2"/>
                </a:solidFill>
              </a:rPr>
              <a:t>Ejemplo de problema:</a:t>
            </a:r>
            <a:r>
              <a:rPr lang="es-ES" dirty="0">
                <a:solidFill>
                  <a:schemeClr val="bg2"/>
                </a:solidFill>
              </a:rPr>
              <a:t> encontrar un subconjunto del conjunto T= {t1, t2, ..., </a:t>
            </a:r>
            <a:r>
              <a:rPr lang="es-ES" dirty="0" err="1">
                <a:solidFill>
                  <a:schemeClr val="bg2"/>
                </a:solidFill>
              </a:rPr>
              <a:t>tn</a:t>
            </a:r>
            <a:r>
              <a:rPr lang="es-ES" dirty="0">
                <a:solidFill>
                  <a:schemeClr val="bg2"/>
                </a:solidFill>
              </a:rPr>
              <a:t> } que sume exactamente P.</a:t>
            </a:r>
          </a:p>
          <a:p>
            <a:r>
              <a:rPr lang="es-ES" b="1" dirty="0">
                <a:solidFill>
                  <a:schemeClr val="bg2"/>
                </a:solidFill>
              </a:rPr>
              <a:t>Variables:</a:t>
            </a:r>
          </a:p>
          <a:p>
            <a:pPr lvl="1">
              <a:spcBef>
                <a:spcPts val="1200"/>
              </a:spcBef>
            </a:pPr>
            <a:r>
              <a:rPr lang="es-ES" sz="2800" dirty="0">
                <a:solidFill>
                  <a:schemeClr val="bg2"/>
                </a:solidFill>
              </a:rPr>
              <a:t>Representación de la solución con un árbol binario.</a:t>
            </a:r>
          </a:p>
          <a:p>
            <a:pPr lvl="1">
              <a:spcBef>
                <a:spcPts val="1200"/>
              </a:spcBef>
            </a:pPr>
            <a:r>
              <a:rPr lang="es-ES" sz="2800" b="1" dirty="0">
                <a:solidFill>
                  <a:schemeClr val="bg2"/>
                </a:solidFill>
              </a:rPr>
              <a:t>S</a:t>
            </a:r>
            <a:r>
              <a:rPr lang="es-ES" sz="2800" dirty="0">
                <a:solidFill>
                  <a:schemeClr val="bg2"/>
                </a:solidFill>
              </a:rPr>
              <a:t>: array [1..n] de {-1, 0, 1} </a:t>
            </a:r>
          </a:p>
          <a:p>
            <a:pPr lvl="2">
              <a:spcBef>
                <a:spcPts val="1200"/>
              </a:spcBef>
            </a:pPr>
            <a:r>
              <a:rPr lang="es-ES" sz="2800" dirty="0">
                <a:solidFill>
                  <a:schemeClr val="bg2"/>
                </a:solidFill>
              </a:rPr>
              <a:t>s[i] = 0 </a:t>
            </a:r>
            <a:r>
              <a:rPr lang="es-ES" sz="28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r>
              <a:rPr lang="es-ES" sz="2800" dirty="0">
                <a:solidFill>
                  <a:schemeClr val="bg2"/>
                </a:solidFill>
              </a:rPr>
              <a:t> el número i-</a:t>
            </a:r>
            <a:r>
              <a:rPr lang="es-ES" sz="2800" dirty="0" err="1">
                <a:solidFill>
                  <a:schemeClr val="bg2"/>
                </a:solidFill>
              </a:rPr>
              <a:t>ésimo</a:t>
            </a:r>
            <a:r>
              <a:rPr lang="es-ES" sz="2800" dirty="0">
                <a:solidFill>
                  <a:schemeClr val="bg2"/>
                </a:solidFill>
              </a:rPr>
              <a:t> no se utiliza </a:t>
            </a:r>
          </a:p>
          <a:p>
            <a:pPr lvl="2">
              <a:spcBef>
                <a:spcPts val="1200"/>
              </a:spcBef>
            </a:pPr>
            <a:r>
              <a:rPr lang="es-ES" sz="2800" dirty="0">
                <a:solidFill>
                  <a:schemeClr val="bg2"/>
                </a:solidFill>
              </a:rPr>
              <a:t>s[i] = 1 </a:t>
            </a:r>
            <a:r>
              <a:rPr lang="es-ES" sz="28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r>
              <a:rPr lang="es-ES" sz="2800" dirty="0">
                <a:solidFill>
                  <a:schemeClr val="bg2"/>
                </a:solidFill>
              </a:rPr>
              <a:t> el número i-</a:t>
            </a:r>
            <a:r>
              <a:rPr lang="es-ES" sz="2800" dirty="0" err="1">
                <a:solidFill>
                  <a:schemeClr val="bg2"/>
                </a:solidFill>
              </a:rPr>
              <a:t>ésimo</a:t>
            </a:r>
            <a:r>
              <a:rPr lang="es-ES" sz="2800" dirty="0">
                <a:solidFill>
                  <a:schemeClr val="bg2"/>
                </a:solidFill>
              </a:rPr>
              <a:t> sí se utiliza </a:t>
            </a:r>
          </a:p>
          <a:p>
            <a:pPr lvl="2">
              <a:spcBef>
                <a:spcPts val="1200"/>
              </a:spcBef>
            </a:pPr>
            <a:r>
              <a:rPr lang="es-ES" sz="2800" dirty="0">
                <a:solidFill>
                  <a:schemeClr val="bg2"/>
                </a:solidFill>
              </a:rPr>
              <a:t>s[i] = -1 </a:t>
            </a:r>
            <a:r>
              <a:rPr lang="es-ES" sz="2800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r>
              <a:rPr lang="es-ES" sz="2800" dirty="0">
                <a:solidFill>
                  <a:schemeClr val="bg2"/>
                </a:solidFill>
              </a:rPr>
              <a:t> valor de inicialización (número i-</a:t>
            </a:r>
            <a:r>
              <a:rPr lang="es-ES" sz="2800" dirty="0" err="1">
                <a:solidFill>
                  <a:schemeClr val="bg2"/>
                </a:solidFill>
              </a:rPr>
              <a:t>ésimo</a:t>
            </a:r>
            <a:r>
              <a:rPr lang="es-ES" sz="2800" dirty="0">
                <a:solidFill>
                  <a:schemeClr val="bg2"/>
                </a:solidFill>
              </a:rPr>
              <a:t> no estudiado)</a:t>
            </a:r>
          </a:p>
          <a:p>
            <a:pPr lvl="1">
              <a:spcBef>
                <a:spcPts val="1200"/>
              </a:spcBef>
            </a:pPr>
            <a:r>
              <a:rPr lang="es-ES" sz="2800" b="1" dirty="0">
                <a:solidFill>
                  <a:schemeClr val="bg2"/>
                </a:solidFill>
              </a:rPr>
              <a:t>S</a:t>
            </a:r>
            <a:r>
              <a:rPr lang="es-ES" sz="2400" b="1" baseline="-25000" dirty="0">
                <a:solidFill>
                  <a:schemeClr val="bg2"/>
                </a:solidFill>
              </a:rPr>
              <a:t>INICIAL</a:t>
            </a:r>
            <a:r>
              <a:rPr lang="es-ES" sz="2800" dirty="0">
                <a:solidFill>
                  <a:schemeClr val="bg2"/>
                </a:solidFill>
              </a:rPr>
              <a:t>: (-1, -1, ..., -1) </a:t>
            </a:r>
          </a:p>
          <a:p>
            <a:pPr lvl="1">
              <a:spcBef>
                <a:spcPts val="1200"/>
              </a:spcBef>
            </a:pPr>
            <a:r>
              <a:rPr lang="es-ES" sz="2800" b="1" dirty="0">
                <a:solidFill>
                  <a:schemeClr val="bg2"/>
                </a:solidFill>
              </a:rPr>
              <a:t>fin</a:t>
            </a:r>
            <a:r>
              <a:rPr lang="es-ES" sz="2800" dirty="0">
                <a:solidFill>
                  <a:schemeClr val="bg2"/>
                </a:solidFill>
              </a:rPr>
              <a:t>: valdrá </a:t>
            </a:r>
            <a:r>
              <a:rPr lang="es-ES" sz="2800" b="1" dirty="0">
                <a:solidFill>
                  <a:schemeClr val="bg2"/>
                </a:solidFill>
              </a:rPr>
              <a:t>true</a:t>
            </a:r>
            <a:r>
              <a:rPr lang="es-ES" sz="2800" dirty="0">
                <a:solidFill>
                  <a:schemeClr val="bg2"/>
                </a:solidFill>
              </a:rPr>
              <a:t> cuando se haya encontrado solución.</a:t>
            </a:r>
          </a:p>
          <a:p>
            <a:pPr lvl="1">
              <a:spcBef>
                <a:spcPts val="1200"/>
              </a:spcBef>
            </a:pPr>
            <a:r>
              <a:rPr lang="es-ES" sz="2800" b="1" dirty="0" err="1">
                <a:solidFill>
                  <a:schemeClr val="bg2"/>
                </a:solidFill>
              </a:rPr>
              <a:t>tact</a:t>
            </a:r>
            <a:r>
              <a:rPr lang="es-ES" sz="2800" dirty="0">
                <a:solidFill>
                  <a:schemeClr val="bg2"/>
                </a:solidFill>
              </a:rPr>
              <a:t>: suma acumulada hasta ahora (inicialmente 0).</a:t>
            </a:r>
          </a:p>
          <a:p>
            <a:endParaRPr lang="es-E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650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59E-DD81-4993-9452-76B0F5E7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55" y="243555"/>
            <a:ext cx="15691800" cy="1071600"/>
          </a:xfrm>
        </p:spPr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Problema del Subconjunto </a:t>
            </a:r>
            <a:endParaRPr lang="es-PE" sz="40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45D8A5-41E5-454B-A270-5B1075D9BF3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85955" y="1230136"/>
            <a:ext cx="15307733" cy="7913864"/>
          </a:xfrm>
        </p:spPr>
        <p:txBody>
          <a:bodyPr/>
          <a:lstStyle/>
          <a:p>
            <a:r>
              <a:rPr lang="es-PE" sz="3000" b="1" dirty="0">
                <a:solidFill>
                  <a:schemeClr val="bg2"/>
                </a:solidFill>
              </a:rPr>
              <a:t>Funciones</a:t>
            </a:r>
            <a:r>
              <a:rPr lang="es-PE" sz="3000" dirty="0">
                <a:solidFill>
                  <a:schemeClr val="bg2"/>
                </a:solidFill>
              </a:rPr>
              <a:t>: </a:t>
            </a:r>
          </a:p>
          <a:p>
            <a:pPr marL="25400" indent="0">
              <a:buNone/>
            </a:pPr>
            <a:r>
              <a:rPr lang="es-PE" sz="3000" b="1" dirty="0">
                <a:solidFill>
                  <a:schemeClr val="bg2"/>
                </a:solidFill>
              </a:rPr>
              <a:t>	</a:t>
            </a:r>
            <a:r>
              <a:rPr lang="es-PE" sz="3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 </a:t>
            </a:r>
            <a:r>
              <a:rPr lang="es-PE" sz="3000" b="1" dirty="0">
                <a:solidFill>
                  <a:schemeClr val="bg2"/>
                </a:solidFill>
              </a:rPr>
              <a:t>Generar (nivel, s) 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s[nivel]:= s[nivel] + 1 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</a:t>
            </a:r>
            <a:r>
              <a:rPr lang="es-PE" sz="3000" b="1" dirty="0">
                <a:solidFill>
                  <a:schemeClr val="bg2"/>
                </a:solidFill>
              </a:rPr>
              <a:t>si</a:t>
            </a:r>
            <a:r>
              <a:rPr lang="es-PE" sz="3000" dirty="0">
                <a:solidFill>
                  <a:schemeClr val="bg2"/>
                </a:solidFill>
              </a:rPr>
              <a:t> s[nivel] == 1  </a:t>
            </a:r>
            <a:r>
              <a:rPr lang="es-PE" sz="3000" b="1" dirty="0">
                <a:solidFill>
                  <a:schemeClr val="bg2"/>
                </a:solidFill>
              </a:rPr>
              <a:t>entonces</a:t>
            </a:r>
            <a:r>
              <a:rPr lang="es-PE" sz="3000" dirty="0">
                <a:solidFill>
                  <a:schemeClr val="bg2"/>
                </a:solidFill>
              </a:rPr>
              <a:t> 	</a:t>
            </a:r>
            <a:r>
              <a:rPr lang="es-PE" sz="3000" dirty="0" err="1">
                <a:solidFill>
                  <a:schemeClr val="bg2"/>
                </a:solidFill>
              </a:rPr>
              <a:t>tact</a:t>
            </a:r>
            <a:r>
              <a:rPr lang="es-PE" sz="3000" dirty="0">
                <a:solidFill>
                  <a:schemeClr val="bg2"/>
                </a:solidFill>
              </a:rPr>
              <a:t>:= </a:t>
            </a:r>
            <a:r>
              <a:rPr lang="es-PE" sz="3000" dirty="0" err="1">
                <a:solidFill>
                  <a:schemeClr val="bg2"/>
                </a:solidFill>
              </a:rPr>
              <a:t>tact</a:t>
            </a:r>
            <a:r>
              <a:rPr lang="es-PE" sz="3000" dirty="0">
                <a:solidFill>
                  <a:schemeClr val="bg2"/>
                </a:solidFill>
              </a:rPr>
              <a:t> + t[nivel] </a:t>
            </a:r>
          </a:p>
          <a:p>
            <a:pPr marL="25400" indent="0">
              <a:buNone/>
            </a:pPr>
            <a:r>
              <a:rPr lang="es-PE" sz="3000" b="1" dirty="0">
                <a:solidFill>
                  <a:schemeClr val="bg2"/>
                </a:solidFill>
              </a:rPr>
              <a:t>	</a:t>
            </a:r>
            <a:r>
              <a:rPr lang="es-PE" sz="3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3000" b="1" dirty="0">
                <a:solidFill>
                  <a:schemeClr val="bg2"/>
                </a:solidFill>
              </a:rPr>
              <a:t>Solución (nivel, s) 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</a:t>
            </a:r>
            <a:r>
              <a:rPr lang="es-PE" sz="3000" b="1" dirty="0">
                <a:solidFill>
                  <a:schemeClr val="bg2"/>
                </a:solidFill>
              </a:rPr>
              <a:t>devolver</a:t>
            </a:r>
            <a:r>
              <a:rPr lang="es-PE" sz="3000" dirty="0">
                <a:solidFill>
                  <a:schemeClr val="bg2"/>
                </a:solidFill>
              </a:rPr>
              <a:t> (nivel == n) Y (</a:t>
            </a:r>
            <a:r>
              <a:rPr lang="es-PE" sz="3000" dirty="0" err="1">
                <a:solidFill>
                  <a:schemeClr val="bg2"/>
                </a:solidFill>
              </a:rPr>
              <a:t>tact</a:t>
            </a:r>
            <a:r>
              <a:rPr lang="es-PE" sz="3000" dirty="0">
                <a:solidFill>
                  <a:schemeClr val="bg2"/>
                </a:solidFill>
              </a:rPr>
              <a:t> == P) </a:t>
            </a:r>
          </a:p>
          <a:p>
            <a:pPr marL="25400" indent="0">
              <a:buNone/>
            </a:pPr>
            <a:r>
              <a:rPr lang="es-PE" sz="3000" b="1" dirty="0">
                <a:solidFill>
                  <a:schemeClr val="bg2"/>
                </a:solidFill>
              </a:rPr>
              <a:t>	</a:t>
            </a:r>
            <a:r>
              <a:rPr lang="es-PE" sz="3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3000" b="1" dirty="0">
                <a:solidFill>
                  <a:schemeClr val="bg2"/>
                </a:solidFill>
              </a:rPr>
              <a:t>Criterio (nivel, s) 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</a:t>
            </a:r>
            <a:r>
              <a:rPr lang="es-PE" sz="3000" b="1" dirty="0">
                <a:solidFill>
                  <a:schemeClr val="bg2"/>
                </a:solidFill>
              </a:rPr>
              <a:t>devolver</a:t>
            </a:r>
            <a:r>
              <a:rPr lang="es-PE" sz="3000" dirty="0">
                <a:solidFill>
                  <a:schemeClr val="bg2"/>
                </a:solidFill>
              </a:rPr>
              <a:t> (nivel &lt; n) Y (</a:t>
            </a:r>
            <a:r>
              <a:rPr lang="es-PE" sz="3000" dirty="0" err="1">
                <a:solidFill>
                  <a:schemeClr val="bg2"/>
                </a:solidFill>
              </a:rPr>
              <a:t>tact</a:t>
            </a:r>
            <a:r>
              <a:rPr lang="es-PE" sz="3000" dirty="0">
                <a:solidFill>
                  <a:schemeClr val="bg2"/>
                </a:solidFill>
              </a:rPr>
              <a:t> ≤ P) </a:t>
            </a:r>
          </a:p>
          <a:p>
            <a:pPr marL="25400" indent="0">
              <a:buNone/>
            </a:pPr>
            <a:r>
              <a:rPr lang="es-PE" sz="3000" b="1" dirty="0">
                <a:solidFill>
                  <a:schemeClr val="bg2"/>
                </a:solidFill>
              </a:rPr>
              <a:t>	</a:t>
            </a:r>
            <a:r>
              <a:rPr lang="es-PE" sz="3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3000" b="1" dirty="0" err="1">
                <a:solidFill>
                  <a:schemeClr val="bg2"/>
                </a:solidFill>
              </a:rPr>
              <a:t>MasHermanos</a:t>
            </a:r>
            <a:r>
              <a:rPr lang="es-PE" sz="3000" b="1" dirty="0">
                <a:solidFill>
                  <a:schemeClr val="bg2"/>
                </a:solidFill>
              </a:rPr>
              <a:t> (nivel, s)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</a:t>
            </a:r>
            <a:r>
              <a:rPr lang="es-PE" sz="3000" b="1" dirty="0">
                <a:solidFill>
                  <a:schemeClr val="bg2"/>
                </a:solidFill>
              </a:rPr>
              <a:t>devolver</a:t>
            </a:r>
            <a:r>
              <a:rPr lang="es-PE" sz="3000" dirty="0">
                <a:solidFill>
                  <a:schemeClr val="bg2"/>
                </a:solidFill>
              </a:rPr>
              <a:t> s[nivel] &lt; 1 </a:t>
            </a:r>
          </a:p>
          <a:p>
            <a:pPr marL="25400" indent="0">
              <a:buNone/>
            </a:pPr>
            <a:r>
              <a:rPr lang="es-PE" sz="3000" b="1" dirty="0">
                <a:solidFill>
                  <a:schemeClr val="bg2"/>
                </a:solidFill>
              </a:rPr>
              <a:t>	</a:t>
            </a:r>
            <a:r>
              <a:rPr lang="es-PE" sz="3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3000" b="1" dirty="0">
                <a:solidFill>
                  <a:schemeClr val="bg2"/>
                </a:solidFill>
              </a:rPr>
              <a:t>Retroceder (nivel, s) 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</a:t>
            </a:r>
            <a:r>
              <a:rPr lang="es-PE" sz="3000" dirty="0" err="1">
                <a:solidFill>
                  <a:schemeClr val="bg2"/>
                </a:solidFill>
              </a:rPr>
              <a:t>tact</a:t>
            </a:r>
            <a:r>
              <a:rPr lang="es-PE" sz="3000" dirty="0">
                <a:solidFill>
                  <a:schemeClr val="bg2"/>
                </a:solidFill>
              </a:rPr>
              <a:t>:= </a:t>
            </a:r>
            <a:r>
              <a:rPr lang="es-PE" sz="3000" dirty="0" err="1">
                <a:solidFill>
                  <a:schemeClr val="bg2"/>
                </a:solidFill>
              </a:rPr>
              <a:t>tact</a:t>
            </a:r>
            <a:r>
              <a:rPr lang="es-PE" sz="3000" dirty="0">
                <a:solidFill>
                  <a:schemeClr val="bg2"/>
                </a:solidFill>
              </a:rPr>
              <a:t> – t[nivel]*s[nivel] 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s[nivel]:= -1 </a:t>
            </a:r>
          </a:p>
          <a:p>
            <a:pPr marL="25400" indent="0">
              <a:buNone/>
            </a:pPr>
            <a:r>
              <a:rPr lang="es-PE" sz="3000" dirty="0">
                <a:solidFill>
                  <a:schemeClr val="bg2"/>
                </a:solidFill>
              </a:rPr>
              <a:t>		nivel:= nivel – 1</a:t>
            </a:r>
            <a:endParaRPr lang="es-ES" sz="3000" dirty="0">
              <a:solidFill>
                <a:schemeClr val="bg2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6AECAE-14DD-4650-97AC-BA6CB23E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317" y="1939479"/>
            <a:ext cx="5569767" cy="406508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2442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9ECAF-D840-473A-B94A-5B117A45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3600" dirty="0" err="1"/>
              <a:t>Backtracking</a:t>
            </a:r>
            <a:r>
              <a:rPr lang="es-PE" sz="3600" dirty="0"/>
              <a:t>: Problema del Subconjunto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7FBA9D-0555-474A-8ED5-78FB4A98EFCB}"/>
              </a:ext>
            </a:extLst>
          </p:cNvPr>
          <p:cNvSpPr txBox="1"/>
          <p:nvPr/>
        </p:nvSpPr>
        <p:spPr>
          <a:xfrm>
            <a:off x="341488" y="1337312"/>
            <a:ext cx="148533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PE" sz="2800" b="1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Ejemplo: </a:t>
            </a:r>
            <a:r>
              <a:rPr kumimoji="0" lang="es-PE" sz="280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 considere el conjunto {2, 1, 4, 3} se busca el subconjunto que sume 5</a:t>
            </a:r>
            <a:endParaRPr lang="es-PE" sz="28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3B5E591-D584-436F-B64E-DD62AAE52D37}"/>
              </a:ext>
            </a:extLst>
          </p:cNvPr>
          <p:cNvSpPr/>
          <p:nvPr/>
        </p:nvSpPr>
        <p:spPr>
          <a:xfrm>
            <a:off x="6939280" y="2234245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[-1,-1,-1,-1]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FB4734-CB47-467E-975D-ADCF83307F6B}"/>
              </a:ext>
            </a:extLst>
          </p:cNvPr>
          <p:cNvSpPr txBox="1"/>
          <p:nvPr/>
        </p:nvSpPr>
        <p:spPr>
          <a:xfrm>
            <a:off x="5153378" y="260357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</a:t>
            </a:r>
            <a:r>
              <a:rPr lang="es-ES" sz="1400" dirty="0">
                <a:solidFill>
                  <a:schemeClr val="bg2"/>
                </a:solidFill>
              </a:rPr>
              <a:t>1 = 0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6ADB98E-4C4A-468C-B008-7AC423D4C5E0}"/>
              </a:ext>
            </a:extLst>
          </p:cNvPr>
          <p:cNvSpPr txBox="1"/>
          <p:nvPr/>
        </p:nvSpPr>
        <p:spPr>
          <a:xfrm>
            <a:off x="9440334" y="2651203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</a:t>
            </a:r>
            <a:r>
              <a:rPr lang="es-ES" sz="1400" dirty="0">
                <a:solidFill>
                  <a:schemeClr val="bg2"/>
                </a:solidFill>
              </a:rPr>
              <a:t>1 = 1</a:t>
            </a:r>
            <a:endParaRPr lang="es-PE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902123F-9DB4-46F9-B838-F28CE151120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143026" y="2757466"/>
            <a:ext cx="3659854" cy="4030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AF80D28-A87C-49B0-806F-EF1179D7BB6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802880" y="2757466"/>
            <a:ext cx="3994008" cy="40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3BA1241-06D1-4CF0-B4D4-F504686DBA8D}"/>
              </a:ext>
            </a:extLst>
          </p:cNvPr>
          <p:cNvSpPr/>
          <p:nvPr/>
        </p:nvSpPr>
        <p:spPr>
          <a:xfrm>
            <a:off x="14180967" y="5114055"/>
            <a:ext cx="1633502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[1, 0, 0, 1]  5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5C026CC-78F0-4B83-98F6-867A78EE0CFA}"/>
              </a:ext>
            </a:extLst>
          </p:cNvPr>
          <p:cNvSpPr/>
          <p:nvPr/>
        </p:nvSpPr>
        <p:spPr>
          <a:xfrm>
            <a:off x="11843737" y="6698854"/>
            <a:ext cx="1633502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[0, 1, 1, 0]  5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4CD6AAF-2003-4F40-A122-2A73BD7D9D34}"/>
              </a:ext>
            </a:extLst>
          </p:cNvPr>
          <p:cNvSpPr/>
          <p:nvPr/>
        </p:nvSpPr>
        <p:spPr>
          <a:xfrm>
            <a:off x="3392030" y="3213947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,-1,-1,-1]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1FB67D7D-0E14-41E1-8106-53795B4E9E31}"/>
              </a:ext>
            </a:extLst>
          </p:cNvPr>
          <p:cNvSpPr/>
          <p:nvPr/>
        </p:nvSpPr>
        <p:spPr>
          <a:xfrm>
            <a:off x="2253266" y="4333394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 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,-1,-1]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0A3DE36-8311-4AD3-B17C-F0A85FE63E4C}"/>
              </a:ext>
            </a:extLst>
          </p:cNvPr>
          <p:cNvSpPr txBox="1"/>
          <p:nvPr/>
        </p:nvSpPr>
        <p:spPr>
          <a:xfrm>
            <a:off x="2683652" y="3810173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</a:t>
            </a:r>
            <a:r>
              <a:rPr lang="es-ES" sz="1400" dirty="0">
                <a:solidFill>
                  <a:schemeClr val="bg2"/>
                </a:solidFill>
              </a:rPr>
              <a:t>2= 0</a:t>
            </a:r>
            <a:endParaRPr lang="es-PE" dirty="0"/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421C22A0-47B7-4F58-90EE-A53CA996FFB6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3116866" y="3737168"/>
            <a:ext cx="1138764" cy="5962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5BFF7474-14C6-4437-8F12-8AFF48AF77AC}"/>
              </a:ext>
            </a:extLst>
          </p:cNvPr>
          <p:cNvCxnSpPr>
            <a:cxnSpLocks/>
          </p:cNvCxnSpPr>
          <p:nvPr/>
        </p:nvCxnSpPr>
        <p:spPr>
          <a:xfrm flipH="1">
            <a:off x="2001670" y="4880085"/>
            <a:ext cx="1138764" cy="5962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6D602FD-03DE-4F93-9583-4203FA74A03E}"/>
              </a:ext>
            </a:extLst>
          </p:cNvPr>
          <p:cNvSpPr txBox="1"/>
          <p:nvPr/>
        </p:nvSpPr>
        <p:spPr>
          <a:xfrm>
            <a:off x="1830784" y="4918170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= 0</a:t>
            </a:r>
            <a:endParaRPr lang="es-PE" dirty="0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E2CD3B8F-3746-45DD-A309-A6C748C6D6D9}"/>
              </a:ext>
            </a:extLst>
          </p:cNvPr>
          <p:cNvSpPr/>
          <p:nvPr/>
        </p:nvSpPr>
        <p:spPr>
          <a:xfrm>
            <a:off x="1138070" y="5499781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F6523455-EAFF-42FE-AB07-C22B45CD51F0}"/>
              </a:ext>
            </a:extLst>
          </p:cNvPr>
          <p:cNvSpPr txBox="1"/>
          <p:nvPr/>
        </p:nvSpPr>
        <p:spPr>
          <a:xfrm>
            <a:off x="634726" y="614294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0</a:t>
            </a:r>
            <a:endParaRPr lang="es-PE" dirty="0"/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593179AD-24BC-4E0D-9B43-BA77129DA802}"/>
              </a:ext>
            </a:extLst>
          </p:cNvPr>
          <p:cNvCxnSpPr>
            <a:cxnSpLocks/>
          </p:cNvCxnSpPr>
          <p:nvPr/>
        </p:nvCxnSpPr>
        <p:spPr>
          <a:xfrm flipH="1">
            <a:off x="851062" y="6046472"/>
            <a:ext cx="1138764" cy="5962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D5A0CF04-9205-4F81-A65A-3EF483A40F39}"/>
              </a:ext>
            </a:extLst>
          </p:cNvPr>
          <p:cNvSpPr/>
          <p:nvPr/>
        </p:nvSpPr>
        <p:spPr>
          <a:xfrm>
            <a:off x="125315" y="6673159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E60DBFC-81E4-492C-BF4E-978AE8746B76}"/>
              </a:ext>
            </a:extLst>
          </p:cNvPr>
          <p:cNvSpPr/>
          <p:nvPr/>
        </p:nvSpPr>
        <p:spPr>
          <a:xfrm>
            <a:off x="2276834" y="6698854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</a:t>
            </a:r>
            <a:r>
              <a:rPr lang="es-ES" sz="1800" b="1" dirty="0">
                <a:solidFill>
                  <a:schemeClr val="bg2"/>
                </a:solidFill>
              </a:rPr>
              <a:t>3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F63D6EEA-FE1A-4A7A-B998-4263B9CD97B0}"/>
              </a:ext>
            </a:extLst>
          </p:cNvPr>
          <p:cNvCxnSpPr>
            <a:cxnSpLocks/>
            <a:stCxn id="72" idx="2"/>
            <a:endCxn id="76" idx="0"/>
          </p:cNvCxnSpPr>
          <p:nvPr/>
        </p:nvCxnSpPr>
        <p:spPr>
          <a:xfrm>
            <a:off x="2001670" y="6023002"/>
            <a:ext cx="1138764" cy="6758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D4213285-A793-48C3-89B2-6D8B36325098}"/>
              </a:ext>
            </a:extLst>
          </p:cNvPr>
          <p:cNvSpPr/>
          <p:nvPr/>
        </p:nvSpPr>
        <p:spPr>
          <a:xfrm>
            <a:off x="4289778" y="5471221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,-1]  </a:t>
            </a:r>
            <a:r>
              <a:rPr lang="es-ES" sz="1800" b="1" dirty="0">
                <a:solidFill>
                  <a:schemeClr val="bg2"/>
                </a:solidFill>
              </a:rPr>
              <a:t>4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148B7BE-9C3A-4EB2-87E7-9C71856449CE}"/>
              </a:ext>
            </a:extLst>
          </p:cNvPr>
          <p:cNvSpPr txBox="1"/>
          <p:nvPr/>
        </p:nvSpPr>
        <p:spPr>
          <a:xfrm>
            <a:off x="2581211" y="6175633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1</a:t>
            </a:r>
            <a:endParaRPr lang="es-PE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EF113E94-BC20-4D8D-92D8-3FBCB81571AA}"/>
              </a:ext>
            </a:extLst>
          </p:cNvPr>
          <p:cNvSpPr txBox="1"/>
          <p:nvPr/>
        </p:nvSpPr>
        <p:spPr>
          <a:xfrm>
            <a:off x="4289778" y="4893530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= 1</a:t>
            </a:r>
            <a:endParaRPr lang="es-PE" dirty="0"/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1CFC05B4-809E-4132-842D-D19EF5D2D1D9}"/>
              </a:ext>
            </a:extLst>
          </p:cNvPr>
          <p:cNvCxnSpPr>
            <a:cxnSpLocks/>
            <a:stCxn id="61" idx="2"/>
            <a:endCxn id="78" idx="0"/>
          </p:cNvCxnSpPr>
          <p:nvPr/>
        </p:nvCxnSpPr>
        <p:spPr>
          <a:xfrm>
            <a:off x="3116866" y="4856615"/>
            <a:ext cx="2036512" cy="6146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3674663-C002-4D87-9D08-64F0F2B4C502}"/>
              </a:ext>
            </a:extLst>
          </p:cNvPr>
          <p:cNvSpPr txBox="1"/>
          <p:nvPr/>
        </p:nvSpPr>
        <p:spPr>
          <a:xfrm>
            <a:off x="4300510" y="615910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0</a:t>
            </a:r>
            <a:endParaRPr lang="es-PE" dirty="0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D25E04A3-8484-4D3E-9764-D68FC8B35596}"/>
              </a:ext>
            </a:extLst>
          </p:cNvPr>
          <p:cNvSpPr/>
          <p:nvPr/>
        </p:nvSpPr>
        <p:spPr>
          <a:xfrm>
            <a:off x="4300510" y="6670746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]  </a:t>
            </a:r>
            <a:r>
              <a:rPr lang="es-ES" sz="1800" b="1" dirty="0">
                <a:solidFill>
                  <a:schemeClr val="bg2"/>
                </a:solidFill>
              </a:rPr>
              <a:t>4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C3612A84-C422-40A2-A3E0-68B56E963251}"/>
              </a:ext>
            </a:extLst>
          </p:cNvPr>
          <p:cNvCxnSpPr>
            <a:cxnSpLocks/>
            <a:endCxn id="83" idx="0"/>
          </p:cNvCxnSpPr>
          <p:nvPr/>
        </p:nvCxnSpPr>
        <p:spPr>
          <a:xfrm flipH="1">
            <a:off x="5164110" y="6012822"/>
            <a:ext cx="6852" cy="6579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ángulo 84">
            <a:extLst>
              <a:ext uri="{FF2B5EF4-FFF2-40B4-BE49-F238E27FC236}">
                <a16:creationId xmlns:a16="http://schemas.microsoft.com/office/drawing/2014/main" id="{0674EBBE-3A37-4D88-91F6-EA88F89233A8}"/>
              </a:ext>
            </a:extLst>
          </p:cNvPr>
          <p:cNvSpPr/>
          <p:nvPr/>
        </p:nvSpPr>
        <p:spPr>
          <a:xfrm>
            <a:off x="6175031" y="6670745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</a:t>
            </a:r>
            <a:r>
              <a:rPr lang="es-ES" sz="1800" b="1" dirty="0">
                <a:solidFill>
                  <a:schemeClr val="bg2"/>
                </a:solidFill>
              </a:rPr>
              <a:t>7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36F8D47D-CA27-4CFB-B19A-82B46B42B5E2}"/>
              </a:ext>
            </a:extLst>
          </p:cNvPr>
          <p:cNvSpPr txBox="1"/>
          <p:nvPr/>
        </p:nvSpPr>
        <p:spPr>
          <a:xfrm>
            <a:off x="6168964" y="6053151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</a:t>
            </a:r>
            <a:r>
              <a:rPr lang="es-ES" dirty="0">
                <a:solidFill>
                  <a:schemeClr val="bg2"/>
                </a:solidFill>
              </a:rPr>
              <a:t>1</a:t>
            </a:r>
            <a:endParaRPr lang="es-PE" dirty="0"/>
          </a:p>
        </p:txBody>
      </p: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790B9D68-D1B0-4C3F-91D0-645995680E9F}"/>
              </a:ext>
            </a:extLst>
          </p:cNvPr>
          <p:cNvCxnSpPr>
            <a:cxnSpLocks/>
            <a:stCxn id="78" idx="2"/>
            <a:endCxn id="85" idx="0"/>
          </p:cNvCxnSpPr>
          <p:nvPr/>
        </p:nvCxnSpPr>
        <p:spPr>
          <a:xfrm>
            <a:off x="5153378" y="5994442"/>
            <a:ext cx="1885253" cy="6763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ángulo 88">
            <a:extLst>
              <a:ext uri="{FF2B5EF4-FFF2-40B4-BE49-F238E27FC236}">
                <a16:creationId xmlns:a16="http://schemas.microsoft.com/office/drawing/2014/main" id="{CFCEDE03-0218-4B59-BD1B-399746269923}"/>
              </a:ext>
            </a:extLst>
          </p:cNvPr>
          <p:cNvSpPr/>
          <p:nvPr/>
        </p:nvSpPr>
        <p:spPr>
          <a:xfrm>
            <a:off x="6736513" y="4333393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,-1,-1]  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29A25D28-A22F-4A6B-8DE4-2E8A0CBE9C01}"/>
              </a:ext>
            </a:extLst>
          </p:cNvPr>
          <p:cNvSpPr txBox="1"/>
          <p:nvPr/>
        </p:nvSpPr>
        <p:spPr>
          <a:xfrm>
            <a:off x="5605784" y="367740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</a:t>
            </a:r>
            <a:r>
              <a:rPr lang="es-ES" sz="1400" dirty="0">
                <a:solidFill>
                  <a:schemeClr val="bg2"/>
                </a:solidFill>
              </a:rPr>
              <a:t>2= 1</a:t>
            </a:r>
            <a:endParaRPr lang="es-PE" dirty="0"/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5A4303BD-CC5C-4220-B36C-DD3F7E2EFBF2}"/>
              </a:ext>
            </a:extLst>
          </p:cNvPr>
          <p:cNvCxnSpPr>
            <a:cxnSpLocks/>
            <a:stCxn id="59" idx="2"/>
            <a:endCxn id="89" idx="0"/>
          </p:cNvCxnSpPr>
          <p:nvPr/>
        </p:nvCxnSpPr>
        <p:spPr>
          <a:xfrm>
            <a:off x="4255630" y="3737168"/>
            <a:ext cx="3344483" cy="5962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ángulo 93">
            <a:extLst>
              <a:ext uri="{FF2B5EF4-FFF2-40B4-BE49-F238E27FC236}">
                <a16:creationId xmlns:a16="http://schemas.microsoft.com/office/drawing/2014/main" id="{AFD56415-3713-4508-9B4A-F1519D9CAA5A}"/>
              </a:ext>
            </a:extLst>
          </p:cNvPr>
          <p:cNvSpPr/>
          <p:nvPr/>
        </p:nvSpPr>
        <p:spPr>
          <a:xfrm>
            <a:off x="7189890" y="5489601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,-1]  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AB8FC636-B2CA-4FFB-9234-632B88AA064A}"/>
              </a:ext>
            </a:extLst>
          </p:cNvPr>
          <p:cNvSpPr txBox="1"/>
          <p:nvPr/>
        </p:nvSpPr>
        <p:spPr>
          <a:xfrm>
            <a:off x="6835701" y="5019219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= 0</a:t>
            </a:r>
            <a:endParaRPr lang="es-PE" dirty="0"/>
          </a:p>
        </p:txBody>
      </p: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FA5F7D6D-4329-4784-B625-F95FBBF4B72B}"/>
              </a:ext>
            </a:extLst>
          </p:cNvPr>
          <p:cNvCxnSpPr>
            <a:cxnSpLocks/>
          </p:cNvCxnSpPr>
          <p:nvPr/>
        </p:nvCxnSpPr>
        <p:spPr>
          <a:xfrm>
            <a:off x="7670393" y="4862527"/>
            <a:ext cx="239032" cy="6372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ángulo 97">
            <a:extLst>
              <a:ext uri="{FF2B5EF4-FFF2-40B4-BE49-F238E27FC236}">
                <a16:creationId xmlns:a16="http://schemas.microsoft.com/office/drawing/2014/main" id="{C27B52EA-228C-4F79-A4AA-9297D24C5DF4}"/>
              </a:ext>
            </a:extLst>
          </p:cNvPr>
          <p:cNvSpPr/>
          <p:nvPr/>
        </p:nvSpPr>
        <p:spPr>
          <a:xfrm>
            <a:off x="7989854" y="6665765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]  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E6FAC41C-7116-404E-9173-38C55D805094}"/>
              </a:ext>
            </a:extLst>
          </p:cNvPr>
          <p:cNvCxnSpPr>
            <a:cxnSpLocks/>
          </p:cNvCxnSpPr>
          <p:nvPr/>
        </p:nvCxnSpPr>
        <p:spPr>
          <a:xfrm>
            <a:off x="8207956" y="6053151"/>
            <a:ext cx="239032" cy="6372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1919AC4E-AD56-45AF-BE21-4821BCE5BFF8}"/>
              </a:ext>
            </a:extLst>
          </p:cNvPr>
          <p:cNvSpPr txBox="1"/>
          <p:nvPr/>
        </p:nvSpPr>
        <p:spPr>
          <a:xfrm>
            <a:off x="7499578" y="6167184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0</a:t>
            </a:r>
            <a:endParaRPr lang="es-PE" dirty="0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8C20AA0D-95C3-4340-8C46-79BC63DB3D99}"/>
              </a:ext>
            </a:extLst>
          </p:cNvPr>
          <p:cNvSpPr/>
          <p:nvPr/>
        </p:nvSpPr>
        <p:spPr>
          <a:xfrm>
            <a:off x="9826691" y="6642698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4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C515296B-2339-41B6-AA9F-E4518E00538F}"/>
              </a:ext>
            </a:extLst>
          </p:cNvPr>
          <p:cNvSpPr txBox="1"/>
          <p:nvPr/>
        </p:nvSpPr>
        <p:spPr>
          <a:xfrm>
            <a:off x="9416597" y="6197452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1</a:t>
            </a:r>
            <a:endParaRPr lang="es-PE" dirty="0"/>
          </a:p>
        </p:txBody>
      </p: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91A365BF-167E-4DBE-84FD-B58FA5940A42}"/>
              </a:ext>
            </a:extLst>
          </p:cNvPr>
          <p:cNvCxnSpPr>
            <a:cxnSpLocks/>
          </p:cNvCxnSpPr>
          <p:nvPr/>
        </p:nvCxnSpPr>
        <p:spPr>
          <a:xfrm>
            <a:off x="8295579" y="6067819"/>
            <a:ext cx="1853133" cy="6053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C703900D-3809-4BE9-9996-B944C87D0BE7}"/>
              </a:ext>
            </a:extLst>
          </p:cNvPr>
          <p:cNvSpPr/>
          <p:nvPr/>
        </p:nvSpPr>
        <p:spPr>
          <a:xfrm>
            <a:off x="9397593" y="5449196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,-1]  </a:t>
            </a:r>
            <a:r>
              <a:rPr lang="es-ES" sz="1800" b="1" dirty="0">
                <a:solidFill>
                  <a:schemeClr val="bg2"/>
                </a:solidFill>
              </a:rPr>
              <a:t>5</a:t>
            </a:r>
            <a:r>
              <a:rPr lang="es-ES" sz="1800" dirty="0">
                <a:solidFill>
                  <a:schemeClr val="bg2"/>
                </a:solidFill>
              </a:rPr>
              <a:t>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30A5ECE-563D-4F2F-B187-FF4D6B497D64}"/>
              </a:ext>
            </a:extLst>
          </p:cNvPr>
          <p:cNvSpPr txBox="1"/>
          <p:nvPr/>
        </p:nvSpPr>
        <p:spPr>
          <a:xfrm>
            <a:off x="8917090" y="4848026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= </a:t>
            </a:r>
            <a:r>
              <a:rPr lang="es-ES" dirty="0">
                <a:solidFill>
                  <a:schemeClr val="bg2"/>
                </a:solidFill>
              </a:rPr>
              <a:t>1</a:t>
            </a:r>
            <a:endParaRPr lang="es-PE" dirty="0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E4E9F460-5362-4932-934F-8F0754A98548}"/>
              </a:ext>
            </a:extLst>
          </p:cNvPr>
          <p:cNvCxnSpPr>
            <a:cxnSpLocks/>
          </p:cNvCxnSpPr>
          <p:nvPr/>
        </p:nvCxnSpPr>
        <p:spPr>
          <a:xfrm>
            <a:off x="7741016" y="4880085"/>
            <a:ext cx="2320078" cy="5962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3F05A7A0-67C6-4E34-BCFB-3A057C486881}"/>
              </a:ext>
            </a:extLst>
          </p:cNvPr>
          <p:cNvSpPr txBox="1"/>
          <p:nvPr/>
        </p:nvSpPr>
        <p:spPr>
          <a:xfrm>
            <a:off x="10497112" y="6187895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0</a:t>
            </a:r>
            <a:endParaRPr lang="es-PE" dirty="0"/>
          </a:p>
        </p:txBody>
      </p: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5864AE09-5D79-424A-BED2-61F44ADE85F9}"/>
              </a:ext>
            </a:extLst>
          </p:cNvPr>
          <p:cNvCxnSpPr>
            <a:cxnSpLocks/>
          </p:cNvCxnSpPr>
          <p:nvPr/>
        </p:nvCxnSpPr>
        <p:spPr>
          <a:xfrm>
            <a:off x="10242953" y="5982263"/>
            <a:ext cx="2417535" cy="6604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6A5DF8F5-69FA-4247-A77B-377000F79CD3}"/>
              </a:ext>
            </a:extLst>
          </p:cNvPr>
          <p:cNvSpPr/>
          <p:nvPr/>
        </p:nvSpPr>
        <p:spPr>
          <a:xfrm>
            <a:off x="13677738" y="6642698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8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FDE7A07B-4311-4219-B29B-F424627E6D29}"/>
              </a:ext>
            </a:extLst>
          </p:cNvPr>
          <p:cNvCxnSpPr>
            <a:cxnSpLocks/>
            <a:stCxn id="107" idx="2"/>
            <a:endCxn id="116" idx="0"/>
          </p:cNvCxnSpPr>
          <p:nvPr/>
        </p:nvCxnSpPr>
        <p:spPr>
          <a:xfrm>
            <a:off x="10261193" y="5972417"/>
            <a:ext cx="4280145" cy="670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F37FAB6B-1D4B-4C2A-B4A0-9F4AA1072B93}"/>
              </a:ext>
            </a:extLst>
          </p:cNvPr>
          <p:cNvSpPr txBox="1"/>
          <p:nvPr/>
        </p:nvSpPr>
        <p:spPr>
          <a:xfrm>
            <a:off x="11988393" y="5983602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= </a:t>
            </a:r>
            <a:r>
              <a:rPr lang="es-ES" dirty="0">
                <a:solidFill>
                  <a:schemeClr val="bg2"/>
                </a:solidFill>
              </a:rPr>
              <a:t>1</a:t>
            </a:r>
            <a:endParaRPr lang="es-PE" dirty="0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5A933F6A-CB82-42E1-80D4-21A46B105FF2}"/>
              </a:ext>
            </a:extLst>
          </p:cNvPr>
          <p:cNvSpPr/>
          <p:nvPr/>
        </p:nvSpPr>
        <p:spPr>
          <a:xfrm>
            <a:off x="11189058" y="3235458"/>
            <a:ext cx="1727200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,-1,-1,-1]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2E9701BA-B360-4D38-A384-E3B27F3EE585}"/>
              </a:ext>
            </a:extLst>
          </p:cNvPr>
          <p:cNvCxnSpPr>
            <a:cxnSpLocks/>
          </p:cNvCxnSpPr>
          <p:nvPr/>
        </p:nvCxnSpPr>
        <p:spPr>
          <a:xfrm>
            <a:off x="13139134" y="4354189"/>
            <a:ext cx="1151729" cy="61335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02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49" grpId="0" animBg="1"/>
      <p:bldP spid="58" grpId="0" animBg="1"/>
      <p:bldP spid="59" grpId="0" animBg="1"/>
      <p:bldP spid="61" grpId="0" animBg="1"/>
      <p:bldP spid="62" grpId="0"/>
      <p:bldP spid="69" grpId="0"/>
      <p:bldP spid="72" grpId="0" animBg="1"/>
      <p:bldP spid="73" grpId="0"/>
      <p:bldP spid="75" grpId="0" animBg="1"/>
      <p:bldP spid="76" grpId="0" animBg="1"/>
      <p:bldP spid="78" grpId="0" animBg="1"/>
      <p:bldP spid="79" grpId="0"/>
      <p:bldP spid="80" grpId="0"/>
      <p:bldP spid="82" grpId="0"/>
      <p:bldP spid="83" grpId="0" animBg="1"/>
      <p:bldP spid="85" grpId="0" animBg="1"/>
      <p:bldP spid="86" grpId="0"/>
      <p:bldP spid="89" grpId="0" animBg="1"/>
      <p:bldP spid="90" grpId="0"/>
      <p:bldP spid="94" grpId="0" animBg="1"/>
      <p:bldP spid="95" grpId="0"/>
      <p:bldP spid="98" grpId="0" animBg="1"/>
      <p:bldP spid="100" grpId="0"/>
      <p:bldP spid="101" grpId="0" animBg="1"/>
      <p:bldP spid="102" grpId="0"/>
      <p:bldP spid="107" grpId="0" animBg="1"/>
      <p:bldP spid="108" grpId="0"/>
      <p:bldP spid="113" grpId="0"/>
      <p:bldP spid="116" grpId="0" animBg="1"/>
      <p:bldP spid="120" grpId="0"/>
      <p:bldP spid="1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9ECAF-D840-473A-B94A-5B117A45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3600" dirty="0" err="1"/>
              <a:t>Backtracking</a:t>
            </a:r>
            <a:r>
              <a:rPr lang="es-PE" sz="3600" dirty="0"/>
              <a:t>: Problema del Subconjunto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7FBA9D-0555-474A-8ED5-78FB4A98EFCB}"/>
              </a:ext>
            </a:extLst>
          </p:cNvPr>
          <p:cNvSpPr txBox="1"/>
          <p:nvPr/>
        </p:nvSpPr>
        <p:spPr>
          <a:xfrm>
            <a:off x="341488" y="1337312"/>
            <a:ext cx="148533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PE" sz="2800" b="1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Ejemplo: </a:t>
            </a:r>
            <a:r>
              <a:rPr kumimoji="0" lang="es-PE" sz="2800" i="0" u="none" strike="noStrike" kern="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Roboto"/>
                <a:ea typeface="Roboto"/>
                <a:sym typeface="Roboto"/>
              </a:rPr>
              <a:t> considere el conjunto {1, 2, 3, 4} se busca el subconjunto que sume 5</a:t>
            </a:r>
            <a:endParaRPr lang="es-PE" sz="28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3B5E591-D584-436F-B64E-DD62AAE52D37}"/>
              </a:ext>
            </a:extLst>
          </p:cNvPr>
          <p:cNvSpPr/>
          <p:nvPr/>
        </p:nvSpPr>
        <p:spPr>
          <a:xfrm>
            <a:off x="6567312" y="2234245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[-1,-1,-1,-1]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FB4734-CB47-467E-975D-ADCF83307F6B}"/>
              </a:ext>
            </a:extLst>
          </p:cNvPr>
          <p:cNvSpPr txBox="1"/>
          <p:nvPr/>
        </p:nvSpPr>
        <p:spPr>
          <a:xfrm>
            <a:off x="5153378" y="260357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</a:t>
            </a:r>
            <a:r>
              <a:rPr lang="es-ES" sz="1400" dirty="0">
                <a:solidFill>
                  <a:schemeClr val="bg2"/>
                </a:solidFill>
              </a:rPr>
              <a:t>1 = 0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6ADB98E-4C4A-468C-B008-7AC423D4C5E0}"/>
              </a:ext>
            </a:extLst>
          </p:cNvPr>
          <p:cNvSpPr txBox="1"/>
          <p:nvPr/>
        </p:nvSpPr>
        <p:spPr>
          <a:xfrm>
            <a:off x="9440334" y="2651203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</a:t>
            </a:r>
            <a:r>
              <a:rPr lang="es-ES" sz="1400" dirty="0">
                <a:solidFill>
                  <a:schemeClr val="bg2"/>
                </a:solidFill>
              </a:rPr>
              <a:t>1 = 1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28FC620-16B0-4AE6-AC47-7993F6F83F14}"/>
              </a:ext>
            </a:extLst>
          </p:cNvPr>
          <p:cNvSpPr/>
          <p:nvPr/>
        </p:nvSpPr>
        <p:spPr>
          <a:xfrm>
            <a:off x="3059292" y="3160496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,-1,-1,-1]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5EC0CCD-6553-4CC0-B4F6-BDA78218B0EB}"/>
              </a:ext>
            </a:extLst>
          </p:cNvPr>
          <p:cNvSpPr/>
          <p:nvPr/>
        </p:nvSpPr>
        <p:spPr>
          <a:xfrm>
            <a:off x="10713155" y="3160495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[1,-1,-1,-1]  1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902123F-9DB4-46F9-B838-F28CE1511204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4143025" y="2757466"/>
            <a:ext cx="3508020" cy="4030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AF80D28-A87C-49B0-806F-EF1179D7BB67}"/>
              </a:ext>
            </a:extLst>
          </p:cNvPr>
          <p:cNvCxnSpPr>
            <a:stCxn id="7" idx="2"/>
            <a:endCxn id="12" idx="0"/>
          </p:cNvCxnSpPr>
          <p:nvPr/>
        </p:nvCxnSpPr>
        <p:spPr>
          <a:xfrm>
            <a:off x="7651045" y="2757466"/>
            <a:ext cx="4145843" cy="40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880AA64-A11D-4DE1-B7FB-F377D87C1D0A}"/>
              </a:ext>
            </a:extLst>
          </p:cNvPr>
          <p:cNvSpPr/>
          <p:nvPr/>
        </p:nvSpPr>
        <p:spPr>
          <a:xfrm>
            <a:off x="1850252" y="4722070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0,0</a:t>
            </a:r>
            <a:r>
              <a:rPr lang="es-ES" sz="1800" dirty="0">
                <a:solidFill>
                  <a:schemeClr val="bg2"/>
                </a:solidFill>
              </a:rPr>
              <a:t>,-1,-1]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C51AF6-6D62-4A99-B6DF-99BCAB66D5D4}"/>
              </a:ext>
            </a:extLst>
          </p:cNvPr>
          <p:cNvSpPr txBox="1"/>
          <p:nvPr/>
        </p:nvSpPr>
        <p:spPr>
          <a:xfrm>
            <a:off x="2579796" y="3935830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X2</a:t>
            </a:r>
            <a:r>
              <a:rPr lang="es-ES" sz="1400" dirty="0">
                <a:solidFill>
                  <a:schemeClr val="bg2"/>
                </a:solidFill>
              </a:rPr>
              <a:t> = 0</a:t>
            </a:r>
            <a:endParaRPr lang="es-PE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561ED6C-F4A1-4779-919E-626491BA0047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2933985" y="3683717"/>
            <a:ext cx="1209040" cy="10383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E2CF6F4-B76B-4B9B-8309-D1AD25B2FECC}"/>
              </a:ext>
            </a:extLst>
          </p:cNvPr>
          <p:cNvSpPr/>
          <p:nvPr/>
        </p:nvSpPr>
        <p:spPr>
          <a:xfrm>
            <a:off x="4871722" y="4722070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0,1</a:t>
            </a:r>
            <a:r>
              <a:rPr lang="es-ES" sz="1800" dirty="0">
                <a:solidFill>
                  <a:schemeClr val="bg2"/>
                </a:solidFill>
              </a:rPr>
              <a:t>,-1,-1]  2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025E3A3-BFE9-411F-B638-7E57B00541CC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>
            <a:off x="4143025" y="3683717"/>
            <a:ext cx="1812430" cy="1038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119FAFD-38F0-4A85-9EE0-D39FEA7189D4}"/>
              </a:ext>
            </a:extLst>
          </p:cNvPr>
          <p:cNvSpPr txBox="1"/>
          <p:nvPr/>
        </p:nvSpPr>
        <p:spPr>
          <a:xfrm>
            <a:off x="5153378" y="394970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X2</a:t>
            </a:r>
            <a:r>
              <a:rPr lang="es-ES" sz="1400" dirty="0">
                <a:solidFill>
                  <a:schemeClr val="bg2"/>
                </a:solidFill>
              </a:rPr>
              <a:t> = 1</a:t>
            </a:r>
            <a:endParaRPr lang="es-PE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EE35832-7532-4F08-821A-A853673FFD07}"/>
              </a:ext>
            </a:extLst>
          </p:cNvPr>
          <p:cNvSpPr/>
          <p:nvPr/>
        </p:nvSpPr>
        <p:spPr>
          <a:xfrm>
            <a:off x="1120708" y="6057294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,-1]  0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7A29F5C-E645-4E59-934E-7A80CD737172}"/>
              </a:ext>
            </a:extLst>
          </p:cNvPr>
          <p:cNvSpPr txBox="1"/>
          <p:nvPr/>
        </p:nvSpPr>
        <p:spPr>
          <a:xfrm>
            <a:off x="1498043" y="5569865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 = 0</a:t>
            </a:r>
            <a:endParaRPr lang="es-PE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2011455-B905-4118-B667-71E33BB0955A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 flipH="1">
            <a:off x="2204441" y="5245291"/>
            <a:ext cx="729544" cy="812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3FB01FF-69C6-475F-A0E8-3957A91C4974}"/>
              </a:ext>
            </a:extLst>
          </p:cNvPr>
          <p:cNvSpPr/>
          <p:nvPr/>
        </p:nvSpPr>
        <p:spPr>
          <a:xfrm>
            <a:off x="267268" y="7545077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]  0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4E188CE-60FD-4DF4-8AA8-D598E1050726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 flipH="1">
            <a:off x="1351001" y="6580515"/>
            <a:ext cx="853440" cy="964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092FB02-BCD2-4BCB-8D10-BE92E2E0FA30}"/>
              </a:ext>
            </a:extLst>
          </p:cNvPr>
          <p:cNvSpPr txBox="1"/>
          <p:nvPr/>
        </p:nvSpPr>
        <p:spPr>
          <a:xfrm>
            <a:off x="996812" y="694984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 = 0</a:t>
            </a:r>
            <a:endParaRPr lang="es-PE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F352ADC-DF07-4B6C-A305-D146919F714B}"/>
              </a:ext>
            </a:extLst>
          </p:cNvPr>
          <p:cNvSpPr/>
          <p:nvPr/>
        </p:nvSpPr>
        <p:spPr>
          <a:xfrm>
            <a:off x="2665027" y="7545077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4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7D1C6AE-A779-4303-A551-596138505DB2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>
            <a:off x="2204441" y="6580515"/>
            <a:ext cx="1544319" cy="964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028B07A-32F5-424C-81CE-E7D66C091BA6}"/>
              </a:ext>
            </a:extLst>
          </p:cNvPr>
          <p:cNvSpPr txBox="1"/>
          <p:nvPr/>
        </p:nvSpPr>
        <p:spPr>
          <a:xfrm>
            <a:off x="2976600" y="686796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 = 1</a:t>
            </a:r>
            <a:endParaRPr lang="es-PE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2B851D4-62B1-4241-A18C-4CFF2D1E52DA}"/>
              </a:ext>
            </a:extLst>
          </p:cNvPr>
          <p:cNvSpPr/>
          <p:nvPr/>
        </p:nvSpPr>
        <p:spPr>
          <a:xfrm>
            <a:off x="3642363" y="6057294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,-1]  3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F80A498-A7C5-4608-8AEB-AE7A13BA97EC}"/>
              </a:ext>
            </a:extLst>
          </p:cNvPr>
          <p:cNvSpPr txBox="1"/>
          <p:nvPr/>
        </p:nvSpPr>
        <p:spPr>
          <a:xfrm>
            <a:off x="4017718" y="5460735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 = 1</a:t>
            </a:r>
            <a:endParaRPr lang="es-PE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5F1CAF94-E1DB-4A9F-81D5-AC2317872027}"/>
              </a:ext>
            </a:extLst>
          </p:cNvPr>
          <p:cNvCxnSpPr>
            <a:cxnSpLocks/>
            <a:stCxn id="13" idx="2"/>
            <a:endCxn id="37" idx="0"/>
          </p:cNvCxnSpPr>
          <p:nvPr/>
        </p:nvCxnSpPr>
        <p:spPr>
          <a:xfrm>
            <a:off x="2933985" y="5245291"/>
            <a:ext cx="1792111" cy="812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A26550E0-B3EF-42A4-9DFA-FA2E37E8C04D}"/>
              </a:ext>
            </a:extLst>
          </p:cNvPr>
          <p:cNvSpPr/>
          <p:nvPr/>
        </p:nvSpPr>
        <p:spPr>
          <a:xfrm>
            <a:off x="5369563" y="7545076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]  3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01645EE-B100-4B50-B4E0-CB3520D2988D}"/>
              </a:ext>
            </a:extLst>
          </p:cNvPr>
          <p:cNvSpPr/>
          <p:nvPr/>
        </p:nvSpPr>
        <p:spPr>
          <a:xfrm>
            <a:off x="7981246" y="7545075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7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AAE79C3-09C8-4FC2-92FC-3A43C3424504}"/>
              </a:ext>
            </a:extLst>
          </p:cNvPr>
          <p:cNvSpPr txBox="1"/>
          <p:nvPr/>
        </p:nvSpPr>
        <p:spPr>
          <a:xfrm>
            <a:off x="4726096" y="6949847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 = 0</a:t>
            </a:r>
            <a:endParaRPr lang="es-PE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7D79EB8-9CD3-4699-92A9-60E04F2142E2}"/>
              </a:ext>
            </a:extLst>
          </p:cNvPr>
          <p:cNvSpPr txBox="1"/>
          <p:nvPr/>
        </p:nvSpPr>
        <p:spPr>
          <a:xfrm>
            <a:off x="7140224" y="6828480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X4</a:t>
            </a:r>
            <a:r>
              <a:rPr lang="es-ES" sz="1400" dirty="0">
                <a:solidFill>
                  <a:schemeClr val="bg2"/>
                </a:solidFill>
              </a:rPr>
              <a:t> = 1</a:t>
            </a:r>
            <a:endParaRPr lang="es-PE" dirty="0"/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3202FAAB-290A-4FF8-826F-867A600DECD8}"/>
              </a:ext>
            </a:extLst>
          </p:cNvPr>
          <p:cNvCxnSpPr>
            <a:cxnSpLocks/>
            <a:stCxn id="37" idx="2"/>
            <a:endCxn id="43" idx="0"/>
          </p:cNvCxnSpPr>
          <p:nvPr/>
        </p:nvCxnSpPr>
        <p:spPr>
          <a:xfrm>
            <a:off x="4726096" y="6580515"/>
            <a:ext cx="1727200" cy="9645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A315078B-C01F-4091-A3B3-14AB77FBA39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726096" y="6580515"/>
            <a:ext cx="4431736" cy="964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5F55544A-8C84-4585-ACD4-D1D2F2A4071D}"/>
              </a:ext>
            </a:extLst>
          </p:cNvPr>
          <p:cNvSpPr/>
          <p:nvPr/>
        </p:nvSpPr>
        <p:spPr>
          <a:xfrm>
            <a:off x="6179965" y="5983501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,-1]  2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FABDB838-D719-4463-95AC-E93E7378190C}"/>
              </a:ext>
            </a:extLst>
          </p:cNvPr>
          <p:cNvSpPr/>
          <p:nvPr/>
        </p:nvSpPr>
        <p:spPr>
          <a:xfrm>
            <a:off x="8791648" y="5983500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,-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5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64183B1-1C87-4151-AA84-BB92DA6C83DA}"/>
              </a:ext>
            </a:extLst>
          </p:cNvPr>
          <p:cNvSpPr txBox="1"/>
          <p:nvPr/>
        </p:nvSpPr>
        <p:spPr>
          <a:xfrm>
            <a:off x="5825776" y="5460280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 = 0</a:t>
            </a:r>
            <a:endParaRPr lang="es-PE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F9B76DB-221C-434B-BC10-B07379E2EEB4}"/>
              </a:ext>
            </a:extLst>
          </p:cNvPr>
          <p:cNvSpPr txBox="1"/>
          <p:nvPr/>
        </p:nvSpPr>
        <p:spPr>
          <a:xfrm>
            <a:off x="8437459" y="5193443"/>
            <a:ext cx="708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X3</a:t>
            </a:r>
            <a:r>
              <a:rPr lang="es-ES" sz="1400" dirty="0">
                <a:solidFill>
                  <a:schemeClr val="bg2"/>
                </a:solidFill>
              </a:rPr>
              <a:t> = 1</a:t>
            </a:r>
            <a:endParaRPr lang="es-PE" dirty="0"/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0B6A150-CCCB-42C3-8A10-1BE8790CD5E1}"/>
              </a:ext>
            </a:extLst>
          </p:cNvPr>
          <p:cNvCxnSpPr>
            <a:cxnSpLocks/>
            <a:stCxn id="18" idx="2"/>
            <a:endCxn id="53" idx="0"/>
          </p:cNvCxnSpPr>
          <p:nvPr/>
        </p:nvCxnSpPr>
        <p:spPr>
          <a:xfrm>
            <a:off x="5955455" y="5245291"/>
            <a:ext cx="1308243" cy="7382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E8B732B6-FD25-4D02-B945-B1D7A0ADDA87}"/>
              </a:ext>
            </a:extLst>
          </p:cNvPr>
          <p:cNvCxnSpPr>
            <a:cxnSpLocks/>
            <a:stCxn id="18" idx="2"/>
            <a:endCxn id="54" idx="0"/>
          </p:cNvCxnSpPr>
          <p:nvPr/>
        </p:nvCxnSpPr>
        <p:spPr>
          <a:xfrm>
            <a:off x="5955455" y="5245291"/>
            <a:ext cx="3919926" cy="7382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EC2E76BF-9F87-4BF3-8C38-3CA438C81BEB}"/>
              </a:ext>
            </a:extLst>
          </p:cNvPr>
          <p:cNvSpPr/>
          <p:nvPr/>
        </p:nvSpPr>
        <p:spPr>
          <a:xfrm>
            <a:off x="10417248" y="7545074"/>
            <a:ext cx="2167466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</a:t>
            </a:r>
            <a:r>
              <a:rPr lang="es-ES" sz="1800" dirty="0">
                <a:solidFill>
                  <a:schemeClr val="bg2"/>
                </a:solidFill>
              </a:rPr>
              <a:t>]  5 </a:t>
            </a:r>
            <a:endParaRPr lang="es-PE" sz="1800" dirty="0">
              <a:solidFill>
                <a:schemeClr val="bg2"/>
              </a:solidFill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478043E6-3B0B-4B7F-8C61-71C4B674FE62}"/>
              </a:ext>
            </a:extLst>
          </p:cNvPr>
          <p:cNvSpPr/>
          <p:nvPr/>
        </p:nvSpPr>
        <p:spPr>
          <a:xfrm>
            <a:off x="12880621" y="7545073"/>
            <a:ext cx="2167466" cy="523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0,1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1</a:t>
            </a:r>
            <a:r>
              <a:rPr lang="es-ES" sz="1800" dirty="0">
                <a:solidFill>
                  <a:schemeClr val="bg2"/>
                </a:solidFill>
              </a:rPr>
              <a:t>]  9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1D24021-5FE0-42EB-905B-991EB4E2E9A0}"/>
              </a:ext>
            </a:extLst>
          </p:cNvPr>
          <p:cNvCxnSpPr>
            <a:cxnSpLocks/>
          </p:cNvCxnSpPr>
          <p:nvPr/>
        </p:nvCxnSpPr>
        <p:spPr>
          <a:xfrm>
            <a:off x="9776676" y="6539572"/>
            <a:ext cx="1727200" cy="9645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504AEE31-AF43-4D98-8FA0-752E3302E415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801299" y="6580514"/>
            <a:ext cx="4163055" cy="9645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6542377F-C7A6-4B31-A33B-EAD3D3DCFAB2}"/>
              </a:ext>
            </a:extLst>
          </p:cNvPr>
          <p:cNvSpPr/>
          <p:nvPr/>
        </p:nvSpPr>
        <p:spPr>
          <a:xfrm>
            <a:off x="14051559" y="5812534"/>
            <a:ext cx="2167466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bg2"/>
                </a:solidFill>
              </a:rPr>
              <a:t>[</a:t>
            </a:r>
            <a:r>
              <a:rPr lang="es-ES" sz="1800" b="1" dirty="0">
                <a:solidFill>
                  <a:schemeClr val="bg2"/>
                </a:solidFill>
              </a:rPr>
              <a:t>1,0</a:t>
            </a:r>
            <a:r>
              <a:rPr lang="es-ES" sz="1800" dirty="0">
                <a:solidFill>
                  <a:schemeClr val="bg2"/>
                </a:solidFill>
              </a:rPr>
              <a:t>,</a:t>
            </a:r>
            <a:r>
              <a:rPr lang="es-ES" sz="1800" b="1" dirty="0">
                <a:solidFill>
                  <a:schemeClr val="bg2"/>
                </a:solidFill>
              </a:rPr>
              <a:t>0,1</a:t>
            </a:r>
            <a:r>
              <a:rPr lang="es-ES" sz="1800" dirty="0">
                <a:solidFill>
                  <a:schemeClr val="bg2"/>
                </a:solidFill>
              </a:rPr>
              <a:t>]  5 </a:t>
            </a:r>
            <a:endParaRPr lang="es-PE" sz="1800" dirty="0">
              <a:solidFill>
                <a:schemeClr val="bg2"/>
              </a:solidFill>
            </a:endParaRP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A937D4CA-8F9E-4578-8657-F04B1869475C}"/>
              </a:ext>
            </a:extLst>
          </p:cNvPr>
          <p:cNvCxnSpPr>
            <a:cxnSpLocks/>
          </p:cNvCxnSpPr>
          <p:nvPr/>
        </p:nvCxnSpPr>
        <p:spPr>
          <a:xfrm>
            <a:off x="13455366" y="5041695"/>
            <a:ext cx="1679926" cy="77895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160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2B026C6-B16E-42FE-8DDC-D0E604649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Backtracking</a:t>
            </a:r>
            <a:r>
              <a:rPr lang="es-ES" dirty="0"/>
              <a:t>: Variaciones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5CAE3B-75E8-4ED3-B51E-A8862DB08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045" y="3219777"/>
            <a:ext cx="9820036" cy="4796463"/>
          </a:xfrm>
        </p:spPr>
        <p:txBody>
          <a:bodyPr/>
          <a:lstStyle/>
          <a:p>
            <a:pPr marL="539750" indent="-514350">
              <a:lnSpc>
                <a:spcPct val="150000"/>
              </a:lnSpc>
              <a:buFont typeface="+mj-lt"/>
              <a:buAutoNum type="arabicPeriod"/>
            </a:pPr>
            <a:r>
              <a:rPr lang="es-ES" sz="2800" dirty="0"/>
              <a:t>¿Y si no es seguro que exista una solución? </a:t>
            </a:r>
          </a:p>
          <a:p>
            <a:pPr marL="539750" indent="-514350">
              <a:lnSpc>
                <a:spcPct val="150000"/>
              </a:lnSpc>
              <a:buFont typeface="+mj-lt"/>
              <a:buAutoNum type="arabicPeriod"/>
            </a:pPr>
            <a:r>
              <a:rPr lang="es-ES" sz="2800" dirty="0"/>
              <a:t>¿Y si queremos almacenar todas las soluciones (no solo una)? </a:t>
            </a:r>
          </a:p>
          <a:p>
            <a:pPr marL="539750" indent="-514350">
              <a:lnSpc>
                <a:spcPct val="150000"/>
              </a:lnSpc>
              <a:buFont typeface="+mj-lt"/>
              <a:buAutoNum type="arabicPeriod"/>
            </a:pPr>
            <a:r>
              <a:rPr lang="es-ES" sz="2800" dirty="0"/>
              <a:t>¿Y si el problema es de optimización (maximizar o minimizar)?</a:t>
            </a:r>
          </a:p>
          <a:p>
            <a:pPr marL="539750" indent="-514350">
              <a:lnSpc>
                <a:spcPct val="150000"/>
              </a:lnSpc>
              <a:buFont typeface="+mj-lt"/>
              <a:buAutoNum type="arabicPeriod"/>
            </a:pPr>
            <a:r>
              <a:rPr lang="es-ES" sz="2800" dirty="0"/>
              <a:t>¿Y si podamos el árbol de soluciones para evitar cálculos innecesarios?</a:t>
            </a:r>
            <a:endParaRPr lang="es-PE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2EE139-E112-413C-8F64-595C6F757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081" y="3585467"/>
            <a:ext cx="5569767" cy="406508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5376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C60A1DE-0CDB-4796-AAAA-A76124A1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Método General</a:t>
            </a:r>
            <a:endParaRPr lang="es-PE" sz="40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4A1983-67CE-4098-B4AF-B1A9CB5D3A7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11716" y="1188332"/>
            <a:ext cx="14617700" cy="7740650"/>
          </a:xfrm>
        </p:spPr>
        <p:txBody>
          <a:bodyPr/>
          <a:lstStyle/>
          <a:p>
            <a:r>
              <a:rPr lang="es-ES" b="1" dirty="0">
                <a:solidFill>
                  <a:schemeClr val="bg2"/>
                </a:solidFill>
              </a:rPr>
              <a:t>Caso 1: </a:t>
            </a:r>
            <a:r>
              <a:rPr lang="es-ES" dirty="0">
                <a:solidFill>
                  <a:schemeClr val="bg2"/>
                </a:solidFill>
              </a:rPr>
              <a:t>Puede que no exista ninguna solución</a:t>
            </a:r>
          </a:p>
          <a:p>
            <a:r>
              <a:rPr lang="es-ES" b="1" dirty="0" err="1">
                <a:solidFill>
                  <a:schemeClr val="bg2"/>
                </a:solidFill>
              </a:rPr>
              <a:t>Backtracking</a:t>
            </a:r>
            <a:r>
              <a:rPr lang="es-ES" b="1" dirty="0">
                <a:solidFill>
                  <a:schemeClr val="bg2"/>
                </a:solidFill>
              </a:rPr>
              <a:t> (</a:t>
            </a:r>
            <a:r>
              <a:rPr lang="es-ES" b="1" dirty="0" err="1">
                <a:solidFill>
                  <a:schemeClr val="bg2"/>
                </a:solidFill>
              </a:rPr>
              <a:t>var</a:t>
            </a:r>
            <a:r>
              <a:rPr lang="es-ES" b="1" dirty="0">
                <a:solidFill>
                  <a:schemeClr val="bg2"/>
                </a:solidFill>
              </a:rPr>
              <a:t> s: </a:t>
            </a:r>
            <a:r>
              <a:rPr lang="es-ES" b="1" dirty="0" err="1">
                <a:solidFill>
                  <a:schemeClr val="bg2"/>
                </a:solidFill>
              </a:rPr>
              <a:t>TuplaSolución</a:t>
            </a:r>
            <a:r>
              <a:rPr lang="es-ES" b="1" dirty="0">
                <a:solidFill>
                  <a:schemeClr val="bg2"/>
                </a:solidFill>
              </a:rPr>
              <a:t>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bg2"/>
                </a:solidFill>
              </a:rPr>
              <a:t>	</a:t>
            </a:r>
            <a:r>
              <a:rPr lang="es-ES" sz="2600" dirty="0">
                <a:solidFill>
                  <a:schemeClr val="bg2"/>
                </a:solidFill>
              </a:rPr>
              <a:t>nivel:= 1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s:= </a:t>
            </a:r>
            <a:r>
              <a:rPr lang="es-ES" sz="2600" dirty="0" err="1">
                <a:solidFill>
                  <a:schemeClr val="bg2"/>
                </a:solidFill>
              </a:rPr>
              <a:t>s</a:t>
            </a:r>
            <a:r>
              <a:rPr lang="es-ES" sz="2600" baseline="-25000" dirty="0" err="1">
                <a:solidFill>
                  <a:schemeClr val="bg2"/>
                </a:solidFill>
              </a:rPr>
              <a:t>INICIAL</a:t>
            </a:r>
            <a:endParaRPr lang="es-ES" sz="2600" baseline="-25000" dirty="0">
              <a:solidFill>
                <a:schemeClr val="bg2"/>
              </a:solidFill>
            </a:endParaRP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fin:= false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</a:t>
            </a:r>
            <a:r>
              <a:rPr lang="es-ES" sz="2600" b="1" dirty="0">
                <a:solidFill>
                  <a:schemeClr val="bg2"/>
                </a:solidFill>
              </a:rPr>
              <a:t>repetir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Generar (nivel, s)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</a:t>
            </a:r>
            <a:r>
              <a:rPr lang="es-ES" sz="2600" dirty="0">
                <a:solidFill>
                  <a:schemeClr val="bg2"/>
                </a:solidFill>
              </a:rPr>
              <a:t> Solución (nivel, s) </a:t>
            </a:r>
            <a:r>
              <a:rPr lang="es-ES" sz="2600" b="1" dirty="0">
                <a:solidFill>
                  <a:schemeClr val="bg2"/>
                </a:solidFill>
              </a:rPr>
              <a:t>entonces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fin:= true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sino</a:t>
            </a:r>
            <a:r>
              <a:rPr lang="es-ES" sz="2600" dirty="0">
                <a:solidFill>
                  <a:schemeClr val="bg2"/>
                </a:solidFill>
              </a:rPr>
              <a:t> si Criterio (nivel, s) </a:t>
            </a:r>
            <a:r>
              <a:rPr lang="es-ES" sz="2600" b="1" dirty="0">
                <a:solidFill>
                  <a:schemeClr val="bg2"/>
                </a:solidFill>
              </a:rPr>
              <a:t>entonces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nivel:= nivel + 1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sino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</a:t>
            </a:r>
            <a:r>
              <a:rPr lang="es-ES" sz="2600" b="1" dirty="0">
                <a:solidFill>
                  <a:schemeClr val="bg2"/>
                </a:solidFill>
              </a:rPr>
              <a:t>mientras</a:t>
            </a:r>
            <a:r>
              <a:rPr lang="es-ES" sz="2600" dirty="0">
                <a:solidFill>
                  <a:schemeClr val="bg2"/>
                </a:solidFill>
              </a:rPr>
              <a:t> NOT </a:t>
            </a:r>
            <a:r>
              <a:rPr lang="es-ES" sz="2600" dirty="0" err="1">
                <a:solidFill>
                  <a:schemeClr val="bg2"/>
                </a:solidFill>
              </a:rPr>
              <a:t>MasHermanos</a:t>
            </a:r>
            <a:r>
              <a:rPr lang="es-ES" sz="2600" dirty="0">
                <a:solidFill>
                  <a:schemeClr val="bg2"/>
                </a:solidFill>
              </a:rPr>
              <a:t> (nivel, s) </a:t>
            </a:r>
            <a:r>
              <a:rPr lang="es-ES" sz="2600" b="1" dirty="0">
                <a:solidFill>
                  <a:srgbClr val="FF0000"/>
                </a:solidFill>
              </a:rPr>
              <a:t>AND (nivel &gt; 0) </a:t>
            </a:r>
            <a:r>
              <a:rPr lang="es-ES" sz="2600" b="1" dirty="0">
                <a:solidFill>
                  <a:schemeClr val="bg2"/>
                </a:solidFill>
              </a:rPr>
              <a:t>hacer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	Retroceder (nivel, s)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 err="1">
                <a:solidFill>
                  <a:schemeClr val="bg2"/>
                </a:solidFill>
              </a:rPr>
              <a:t>finsi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</a:t>
            </a:r>
            <a:r>
              <a:rPr lang="es-ES" sz="2600" b="1" dirty="0">
                <a:solidFill>
                  <a:schemeClr val="bg2"/>
                </a:solidFill>
              </a:rPr>
              <a:t>hasta</a:t>
            </a:r>
            <a:r>
              <a:rPr lang="es-ES" sz="2600" dirty="0">
                <a:solidFill>
                  <a:schemeClr val="bg2"/>
                </a:solidFill>
              </a:rPr>
              <a:t> fin </a:t>
            </a:r>
            <a:r>
              <a:rPr lang="es-ES" sz="2600" b="1" dirty="0">
                <a:solidFill>
                  <a:srgbClr val="FF0000"/>
                </a:solidFill>
              </a:rPr>
              <a:t>OR (nivel == 0)</a:t>
            </a:r>
            <a:endParaRPr lang="es-PE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09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C60A1DE-0CDB-4796-AAAA-A76124A1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Método General</a:t>
            </a:r>
            <a:endParaRPr lang="es-PE" sz="40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4A1983-67CE-4098-B4AF-B1A9CB5D3A7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87022" y="1100666"/>
            <a:ext cx="14617700" cy="7740650"/>
          </a:xfrm>
        </p:spPr>
        <p:txBody>
          <a:bodyPr/>
          <a:lstStyle/>
          <a:p>
            <a:r>
              <a:rPr lang="es-ES" b="1" dirty="0">
                <a:solidFill>
                  <a:schemeClr val="bg2"/>
                </a:solidFill>
              </a:rPr>
              <a:t>Caso 2: </a:t>
            </a:r>
            <a:r>
              <a:rPr lang="es-ES" dirty="0">
                <a:solidFill>
                  <a:schemeClr val="bg2"/>
                </a:solidFill>
              </a:rPr>
              <a:t>Queremos almacenar todas las soluciones</a:t>
            </a:r>
          </a:p>
          <a:p>
            <a:r>
              <a:rPr lang="es-ES" b="1" dirty="0" err="1">
                <a:solidFill>
                  <a:schemeClr val="bg2"/>
                </a:solidFill>
              </a:rPr>
              <a:t>Backtracking</a:t>
            </a:r>
            <a:r>
              <a:rPr lang="es-ES" b="1" dirty="0">
                <a:solidFill>
                  <a:schemeClr val="bg2"/>
                </a:solidFill>
              </a:rPr>
              <a:t> (</a:t>
            </a:r>
            <a:r>
              <a:rPr lang="es-ES" b="1" dirty="0" err="1">
                <a:solidFill>
                  <a:schemeClr val="bg2"/>
                </a:solidFill>
              </a:rPr>
              <a:t>var</a:t>
            </a:r>
            <a:r>
              <a:rPr lang="es-ES" b="1" dirty="0">
                <a:solidFill>
                  <a:schemeClr val="bg2"/>
                </a:solidFill>
              </a:rPr>
              <a:t> s: </a:t>
            </a:r>
            <a:r>
              <a:rPr lang="es-ES" b="1" dirty="0" err="1">
                <a:solidFill>
                  <a:schemeClr val="bg2"/>
                </a:solidFill>
              </a:rPr>
              <a:t>TuplaSolución</a:t>
            </a:r>
            <a:r>
              <a:rPr lang="es-ES" b="1" dirty="0">
                <a:solidFill>
                  <a:schemeClr val="bg2"/>
                </a:solidFill>
              </a:rPr>
              <a:t>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bg2"/>
                </a:solidFill>
              </a:rPr>
              <a:t>	</a:t>
            </a:r>
            <a:r>
              <a:rPr lang="es-ES" sz="2600" dirty="0">
                <a:solidFill>
                  <a:schemeClr val="bg2"/>
                </a:solidFill>
              </a:rPr>
              <a:t>nivel:= 1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s:= </a:t>
            </a:r>
            <a:r>
              <a:rPr lang="es-ES" sz="2600" dirty="0" err="1">
                <a:solidFill>
                  <a:schemeClr val="bg2"/>
                </a:solidFill>
              </a:rPr>
              <a:t>s</a:t>
            </a:r>
            <a:r>
              <a:rPr lang="es-ES" sz="2600" baseline="-25000" dirty="0" err="1">
                <a:solidFill>
                  <a:schemeClr val="bg2"/>
                </a:solidFill>
              </a:rPr>
              <a:t>INICIAL</a:t>
            </a:r>
            <a:endParaRPr lang="es-ES" sz="2600" baseline="-25000" dirty="0">
              <a:solidFill>
                <a:schemeClr val="bg2"/>
              </a:solidFill>
            </a:endParaRP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</a:t>
            </a:r>
            <a:r>
              <a:rPr lang="es-ES" sz="2600" b="1" dirty="0">
                <a:solidFill>
                  <a:schemeClr val="bg2"/>
                </a:solidFill>
              </a:rPr>
              <a:t>repetir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Generar (nivel, s)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</a:t>
            </a:r>
            <a:r>
              <a:rPr lang="es-ES" sz="2600" dirty="0">
                <a:solidFill>
                  <a:schemeClr val="bg2"/>
                </a:solidFill>
              </a:rPr>
              <a:t> Solución (nivel, s) </a:t>
            </a:r>
            <a:r>
              <a:rPr lang="es-ES" sz="2600" b="1" dirty="0">
                <a:solidFill>
                  <a:schemeClr val="bg2"/>
                </a:solidFill>
              </a:rPr>
              <a:t>entonces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</a:t>
            </a:r>
            <a:r>
              <a:rPr lang="es-ES" sz="2600" b="1" dirty="0">
                <a:solidFill>
                  <a:srgbClr val="FF0000"/>
                </a:solidFill>
              </a:rPr>
              <a:t>Almacenar(nivel, s)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sino</a:t>
            </a:r>
            <a:r>
              <a:rPr lang="es-ES" sz="2600" dirty="0">
                <a:solidFill>
                  <a:schemeClr val="bg2"/>
                </a:solidFill>
              </a:rPr>
              <a:t> si Criterio (nivel, s) </a:t>
            </a:r>
            <a:r>
              <a:rPr lang="es-ES" sz="2600" b="1" dirty="0">
                <a:solidFill>
                  <a:schemeClr val="bg2"/>
                </a:solidFill>
              </a:rPr>
              <a:t>entonces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nivel:= nivel + 1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>
                <a:solidFill>
                  <a:schemeClr val="bg2"/>
                </a:solidFill>
              </a:rPr>
              <a:t>sino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</a:t>
            </a:r>
            <a:r>
              <a:rPr lang="es-ES" sz="2600" b="1" dirty="0">
                <a:solidFill>
                  <a:schemeClr val="bg2"/>
                </a:solidFill>
              </a:rPr>
              <a:t>mientras</a:t>
            </a:r>
            <a:r>
              <a:rPr lang="es-ES" sz="2600" dirty="0">
                <a:solidFill>
                  <a:schemeClr val="bg2"/>
                </a:solidFill>
              </a:rPr>
              <a:t> NOT </a:t>
            </a:r>
            <a:r>
              <a:rPr lang="es-ES" sz="2600" dirty="0" err="1">
                <a:solidFill>
                  <a:schemeClr val="bg2"/>
                </a:solidFill>
              </a:rPr>
              <a:t>MasHermanos</a:t>
            </a:r>
            <a:r>
              <a:rPr lang="es-ES" sz="2600" dirty="0">
                <a:solidFill>
                  <a:schemeClr val="bg2"/>
                </a:solidFill>
              </a:rPr>
              <a:t> (nivel, s) </a:t>
            </a:r>
            <a:r>
              <a:rPr lang="es-ES" sz="2600" b="1" dirty="0">
                <a:solidFill>
                  <a:srgbClr val="FF0000"/>
                </a:solidFill>
              </a:rPr>
              <a:t>AND (nivel &gt; 0) </a:t>
            </a:r>
            <a:r>
              <a:rPr lang="es-ES" sz="2600" b="1" dirty="0">
                <a:solidFill>
                  <a:schemeClr val="bg2"/>
                </a:solidFill>
              </a:rPr>
              <a:t>hacer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		Retroceder (nivel, s)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	</a:t>
            </a:r>
            <a:r>
              <a:rPr lang="es-ES" sz="2600" b="1" dirty="0" err="1">
                <a:solidFill>
                  <a:schemeClr val="bg2"/>
                </a:solidFill>
              </a:rPr>
              <a:t>finsi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</a:p>
          <a:p>
            <a:pPr marL="25400" indent="0">
              <a:lnSpc>
                <a:spcPct val="110000"/>
              </a:lnSpc>
              <a:buNone/>
            </a:pPr>
            <a:r>
              <a:rPr lang="es-ES" sz="2600" dirty="0">
                <a:solidFill>
                  <a:schemeClr val="bg2"/>
                </a:solidFill>
              </a:rPr>
              <a:t>	</a:t>
            </a:r>
            <a:r>
              <a:rPr lang="es-ES" sz="2600" b="1" dirty="0">
                <a:solidFill>
                  <a:schemeClr val="bg2"/>
                </a:solidFill>
              </a:rPr>
              <a:t>hasta</a:t>
            </a:r>
            <a:r>
              <a:rPr lang="es-ES" sz="2600" dirty="0">
                <a:solidFill>
                  <a:schemeClr val="bg2"/>
                </a:solidFill>
              </a:rPr>
              <a:t> </a:t>
            </a:r>
            <a:r>
              <a:rPr lang="es-ES" sz="2600" b="1" dirty="0">
                <a:solidFill>
                  <a:srgbClr val="FF0000"/>
                </a:solidFill>
              </a:rPr>
              <a:t>(nivel == 0)</a:t>
            </a:r>
            <a:endParaRPr lang="es-PE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220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C60A1DE-0CDB-4796-AAAA-A76124A1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Método General</a:t>
            </a:r>
            <a:endParaRPr lang="es-PE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844A1983-67CE-4098-B4AF-B1A9CB5D3A72}"/>
                  </a:ext>
                </a:extLst>
              </p:cNvPr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711716" y="1100666"/>
                <a:ext cx="14617700" cy="7740650"/>
              </a:xfrm>
            </p:spPr>
            <p:txBody>
              <a:bodyPr/>
              <a:lstStyle/>
              <a:p>
                <a:r>
                  <a:rPr lang="es-ES" b="1" dirty="0">
                    <a:solidFill>
                      <a:schemeClr val="bg2"/>
                    </a:solidFill>
                  </a:rPr>
                  <a:t>Algoritmo: </a:t>
                </a:r>
                <a:r>
                  <a:rPr lang="es-PE" dirty="0">
                    <a:solidFill>
                      <a:schemeClr val="bg2"/>
                    </a:solidFill>
                  </a:rPr>
                  <a:t>Problema de optimización (maximización)</a:t>
                </a:r>
                <a:endParaRPr lang="es-ES" dirty="0">
                  <a:solidFill>
                    <a:schemeClr val="bg2"/>
                  </a:solidFill>
                </a:endParaRPr>
              </a:p>
              <a:p>
                <a:r>
                  <a:rPr lang="es-ES" b="1" dirty="0" err="1">
                    <a:solidFill>
                      <a:schemeClr val="bg2"/>
                    </a:solidFill>
                  </a:rPr>
                  <a:t>Backtracking</a:t>
                </a:r>
                <a:r>
                  <a:rPr lang="es-ES" b="1" dirty="0">
                    <a:solidFill>
                      <a:schemeClr val="bg2"/>
                    </a:solidFill>
                  </a:rPr>
                  <a:t> (</a:t>
                </a:r>
                <a:r>
                  <a:rPr lang="es-ES" b="1" dirty="0" err="1">
                    <a:solidFill>
                      <a:schemeClr val="bg2"/>
                    </a:solidFill>
                  </a:rPr>
                  <a:t>var</a:t>
                </a:r>
                <a:r>
                  <a:rPr lang="es-ES" b="1" dirty="0">
                    <a:solidFill>
                      <a:schemeClr val="bg2"/>
                    </a:solidFill>
                  </a:rPr>
                  <a:t> s: </a:t>
                </a:r>
                <a:r>
                  <a:rPr lang="es-ES" b="1" dirty="0" err="1">
                    <a:solidFill>
                      <a:schemeClr val="bg2"/>
                    </a:solidFill>
                  </a:rPr>
                  <a:t>TuplaSolución</a:t>
                </a:r>
                <a:r>
                  <a:rPr lang="es-ES" b="1" dirty="0">
                    <a:solidFill>
                      <a:schemeClr val="bg2"/>
                    </a:solidFill>
                  </a:rPr>
                  <a:t>)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dirty="0">
                    <a:solidFill>
                      <a:schemeClr val="bg2"/>
                    </a:solidFill>
                  </a:rPr>
                  <a:t>nivel:= 1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s:= 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s</a:t>
                </a:r>
                <a:r>
                  <a:rPr lang="es-ES" sz="2600" baseline="-25000" dirty="0" err="1">
                    <a:solidFill>
                      <a:schemeClr val="bg2"/>
                    </a:solidFill>
                  </a:rPr>
                  <a:t>INICIAL</a:t>
                </a:r>
                <a:endParaRPr lang="es-ES" sz="2600" baseline="-25000" dirty="0">
                  <a:solidFill>
                    <a:schemeClr val="bg2"/>
                  </a:solidFill>
                </a:endParaRP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voa</a:t>
                </a:r>
                <a:r>
                  <a:rPr lang="es-ES" sz="2600" dirty="0">
                    <a:solidFill>
                      <a:schemeClr val="bg2"/>
                    </a:solidFill>
                  </a:rPr>
                  <a:t> := -∞ ; 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soa</a:t>
                </a:r>
                <a:r>
                  <a:rPr lang="es-ES" sz="2600" dirty="0">
                    <a:solidFill>
                      <a:schemeClr val="bg2"/>
                    </a:solidFill>
                  </a:rPr>
                  <a:t> := </a:t>
                </a:r>
                <a14:m>
                  <m:oMath xmlns:m="http://schemas.openxmlformats.org/officeDocument/2006/math">
                    <m:r>
                      <a:rPr lang="es-ES" sz="26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s-ES" sz="2600" dirty="0">
                  <a:solidFill>
                    <a:schemeClr val="bg2"/>
                  </a:solidFill>
                </a:endParaRP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repetir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Generar (nivel, s)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si</a:t>
                </a:r>
                <a:r>
                  <a:rPr lang="es-ES" sz="2600" dirty="0">
                    <a:solidFill>
                      <a:schemeClr val="bg2"/>
                    </a:solidFill>
                  </a:rPr>
                  <a:t> Solución (nivel, s) 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AND Valor(s)&gt;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voa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entonces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voa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 := Valor(s); 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soa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 = s</a:t>
                </a:r>
                <a:endParaRPr lang="es-ES" sz="2600" dirty="0">
                  <a:solidFill>
                    <a:schemeClr val="bg2"/>
                  </a:solidFill>
                </a:endParaRP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sino</a:t>
                </a:r>
                <a:r>
                  <a:rPr lang="es-ES" sz="2600" dirty="0">
                    <a:solidFill>
                      <a:schemeClr val="bg2"/>
                    </a:solidFill>
                  </a:rPr>
                  <a:t> si Criterio (nivel, s) 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entonces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nivel:= nivel + 1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sino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mientras</a:t>
                </a:r>
                <a:r>
                  <a:rPr lang="es-ES" sz="2600" dirty="0">
                    <a:solidFill>
                      <a:schemeClr val="bg2"/>
                    </a:solidFill>
                  </a:rPr>
                  <a:t> NOT 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MasHermanos</a:t>
                </a:r>
                <a:r>
                  <a:rPr lang="es-ES" sz="2600" dirty="0">
                    <a:solidFill>
                      <a:schemeClr val="bg2"/>
                    </a:solidFill>
                  </a:rPr>
                  <a:t> (nivel, s) 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AND (nivel &gt; 0) 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hacer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	Retroceder (nivel, s)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 err="1">
                    <a:solidFill>
                      <a:schemeClr val="bg2"/>
                    </a:solidFill>
                  </a:rPr>
                  <a:t>finsi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hasta</a:t>
                </a:r>
                <a:r>
                  <a:rPr lang="es-ES" sz="2600" dirty="0">
                    <a:solidFill>
                      <a:schemeClr val="bg2"/>
                    </a:solidFill>
                  </a:rPr>
                  <a:t> fin 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OR (nivel == 0)</a:t>
                </a:r>
                <a:endParaRPr lang="es-PE" sz="2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844A1983-67CE-4098-B4AF-B1A9CB5D3A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711716" y="1100666"/>
                <a:ext cx="14617700" cy="7740650"/>
              </a:xfrm>
              <a:blipFill>
                <a:blip r:embed="rId2"/>
                <a:stretch>
                  <a:fillRect l="-79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56ED31C3-85DA-4D1B-855F-4CC90A5E84BA}"/>
              </a:ext>
            </a:extLst>
          </p:cNvPr>
          <p:cNvSpPr txBox="1"/>
          <p:nvPr/>
        </p:nvSpPr>
        <p:spPr>
          <a:xfrm>
            <a:off x="5093546" y="3160531"/>
            <a:ext cx="3990623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chemeClr val="bg2">
                    <a:lumMod val="50000"/>
                  </a:schemeClr>
                </a:solidFill>
              </a:rPr>
              <a:t>voa</a:t>
            </a:r>
            <a:r>
              <a:rPr lang="es-ES" sz="2000" b="1" dirty="0">
                <a:solidFill>
                  <a:schemeClr val="bg2">
                    <a:lumMod val="50000"/>
                  </a:schemeClr>
                </a:solidFill>
              </a:rPr>
              <a:t>: valor optimo actual</a:t>
            </a:r>
          </a:p>
          <a:p>
            <a:r>
              <a:rPr lang="es-ES" sz="2000" b="1" dirty="0" err="1">
                <a:solidFill>
                  <a:schemeClr val="bg2">
                    <a:lumMod val="50000"/>
                  </a:schemeClr>
                </a:solidFill>
              </a:rPr>
              <a:t>soa</a:t>
            </a:r>
            <a:r>
              <a:rPr lang="es-ES" sz="2000" b="1" dirty="0">
                <a:solidFill>
                  <a:schemeClr val="bg2">
                    <a:lumMod val="50000"/>
                  </a:schemeClr>
                </a:solidFill>
              </a:rPr>
              <a:t>: solución optima actual</a:t>
            </a:r>
            <a:endParaRPr lang="es-PE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629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C60A1DE-0CDB-4796-AAAA-A76124A1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</a:t>
            </a:r>
            <a:r>
              <a:rPr lang="es-ES" sz="4000" dirty="0" err="1"/>
              <a:t>Ramificacion</a:t>
            </a:r>
            <a:r>
              <a:rPr lang="es-ES" sz="4000" dirty="0"/>
              <a:t> y Poda</a:t>
            </a:r>
            <a:endParaRPr lang="es-PE" sz="40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4A1983-67CE-4098-B4AF-B1A9CB5D3A7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05366" y="1233488"/>
            <a:ext cx="14630400" cy="7740650"/>
          </a:xfrm>
        </p:spPr>
        <p:txBody>
          <a:bodyPr/>
          <a:lstStyle/>
          <a:p>
            <a:r>
              <a:rPr lang="es-ES" b="1" dirty="0">
                <a:solidFill>
                  <a:schemeClr val="bg2"/>
                </a:solidFill>
              </a:rPr>
              <a:t>Caso 4: </a:t>
            </a:r>
            <a:r>
              <a:rPr lang="es-PE" dirty="0" err="1">
                <a:solidFill>
                  <a:schemeClr val="bg2"/>
                </a:solidFill>
              </a:rPr>
              <a:t>Ramificacion</a:t>
            </a:r>
            <a:r>
              <a:rPr lang="es-PE" dirty="0">
                <a:solidFill>
                  <a:schemeClr val="bg2"/>
                </a:solidFill>
              </a:rPr>
              <a:t> y Poda</a:t>
            </a:r>
          </a:p>
          <a:p>
            <a:pPr marL="25400" indent="0">
              <a:buNone/>
            </a:pPr>
            <a:endParaRPr lang="es-PE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r>
              <a:rPr lang="es-ES" sz="2800" dirty="0">
                <a:solidFill>
                  <a:schemeClr val="bg2"/>
                </a:solidFill>
              </a:rPr>
              <a:t>Suponer el mismo problema de encontrar todos los subconjuntos de un conjunto dado de enteros positivos {x1, x2..., </a:t>
            </a:r>
            <a:r>
              <a:rPr lang="es-ES" sz="2800" dirty="0" err="1">
                <a:solidFill>
                  <a:schemeClr val="bg2"/>
                </a:solidFill>
              </a:rPr>
              <a:t>xn</a:t>
            </a:r>
            <a:r>
              <a:rPr lang="es-ES" sz="2800" dirty="0">
                <a:solidFill>
                  <a:schemeClr val="bg2"/>
                </a:solidFill>
              </a:rPr>
              <a:t>} que sumen una cantidad M. Para resolverlo aplicando poda utilizamos </a:t>
            </a:r>
            <a:r>
              <a:rPr lang="x-none" altLang="es-ES" sz="2800" dirty="0">
                <a:solidFill>
                  <a:schemeClr val="bg2"/>
                </a:solidFill>
              </a:rPr>
              <a:t>lo siguiente:</a:t>
            </a:r>
          </a:p>
          <a:p>
            <a:pPr lvl="1">
              <a:lnSpc>
                <a:spcPct val="110000"/>
              </a:lnSpc>
              <a:buFont typeface="Wingdings" charset="0"/>
              <a:buChar char=""/>
            </a:pPr>
            <a:r>
              <a:rPr lang="x-none" altLang="es-ES" sz="2800" dirty="0">
                <a:solidFill>
                  <a:schemeClr val="bg2"/>
                </a:solidFill>
              </a:rPr>
              <a:t>CI: </a:t>
            </a:r>
            <a:r>
              <a:rPr lang="es-ES" sz="2800" dirty="0">
                <a:solidFill>
                  <a:schemeClr val="bg2"/>
                </a:solidFill>
              </a:rPr>
              <a:t>La cota inferior usada es la suma de los elementos de la solución actual</a:t>
            </a:r>
            <a:r>
              <a:rPr lang="x-none" altLang="es-ES" sz="2800" dirty="0">
                <a:solidFill>
                  <a:schemeClr val="bg2"/>
                </a:solidFill>
              </a:rPr>
              <a:t>. </a:t>
            </a:r>
            <a:endParaRPr lang="es-ES" sz="2800" dirty="0">
              <a:solidFill>
                <a:schemeClr val="bg2"/>
              </a:solidFill>
            </a:endParaRPr>
          </a:p>
          <a:p>
            <a:pPr lvl="1">
              <a:lnSpc>
                <a:spcPct val="110000"/>
              </a:lnSpc>
              <a:buFont typeface="Wingdings" charset="0"/>
              <a:buChar char=""/>
            </a:pPr>
            <a:r>
              <a:rPr lang="x-none" altLang="es-ES" sz="2800" dirty="0">
                <a:solidFill>
                  <a:schemeClr val="bg2"/>
                </a:solidFill>
              </a:rPr>
              <a:t>CS: L</a:t>
            </a:r>
            <a:r>
              <a:rPr lang="es-ES" sz="2800" dirty="0">
                <a:solidFill>
                  <a:schemeClr val="bg2"/>
                </a:solidFill>
              </a:rPr>
              <a:t>a cota superior es la cota inferior más los elementos que faltan por tratar. </a:t>
            </a:r>
          </a:p>
          <a:p>
            <a:pPr lvl="1">
              <a:lnSpc>
                <a:spcPct val="110000"/>
              </a:lnSpc>
              <a:buFont typeface="Wingdings" charset="0"/>
              <a:buChar char=""/>
            </a:pPr>
            <a:r>
              <a:rPr lang="x-none" altLang="es-ES" sz="2800" dirty="0">
                <a:solidFill>
                  <a:schemeClr val="bg2"/>
                </a:solidFill>
              </a:rPr>
              <a:t>Condicion de poda:</a:t>
            </a:r>
          </a:p>
          <a:p>
            <a:pPr lvl="2">
              <a:lnSpc>
                <a:spcPct val="110000"/>
              </a:lnSpc>
              <a:buFont typeface="Wingdings" charset="0"/>
              <a:buChar char=""/>
            </a:pPr>
            <a:r>
              <a:rPr lang="x-none" altLang="es-ES" sz="2800" dirty="0">
                <a:solidFill>
                  <a:schemeClr val="bg2"/>
                </a:solidFill>
              </a:rPr>
              <a:t>CI &gt; </a:t>
            </a:r>
            <a:r>
              <a:rPr lang="es-ES" altLang="es-ES" sz="2800" dirty="0">
                <a:solidFill>
                  <a:schemeClr val="bg2"/>
                </a:solidFill>
              </a:rPr>
              <a:t>P</a:t>
            </a:r>
            <a:r>
              <a:rPr lang="x-none" altLang="es-ES" sz="2800" dirty="0">
                <a:solidFill>
                  <a:schemeClr val="bg2"/>
                </a:solidFill>
              </a:rPr>
              <a:t> or CS &lt; </a:t>
            </a:r>
            <a:r>
              <a:rPr lang="es-ES" altLang="es-ES" sz="2800" dirty="0">
                <a:solidFill>
                  <a:schemeClr val="bg2"/>
                </a:solidFill>
              </a:rPr>
              <a:t>P</a:t>
            </a:r>
            <a:endParaRPr lang="x-none" altLang="es-ES" sz="2800" dirty="0">
              <a:solidFill>
                <a:schemeClr val="bg2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000939-AB63-4356-9A6B-C14114597DB4}"/>
              </a:ext>
            </a:extLst>
          </p:cNvPr>
          <p:cNvSpPr/>
          <p:nvPr/>
        </p:nvSpPr>
        <p:spPr>
          <a:xfrm>
            <a:off x="5604565" y="7044628"/>
            <a:ext cx="10158895" cy="1117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lvl="0">
              <a:lnSpc>
                <a:spcPct val="115000"/>
              </a:lnSpc>
              <a:buClr>
                <a:srgbClr val="737373"/>
              </a:buClr>
              <a:buSzPts val="3200"/>
            </a:pPr>
            <a:r>
              <a:rPr lang="es-PE" sz="3000" b="1" dirty="0">
                <a:solidFill>
                  <a:srgbClr val="424242"/>
                </a:solidFill>
                <a:latin typeface="Roboto"/>
                <a:ea typeface="Roboto"/>
                <a:sym typeface="Roboto"/>
              </a:rPr>
              <a:t>Criterio (nivel, s) </a:t>
            </a:r>
          </a:p>
          <a:p>
            <a:pPr marL="25400" lvl="0">
              <a:lnSpc>
                <a:spcPct val="115000"/>
              </a:lnSpc>
              <a:buClr>
                <a:srgbClr val="737373"/>
              </a:buClr>
              <a:buSzPts val="3200"/>
            </a:pPr>
            <a:r>
              <a:rPr lang="es-PE" sz="3000" dirty="0">
                <a:solidFill>
                  <a:srgbClr val="424242"/>
                </a:solidFill>
                <a:latin typeface="Roboto"/>
                <a:ea typeface="Roboto"/>
                <a:sym typeface="Roboto"/>
              </a:rPr>
              <a:t>		</a:t>
            </a:r>
            <a:r>
              <a:rPr lang="es-PE" sz="3000" b="1" dirty="0">
                <a:solidFill>
                  <a:srgbClr val="424242"/>
                </a:solidFill>
                <a:latin typeface="Roboto"/>
                <a:ea typeface="Roboto"/>
                <a:sym typeface="Roboto"/>
              </a:rPr>
              <a:t>devolver</a:t>
            </a:r>
            <a:r>
              <a:rPr lang="es-PE" sz="3000" dirty="0">
                <a:solidFill>
                  <a:srgbClr val="424242"/>
                </a:solidFill>
                <a:latin typeface="Roboto"/>
                <a:ea typeface="Roboto"/>
                <a:sym typeface="Roboto"/>
              </a:rPr>
              <a:t> (nivel &lt; n) and (CI ≤ P) and (CS  &gt;= P)</a:t>
            </a:r>
          </a:p>
        </p:txBody>
      </p:sp>
    </p:spTree>
    <p:extLst>
      <p:ext uri="{BB962C8B-B14F-4D97-AF65-F5344CB8AC3E}">
        <p14:creationId xmlns:p14="http://schemas.microsoft.com/office/powerpoint/2010/main" val="4010403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475504" y="1284392"/>
            <a:ext cx="1493520" cy="13021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en-US" sz="4267" b="1" dirty="0"/>
              <a:t>Problema del mejor subconjunto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30041" y="1334868"/>
            <a:ext cx="461110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en-US" sz="1867" dirty="0"/>
              <a:t>Considerando el conjunto {1,2,3,4}</a:t>
            </a:r>
          </a:p>
          <a:p>
            <a:r>
              <a:rPr lang="x-none" altLang="en-US" sz="1867" dirty="0"/>
              <a:t>se busca el subconjunto que sume 6</a:t>
            </a:r>
          </a:p>
        </p:txBody>
      </p:sp>
      <p:cxnSp>
        <p:nvCxnSpPr>
          <p:cNvPr id="27" name="Straight Arrow Connector 26"/>
          <p:cNvCxnSpPr>
            <a:stCxn id="50" idx="2"/>
            <a:endCxn id="51" idx="1"/>
          </p:cNvCxnSpPr>
          <p:nvPr/>
        </p:nvCxnSpPr>
        <p:spPr>
          <a:xfrm>
            <a:off x="7520516" y="2419773"/>
            <a:ext cx="2904491" cy="4470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50" idx="2"/>
            <a:endCxn id="52" idx="3"/>
          </p:cNvCxnSpPr>
          <p:nvPr/>
        </p:nvCxnSpPr>
        <p:spPr>
          <a:xfrm flipH="1">
            <a:off x="5358553" y="2419773"/>
            <a:ext cx="2161963" cy="4368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1" idx="2"/>
            <a:endCxn id="53" idx="1"/>
          </p:cNvCxnSpPr>
          <p:nvPr/>
        </p:nvCxnSpPr>
        <p:spPr>
          <a:xfrm>
            <a:off x="10707794" y="3313853"/>
            <a:ext cx="1774613" cy="5689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1" idx="2"/>
            <a:endCxn id="58" idx="3"/>
          </p:cNvCxnSpPr>
          <p:nvPr/>
        </p:nvCxnSpPr>
        <p:spPr>
          <a:xfrm flipH="1">
            <a:off x="9551247" y="3313854"/>
            <a:ext cx="1156547" cy="5613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3" idx="2"/>
            <a:endCxn id="54" idx="0"/>
          </p:cNvCxnSpPr>
          <p:nvPr/>
        </p:nvCxnSpPr>
        <p:spPr>
          <a:xfrm>
            <a:off x="12765194" y="4329853"/>
            <a:ext cx="925407" cy="10312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3" idx="2"/>
            <a:endCxn id="55" idx="0"/>
          </p:cNvCxnSpPr>
          <p:nvPr/>
        </p:nvCxnSpPr>
        <p:spPr>
          <a:xfrm flipH="1">
            <a:off x="12200467" y="4329854"/>
            <a:ext cx="564727" cy="7899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8" idx="2"/>
            <a:endCxn id="59" idx="0"/>
          </p:cNvCxnSpPr>
          <p:nvPr/>
        </p:nvCxnSpPr>
        <p:spPr>
          <a:xfrm>
            <a:off x="9269307" y="4322233"/>
            <a:ext cx="1156547" cy="6146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58" idx="2"/>
            <a:endCxn id="60" idx="0"/>
          </p:cNvCxnSpPr>
          <p:nvPr/>
        </p:nvCxnSpPr>
        <p:spPr>
          <a:xfrm flipH="1">
            <a:off x="8520854" y="4322233"/>
            <a:ext cx="748453" cy="6908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55" idx="2"/>
            <a:endCxn id="57" idx="0"/>
          </p:cNvCxnSpPr>
          <p:nvPr/>
        </p:nvCxnSpPr>
        <p:spPr>
          <a:xfrm flipH="1">
            <a:off x="11908367" y="6013874"/>
            <a:ext cx="292100" cy="672253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55" idx="2"/>
            <a:endCxn id="56" idx="0"/>
          </p:cNvCxnSpPr>
          <p:nvPr/>
        </p:nvCxnSpPr>
        <p:spPr>
          <a:xfrm>
            <a:off x="12200467" y="6013874"/>
            <a:ext cx="783167" cy="69850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59" idx="2"/>
            <a:endCxn id="61" idx="0"/>
          </p:cNvCxnSpPr>
          <p:nvPr/>
        </p:nvCxnSpPr>
        <p:spPr>
          <a:xfrm>
            <a:off x="10425854" y="5830994"/>
            <a:ext cx="486833" cy="890693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59" idx="2"/>
            <a:endCxn id="62" idx="0"/>
          </p:cNvCxnSpPr>
          <p:nvPr/>
        </p:nvCxnSpPr>
        <p:spPr>
          <a:xfrm flipH="1">
            <a:off x="9890760" y="5830994"/>
            <a:ext cx="535093" cy="90000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67" idx="2"/>
            <a:endCxn id="70" idx="0"/>
          </p:cNvCxnSpPr>
          <p:nvPr/>
        </p:nvCxnSpPr>
        <p:spPr>
          <a:xfrm flipH="1">
            <a:off x="7063741" y="5907193"/>
            <a:ext cx="226060" cy="80602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67" idx="2"/>
            <a:endCxn id="69" idx="0"/>
          </p:cNvCxnSpPr>
          <p:nvPr/>
        </p:nvCxnSpPr>
        <p:spPr>
          <a:xfrm>
            <a:off x="7289800" y="5907194"/>
            <a:ext cx="760307" cy="796713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" name="Table 48"/>
          <p:cNvGraphicFramePr/>
          <p:nvPr>
            <p:extLst>
              <p:ext uri="{D42A27DB-BD31-4B8C-83A1-F6EECF244321}">
                <p14:modId xmlns:p14="http://schemas.microsoft.com/office/powerpoint/2010/main" val="1931623770"/>
              </p:ext>
            </p:extLst>
          </p:nvPr>
        </p:nvGraphicFramePr>
        <p:xfrm>
          <a:off x="11917681" y="1421554"/>
          <a:ext cx="671407" cy="10566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7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1900" dirty="0"/>
                        <a:t>CI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1900" dirty="0"/>
                        <a:t>CS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/>
          <p:nvPr/>
        </p:nvGraphicFramePr>
        <p:xfrm>
          <a:off x="7247467" y="1525693"/>
          <a:ext cx="546100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10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/>
          <p:nvPr/>
        </p:nvGraphicFramePr>
        <p:xfrm>
          <a:off x="10425007" y="241977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10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/>
          <p:nvPr/>
        </p:nvGraphicFramePr>
        <p:xfrm>
          <a:off x="4812454" y="2409613"/>
          <a:ext cx="546100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/>
          <p:nvPr/>
        </p:nvGraphicFramePr>
        <p:xfrm>
          <a:off x="12482407" y="343577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10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/>
          <p:nvPr/>
        </p:nvGraphicFramePr>
        <p:xfrm>
          <a:off x="13407814" y="536109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10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/>
          <p:nvPr/>
        </p:nvGraphicFramePr>
        <p:xfrm>
          <a:off x="11917681" y="511979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7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/>
          <p:nvPr>
            <p:extLst>
              <p:ext uri="{D42A27DB-BD31-4B8C-83A1-F6EECF244321}">
                <p14:modId xmlns:p14="http://schemas.microsoft.com/office/powerpoint/2010/main" val="1299087862"/>
              </p:ext>
            </p:extLst>
          </p:nvPr>
        </p:nvGraphicFramePr>
        <p:xfrm>
          <a:off x="12700847" y="6712373"/>
          <a:ext cx="564727" cy="912707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/>
          <p:nvPr>
            <p:extLst>
              <p:ext uri="{D42A27DB-BD31-4B8C-83A1-F6EECF244321}">
                <p14:modId xmlns:p14="http://schemas.microsoft.com/office/powerpoint/2010/main" val="3273480749"/>
              </p:ext>
            </p:extLst>
          </p:nvPr>
        </p:nvGraphicFramePr>
        <p:xfrm>
          <a:off x="11625581" y="6686127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/>
          <p:nvPr/>
        </p:nvGraphicFramePr>
        <p:xfrm>
          <a:off x="8986521" y="342815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8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Table 58"/>
          <p:cNvGraphicFramePr/>
          <p:nvPr/>
        </p:nvGraphicFramePr>
        <p:xfrm>
          <a:off x="10143067" y="493691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4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8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" name="Table 59"/>
          <p:cNvGraphicFramePr/>
          <p:nvPr>
            <p:extLst>
              <p:ext uri="{D42A27DB-BD31-4B8C-83A1-F6EECF244321}">
                <p14:modId xmlns:p14="http://schemas.microsoft.com/office/powerpoint/2010/main" val="1950832688"/>
              </p:ext>
            </p:extLst>
          </p:nvPr>
        </p:nvGraphicFramePr>
        <p:xfrm>
          <a:off x="8238067" y="501311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Table 60"/>
          <p:cNvGraphicFramePr/>
          <p:nvPr>
            <p:extLst>
              <p:ext uri="{D42A27DB-BD31-4B8C-83A1-F6EECF244321}">
                <p14:modId xmlns:p14="http://schemas.microsoft.com/office/powerpoint/2010/main" val="2345507291"/>
              </p:ext>
            </p:extLst>
          </p:nvPr>
        </p:nvGraphicFramePr>
        <p:xfrm>
          <a:off x="10629901" y="6721687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Table 61"/>
          <p:cNvGraphicFramePr/>
          <p:nvPr>
            <p:extLst>
              <p:ext uri="{D42A27DB-BD31-4B8C-83A1-F6EECF244321}">
                <p14:modId xmlns:p14="http://schemas.microsoft.com/office/powerpoint/2010/main" val="3714109485"/>
              </p:ext>
            </p:extLst>
          </p:nvPr>
        </p:nvGraphicFramePr>
        <p:xfrm>
          <a:off x="9607974" y="6731000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" name="Table 62"/>
          <p:cNvGraphicFramePr/>
          <p:nvPr/>
        </p:nvGraphicFramePr>
        <p:xfrm>
          <a:off x="6438054" y="3398521"/>
          <a:ext cx="564727" cy="930487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2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" name="Table 63"/>
          <p:cNvGraphicFramePr/>
          <p:nvPr/>
        </p:nvGraphicFramePr>
        <p:xfrm>
          <a:off x="3344334" y="3416300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/>
                        <a:t>7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5" name="Straight Arrow Connector 64"/>
          <p:cNvCxnSpPr>
            <a:stCxn id="52" idx="2"/>
            <a:endCxn id="63" idx="1"/>
          </p:cNvCxnSpPr>
          <p:nvPr/>
        </p:nvCxnSpPr>
        <p:spPr>
          <a:xfrm>
            <a:off x="5068147" y="3303694"/>
            <a:ext cx="1352127" cy="560493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2" idx="2"/>
            <a:endCxn id="64" idx="3"/>
          </p:cNvCxnSpPr>
          <p:nvPr/>
        </p:nvCxnSpPr>
        <p:spPr>
          <a:xfrm flipH="1">
            <a:off x="3891280" y="3303694"/>
            <a:ext cx="1176867" cy="55964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7" name="Table 66"/>
          <p:cNvGraphicFramePr/>
          <p:nvPr/>
        </p:nvGraphicFramePr>
        <p:xfrm>
          <a:off x="7007014" y="501311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Table 67"/>
          <p:cNvGraphicFramePr/>
          <p:nvPr/>
        </p:nvGraphicFramePr>
        <p:xfrm>
          <a:off x="5648961" y="498517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2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6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Table 68"/>
          <p:cNvGraphicFramePr/>
          <p:nvPr>
            <p:extLst>
              <p:ext uri="{D42A27DB-BD31-4B8C-83A1-F6EECF244321}">
                <p14:modId xmlns:p14="http://schemas.microsoft.com/office/powerpoint/2010/main" val="3678043618"/>
              </p:ext>
            </p:extLst>
          </p:nvPr>
        </p:nvGraphicFramePr>
        <p:xfrm>
          <a:off x="7767321" y="6703907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/>
          <p:nvPr>
            <p:extLst>
              <p:ext uri="{D42A27DB-BD31-4B8C-83A1-F6EECF244321}">
                <p14:modId xmlns:p14="http://schemas.microsoft.com/office/powerpoint/2010/main" val="4235491167"/>
              </p:ext>
            </p:extLst>
          </p:nvPr>
        </p:nvGraphicFramePr>
        <p:xfrm>
          <a:off x="6780954" y="6713220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1" name="Straight Arrow Connector 70"/>
          <p:cNvCxnSpPr>
            <a:stCxn id="63" idx="2"/>
            <a:endCxn id="67" idx="0"/>
          </p:cNvCxnSpPr>
          <p:nvPr/>
        </p:nvCxnSpPr>
        <p:spPr>
          <a:xfrm>
            <a:off x="6703060" y="4329007"/>
            <a:ext cx="568960" cy="68410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2" name="Table 71"/>
          <p:cNvGraphicFramePr/>
          <p:nvPr/>
        </p:nvGraphicFramePr>
        <p:xfrm>
          <a:off x="5909734" y="6731000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/>
          <p:nvPr>
            <p:extLst>
              <p:ext uri="{D42A27DB-BD31-4B8C-83A1-F6EECF244321}">
                <p14:modId xmlns:p14="http://schemas.microsoft.com/office/powerpoint/2010/main" val="3682261180"/>
              </p:ext>
            </p:extLst>
          </p:nvPr>
        </p:nvGraphicFramePr>
        <p:xfrm>
          <a:off x="4941147" y="674031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4" name="Straight Arrow Connector 73"/>
          <p:cNvCxnSpPr>
            <a:stCxn id="63" idx="2"/>
            <a:endCxn id="68" idx="0"/>
          </p:cNvCxnSpPr>
          <p:nvPr/>
        </p:nvCxnSpPr>
        <p:spPr>
          <a:xfrm flipH="1">
            <a:off x="5913967" y="4329007"/>
            <a:ext cx="789093" cy="65616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5931747" y="5879253"/>
            <a:ext cx="260773" cy="85174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5223934" y="5879254"/>
            <a:ext cx="707813" cy="8610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8" name="Table 77"/>
          <p:cNvGraphicFramePr/>
          <p:nvPr/>
        </p:nvGraphicFramePr>
        <p:xfrm>
          <a:off x="3709247" y="4969087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/>
                        <a:t>7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/>
          <p:nvPr>
            <p:extLst>
              <p:ext uri="{D42A27DB-BD31-4B8C-83A1-F6EECF244321}">
                <p14:modId xmlns:p14="http://schemas.microsoft.com/office/powerpoint/2010/main" val="1835282843"/>
              </p:ext>
            </p:extLst>
          </p:nvPr>
        </p:nvGraphicFramePr>
        <p:xfrm>
          <a:off x="2280074" y="4941147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0" name="Straight Arrow Connector 79"/>
          <p:cNvCxnSpPr>
            <a:stCxn id="64" idx="2"/>
            <a:endCxn id="79" idx="0"/>
          </p:cNvCxnSpPr>
          <p:nvPr/>
        </p:nvCxnSpPr>
        <p:spPr>
          <a:xfrm flipH="1">
            <a:off x="2545081" y="4310381"/>
            <a:ext cx="1064260" cy="63076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4" idx="2"/>
            <a:endCxn id="78" idx="0"/>
          </p:cNvCxnSpPr>
          <p:nvPr/>
        </p:nvCxnSpPr>
        <p:spPr>
          <a:xfrm>
            <a:off x="3609341" y="4310380"/>
            <a:ext cx="364913" cy="65870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>
            <p:extLst>
              <p:ext uri="{D42A27DB-BD31-4B8C-83A1-F6EECF244321}">
                <p14:modId xmlns:p14="http://schemas.microsoft.com/office/powerpoint/2010/main" val="290431591"/>
              </p:ext>
            </p:extLst>
          </p:nvPr>
        </p:nvGraphicFramePr>
        <p:xfrm>
          <a:off x="4069927" y="6758093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Table 82"/>
          <p:cNvGraphicFramePr/>
          <p:nvPr>
            <p:extLst>
              <p:ext uri="{D42A27DB-BD31-4B8C-83A1-F6EECF244321}">
                <p14:modId xmlns:p14="http://schemas.microsoft.com/office/powerpoint/2010/main" val="454764220"/>
              </p:ext>
            </p:extLst>
          </p:nvPr>
        </p:nvGraphicFramePr>
        <p:xfrm>
          <a:off x="3101341" y="6767407"/>
          <a:ext cx="564727" cy="894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altLang="en-US" sz="2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4" name="Straight Arrow Connector 83"/>
          <p:cNvCxnSpPr>
            <a:stCxn id="78" idx="2"/>
            <a:endCxn id="82" idx="0"/>
          </p:cNvCxnSpPr>
          <p:nvPr/>
        </p:nvCxnSpPr>
        <p:spPr>
          <a:xfrm>
            <a:off x="3974253" y="5863167"/>
            <a:ext cx="360680" cy="89492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8" idx="2"/>
            <a:endCxn id="83" idx="0"/>
          </p:cNvCxnSpPr>
          <p:nvPr/>
        </p:nvCxnSpPr>
        <p:spPr>
          <a:xfrm flipH="1">
            <a:off x="3366347" y="5863167"/>
            <a:ext cx="607907" cy="9042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 Box 85"/>
          <p:cNvSpPr txBox="1"/>
          <p:nvPr/>
        </p:nvSpPr>
        <p:spPr>
          <a:xfrm>
            <a:off x="6041814" y="219625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87" name="Text Box 86"/>
          <p:cNvSpPr txBox="1"/>
          <p:nvPr/>
        </p:nvSpPr>
        <p:spPr>
          <a:xfrm>
            <a:off x="8774007" y="211243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88" name="Text Box 87"/>
          <p:cNvSpPr txBox="1"/>
          <p:nvPr/>
        </p:nvSpPr>
        <p:spPr>
          <a:xfrm>
            <a:off x="11708554" y="3130127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89" name="Text Box 88"/>
          <p:cNvSpPr txBox="1"/>
          <p:nvPr/>
        </p:nvSpPr>
        <p:spPr>
          <a:xfrm>
            <a:off x="13265574" y="4478867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0" name="Text Box 89"/>
          <p:cNvSpPr txBox="1"/>
          <p:nvPr/>
        </p:nvSpPr>
        <p:spPr>
          <a:xfrm>
            <a:off x="9890760" y="4257040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1" name="Text Box 90"/>
          <p:cNvSpPr txBox="1"/>
          <p:nvPr/>
        </p:nvSpPr>
        <p:spPr>
          <a:xfrm>
            <a:off x="7063740" y="4257040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2" name="Text Box 91"/>
          <p:cNvSpPr txBox="1"/>
          <p:nvPr/>
        </p:nvSpPr>
        <p:spPr>
          <a:xfrm>
            <a:off x="3792220" y="413173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3" name="Text Box 92"/>
          <p:cNvSpPr txBox="1"/>
          <p:nvPr/>
        </p:nvSpPr>
        <p:spPr>
          <a:xfrm>
            <a:off x="4236720" y="583099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4" name="Text Box 93"/>
          <p:cNvSpPr txBox="1"/>
          <p:nvPr/>
        </p:nvSpPr>
        <p:spPr>
          <a:xfrm>
            <a:off x="6076527" y="601387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5" name="Text Box 94"/>
          <p:cNvSpPr txBox="1"/>
          <p:nvPr/>
        </p:nvSpPr>
        <p:spPr>
          <a:xfrm>
            <a:off x="7652174" y="590719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6" name="Text Box 95"/>
          <p:cNvSpPr txBox="1"/>
          <p:nvPr/>
        </p:nvSpPr>
        <p:spPr>
          <a:xfrm>
            <a:off x="10707794" y="587925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7" name="Text Box 96"/>
          <p:cNvSpPr txBox="1"/>
          <p:nvPr/>
        </p:nvSpPr>
        <p:spPr>
          <a:xfrm>
            <a:off x="12567074" y="590719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98" name="Text Box 97"/>
          <p:cNvSpPr txBox="1"/>
          <p:nvPr/>
        </p:nvSpPr>
        <p:spPr>
          <a:xfrm>
            <a:off x="4152900" y="3130127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99" name="Text Box 98"/>
          <p:cNvSpPr txBox="1"/>
          <p:nvPr/>
        </p:nvSpPr>
        <p:spPr>
          <a:xfrm>
            <a:off x="2844800" y="413173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0" name="Text Box 99"/>
          <p:cNvSpPr txBox="1"/>
          <p:nvPr/>
        </p:nvSpPr>
        <p:spPr>
          <a:xfrm>
            <a:off x="5815754" y="4257040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1" name="Text Box 100"/>
          <p:cNvSpPr txBox="1"/>
          <p:nvPr/>
        </p:nvSpPr>
        <p:spPr>
          <a:xfrm>
            <a:off x="9774767" y="3130127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2" name="Text Box 101"/>
          <p:cNvSpPr txBox="1"/>
          <p:nvPr/>
        </p:nvSpPr>
        <p:spPr>
          <a:xfrm>
            <a:off x="8404860" y="413173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3" name="Text Box 102"/>
          <p:cNvSpPr txBox="1"/>
          <p:nvPr/>
        </p:nvSpPr>
        <p:spPr>
          <a:xfrm>
            <a:off x="3311314" y="583099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4" name="Text Box 103"/>
          <p:cNvSpPr txBox="1"/>
          <p:nvPr/>
        </p:nvSpPr>
        <p:spPr>
          <a:xfrm>
            <a:off x="5251027" y="587925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5" name="Text Box 104"/>
          <p:cNvSpPr txBox="1"/>
          <p:nvPr/>
        </p:nvSpPr>
        <p:spPr>
          <a:xfrm>
            <a:off x="6792807" y="602403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6" name="Text Box 105"/>
          <p:cNvSpPr txBox="1"/>
          <p:nvPr/>
        </p:nvSpPr>
        <p:spPr>
          <a:xfrm>
            <a:off x="9745134" y="590719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7" name="Text Box 106"/>
          <p:cNvSpPr txBox="1"/>
          <p:nvPr/>
        </p:nvSpPr>
        <p:spPr>
          <a:xfrm>
            <a:off x="11621347" y="6013873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0</a:t>
            </a:r>
          </a:p>
        </p:txBody>
      </p:sp>
      <p:sp>
        <p:nvSpPr>
          <p:cNvPr id="108" name="Text Box 107"/>
          <p:cNvSpPr txBox="1"/>
          <p:nvPr/>
        </p:nvSpPr>
        <p:spPr>
          <a:xfrm>
            <a:off x="5780193" y="7640320"/>
            <a:ext cx="67678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{2,4}</a:t>
            </a:r>
          </a:p>
        </p:txBody>
      </p:sp>
      <p:sp>
        <p:nvSpPr>
          <p:cNvPr id="109" name="Text Box 108"/>
          <p:cNvSpPr txBox="1"/>
          <p:nvPr/>
        </p:nvSpPr>
        <p:spPr>
          <a:xfrm>
            <a:off x="5678594" y="3130127"/>
            <a:ext cx="3177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1</a:t>
            </a:r>
          </a:p>
        </p:txBody>
      </p:sp>
      <p:sp>
        <p:nvSpPr>
          <p:cNvPr id="110" name="Text Box 109"/>
          <p:cNvSpPr txBox="1"/>
          <p:nvPr/>
        </p:nvSpPr>
        <p:spPr>
          <a:xfrm>
            <a:off x="13176674" y="6239933"/>
            <a:ext cx="87556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en-US" sz="1867"/>
              <a:t>{1,2,3}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CB77C40-847A-401C-8D53-B262D582FC06}"/>
              </a:ext>
            </a:extLst>
          </p:cNvPr>
          <p:cNvSpPr txBox="1"/>
          <p:nvPr/>
        </p:nvSpPr>
        <p:spPr>
          <a:xfrm>
            <a:off x="13202640" y="1338536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CI: suma actual</a:t>
            </a:r>
          </a:p>
          <a:p>
            <a:r>
              <a:rPr lang="es-ES" sz="2000" dirty="0"/>
              <a:t>CS: suma total posible</a:t>
            </a:r>
          </a:p>
          <a:p>
            <a:r>
              <a:rPr lang="es-ES" sz="2000" dirty="0"/>
              <a:t>P=6 : suma deseada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EA151FBA-0EA9-44FD-B823-55199232B07C}"/>
              </a:ext>
            </a:extLst>
          </p:cNvPr>
          <p:cNvSpPr txBox="1"/>
          <p:nvPr/>
        </p:nvSpPr>
        <p:spPr>
          <a:xfrm>
            <a:off x="13202640" y="2376441"/>
            <a:ext cx="2749471" cy="373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10000"/>
              </a:lnSpc>
            </a:pPr>
            <a:r>
              <a:rPr lang="es-ES" altLang="es-ES" sz="1800" b="1" dirty="0">
                <a:solidFill>
                  <a:srgbClr val="FF0000"/>
                </a:solidFill>
              </a:rPr>
              <a:t>Poda: </a:t>
            </a:r>
            <a:r>
              <a:rPr lang="x-none" altLang="es-ES" sz="1800" b="1" dirty="0">
                <a:solidFill>
                  <a:srgbClr val="FF0000"/>
                </a:solidFill>
              </a:rPr>
              <a:t>CI &gt; </a:t>
            </a:r>
            <a:r>
              <a:rPr lang="es-ES" altLang="es-ES" sz="1800" b="1" dirty="0">
                <a:solidFill>
                  <a:srgbClr val="FF0000"/>
                </a:solidFill>
              </a:rPr>
              <a:t>P</a:t>
            </a:r>
            <a:r>
              <a:rPr lang="x-none" altLang="es-ES" sz="1800" b="1" dirty="0">
                <a:solidFill>
                  <a:srgbClr val="FF0000"/>
                </a:solidFill>
              </a:rPr>
              <a:t> or CS &lt; </a:t>
            </a:r>
            <a:r>
              <a:rPr lang="es-ES" altLang="es-ES" sz="1800" b="1" dirty="0">
                <a:solidFill>
                  <a:srgbClr val="FF0000"/>
                </a:solidFill>
              </a:rPr>
              <a:t>P</a:t>
            </a:r>
            <a:endParaRPr lang="x-none" altLang="es-E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896B03A-FADF-4599-92EC-652241C36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843" y="1222281"/>
            <a:ext cx="11229094" cy="788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2484E9B-08D9-44FD-912C-ECE8E5D2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err="1"/>
              <a:t>Backtracking</a:t>
            </a:r>
            <a:r>
              <a:rPr lang="es-ES" sz="3200" dirty="0"/>
              <a:t>: </a:t>
            </a:r>
            <a:r>
              <a:rPr lang="es-ES" sz="3200" dirty="0" err="1"/>
              <a:t>Ramificacion</a:t>
            </a:r>
            <a:r>
              <a:rPr lang="es-ES" sz="3200" dirty="0"/>
              <a:t> y Poda</a:t>
            </a:r>
            <a:endParaRPr lang="es-PE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5A6CD6AC-BF62-4C07-B605-23CEE004F9E1}"/>
              </a:ext>
            </a:extLst>
          </p:cNvPr>
          <p:cNvSpPr/>
          <p:nvPr/>
        </p:nvSpPr>
        <p:spPr>
          <a:xfrm>
            <a:off x="5899045" y="1430796"/>
            <a:ext cx="2093489" cy="1021785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altLang="en-US" sz="1800" dirty="0"/>
              <a:t>N</a:t>
            </a:r>
            <a:r>
              <a:rPr lang="x-none" altLang="en-US" sz="1800" dirty="0"/>
              <a:t>Actual/</a:t>
            </a:r>
            <a:r>
              <a:rPr lang="x-none" altLang="en-US" sz="1800" dirty="0">
                <a:solidFill>
                  <a:srgbClr val="FF0000"/>
                </a:solidFill>
              </a:rPr>
              <a:t>CI</a:t>
            </a:r>
            <a:endParaRPr lang="x-none" altLang="en-US" sz="1800" dirty="0"/>
          </a:p>
          <a:p>
            <a:pPr algn="ctr"/>
            <a:r>
              <a:rPr lang="x-none" altLang="en-US" sz="1800" b="1" dirty="0">
                <a:solidFill>
                  <a:srgbClr val="0070C0"/>
                </a:solidFill>
              </a:rPr>
              <a:t>CS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3C281F-A052-4A67-B711-5C17CC138EA8}"/>
              </a:ext>
            </a:extLst>
          </p:cNvPr>
          <p:cNvSpPr txBox="1"/>
          <p:nvPr/>
        </p:nvSpPr>
        <p:spPr>
          <a:xfrm>
            <a:off x="9327957" y="1524001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CI: suma actual</a:t>
            </a:r>
          </a:p>
          <a:p>
            <a:r>
              <a:rPr lang="es-ES" sz="2000" dirty="0"/>
              <a:t>CS: suma total posible</a:t>
            </a:r>
          </a:p>
          <a:p>
            <a:r>
              <a:rPr lang="es-ES" sz="2000" dirty="0"/>
              <a:t>P=10 : suma deseada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6366FC-183D-4C50-8698-716377314035}"/>
              </a:ext>
            </a:extLst>
          </p:cNvPr>
          <p:cNvSpPr txBox="1"/>
          <p:nvPr/>
        </p:nvSpPr>
        <p:spPr>
          <a:xfrm>
            <a:off x="9327957" y="2561906"/>
            <a:ext cx="2749471" cy="373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10000"/>
              </a:lnSpc>
            </a:pPr>
            <a:r>
              <a:rPr lang="es-ES" altLang="es-ES" sz="1800" b="1" dirty="0">
                <a:solidFill>
                  <a:srgbClr val="FF0000"/>
                </a:solidFill>
              </a:rPr>
              <a:t>Poda: </a:t>
            </a:r>
            <a:r>
              <a:rPr lang="x-none" altLang="es-ES" sz="1800" b="1" dirty="0">
                <a:solidFill>
                  <a:srgbClr val="FF0000"/>
                </a:solidFill>
              </a:rPr>
              <a:t>CI &gt; </a:t>
            </a:r>
            <a:r>
              <a:rPr lang="es-ES" altLang="es-ES" sz="1800" b="1" dirty="0">
                <a:solidFill>
                  <a:srgbClr val="FF0000"/>
                </a:solidFill>
              </a:rPr>
              <a:t>P</a:t>
            </a:r>
            <a:r>
              <a:rPr lang="x-none" altLang="es-ES" sz="1800" b="1" dirty="0">
                <a:solidFill>
                  <a:srgbClr val="FF0000"/>
                </a:solidFill>
              </a:rPr>
              <a:t> or CS &lt; </a:t>
            </a:r>
            <a:r>
              <a:rPr lang="es-ES" altLang="es-ES" sz="1800" b="1" dirty="0">
                <a:solidFill>
                  <a:srgbClr val="FF0000"/>
                </a:solidFill>
              </a:rPr>
              <a:t>P</a:t>
            </a:r>
            <a:endParaRPr lang="x-none" altLang="es-E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009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3E8F79C-1F8E-4ABC-9F8E-7A762FA8C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800" dirty="0" err="1"/>
              <a:t>Backtracking</a:t>
            </a:r>
            <a:r>
              <a:rPr lang="es-ES" sz="8800" dirty="0"/>
              <a:t>:</a:t>
            </a:r>
            <a:br>
              <a:rPr lang="es-ES" sz="8800" dirty="0"/>
            </a:br>
            <a:r>
              <a:rPr lang="es-ES" sz="8800" dirty="0"/>
              <a:t>Problema de la Mochila 0/1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03382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59E-DD81-4993-9452-76B0F5E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 Problema de la Mochila 0/1</a:t>
            </a:r>
            <a:endParaRPr lang="es-PE" sz="4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6AF74E0-6623-437D-B285-2AA17CC055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98"/>
          <a:stretch/>
        </p:blipFill>
        <p:spPr>
          <a:xfrm>
            <a:off x="998537" y="1471259"/>
            <a:ext cx="11210925" cy="68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011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C60A1DE-0CDB-4796-AAAA-A76124A1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Problema de la Mochila 0/1</a:t>
            </a:r>
            <a:endParaRPr lang="es-PE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844A1983-67CE-4098-B4AF-B1A9CB5D3A72}"/>
                  </a:ext>
                </a:extLst>
              </p:cNvPr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575733" y="1188332"/>
                <a:ext cx="14617700" cy="7740650"/>
              </a:xfrm>
            </p:spPr>
            <p:txBody>
              <a:bodyPr/>
              <a:lstStyle/>
              <a:p>
                <a:r>
                  <a:rPr lang="es-ES" b="1" dirty="0">
                    <a:solidFill>
                      <a:schemeClr val="bg2"/>
                    </a:solidFill>
                  </a:rPr>
                  <a:t>Backtracking (</a:t>
                </a:r>
                <a:r>
                  <a:rPr lang="es-ES" b="1" dirty="0" err="1">
                    <a:solidFill>
                      <a:schemeClr val="bg2"/>
                    </a:solidFill>
                  </a:rPr>
                  <a:t>var</a:t>
                </a:r>
                <a:r>
                  <a:rPr lang="es-ES" b="1" dirty="0">
                    <a:solidFill>
                      <a:schemeClr val="bg2"/>
                    </a:solidFill>
                  </a:rPr>
                  <a:t> s: array[1..n] de enteros)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dirty="0">
                    <a:solidFill>
                      <a:schemeClr val="bg2"/>
                    </a:solidFill>
                  </a:rPr>
                  <a:t>nivel:= 1; s:= 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s</a:t>
                </a:r>
                <a:r>
                  <a:rPr lang="es-ES" sz="2600" baseline="-25000" dirty="0" err="1">
                    <a:solidFill>
                      <a:schemeClr val="bg2"/>
                    </a:solidFill>
                  </a:rPr>
                  <a:t>INICIAL</a:t>
                </a:r>
                <a:endParaRPr lang="es-ES" sz="2600" baseline="-25000" dirty="0">
                  <a:solidFill>
                    <a:schemeClr val="bg2"/>
                  </a:solidFill>
                </a:endParaRP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voa</a:t>
                </a:r>
                <a:r>
                  <a:rPr lang="es-ES" sz="2600" dirty="0">
                    <a:solidFill>
                      <a:schemeClr val="bg2"/>
                    </a:solidFill>
                  </a:rPr>
                  <a:t> := -∞ ; 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soa</a:t>
                </a:r>
                <a:r>
                  <a:rPr lang="es-ES" sz="2600" dirty="0">
                    <a:solidFill>
                      <a:schemeClr val="bg2"/>
                    </a:solidFill>
                  </a:rPr>
                  <a:t> := </a:t>
                </a:r>
                <a14:m>
                  <m:oMath xmlns:m="http://schemas.openxmlformats.org/officeDocument/2006/math">
                    <m:r>
                      <a:rPr lang="es-ES" sz="26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s-ES" sz="260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pact</a:t>
                </a:r>
                <a:r>
                  <a:rPr lang="es-ES" sz="2600" dirty="0">
                    <a:solidFill>
                      <a:schemeClr val="bg2"/>
                    </a:solidFill>
                  </a:rPr>
                  <a:t> := 0; 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bact</a:t>
                </a:r>
                <a:r>
                  <a:rPr lang="es-ES" sz="2600" dirty="0">
                    <a:solidFill>
                      <a:schemeClr val="bg2"/>
                    </a:solidFill>
                  </a:rPr>
                  <a:t> := </a:t>
                </a:r>
                <a14:m>
                  <m:oMath xmlns:m="http://schemas.openxmlformats.org/officeDocument/2006/math">
                    <m:r>
                      <a:rPr lang="es-ES" sz="2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" sz="2600" dirty="0">
                  <a:solidFill>
                    <a:schemeClr val="bg2"/>
                  </a:solidFill>
                </a:endParaRP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repetir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Generar (nivel, s)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si</a:t>
                </a:r>
                <a:r>
                  <a:rPr lang="es-ES" sz="2600" dirty="0">
                    <a:solidFill>
                      <a:schemeClr val="bg2"/>
                    </a:solidFill>
                  </a:rPr>
                  <a:t> Solución (nivel, s) 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AND 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bact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 &gt; 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voa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entonces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voa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 := 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bact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;  </a:t>
                </a:r>
                <a:r>
                  <a:rPr lang="es-ES" sz="2600" b="1" dirty="0" err="1">
                    <a:solidFill>
                      <a:srgbClr val="FF0000"/>
                    </a:solidFill>
                  </a:rPr>
                  <a:t>soa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 = s</a:t>
                </a:r>
                <a:endParaRPr lang="es-ES" sz="2600" dirty="0">
                  <a:solidFill>
                    <a:schemeClr val="bg2"/>
                  </a:solidFill>
                </a:endParaRP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sino</a:t>
                </a:r>
                <a:r>
                  <a:rPr lang="es-ES" sz="2600" dirty="0">
                    <a:solidFill>
                      <a:schemeClr val="bg2"/>
                    </a:solidFill>
                  </a:rPr>
                  <a:t> si Criterio (nivel, s) 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entonces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nivel:= nivel + 1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sino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mientras</a:t>
                </a:r>
                <a:r>
                  <a:rPr lang="es-ES" sz="2600" dirty="0">
                    <a:solidFill>
                      <a:schemeClr val="bg2"/>
                    </a:solidFill>
                  </a:rPr>
                  <a:t> NOT </a:t>
                </a:r>
                <a:r>
                  <a:rPr lang="es-ES" sz="2600" dirty="0" err="1">
                    <a:solidFill>
                      <a:schemeClr val="bg2"/>
                    </a:solidFill>
                  </a:rPr>
                  <a:t>MasHermanos</a:t>
                </a:r>
                <a:r>
                  <a:rPr lang="es-ES" sz="2600" dirty="0">
                    <a:solidFill>
                      <a:schemeClr val="bg2"/>
                    </a:solidFill>
                  </a:rPr>
                  <a:t> (nivel, s) 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AND (nivel &gt; 0) 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hacer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		Retroceder (nivel, s)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	</a:t>
                </a:r>
                <a:r>
                  <a:rPr lang="es-ES" sz="2600" b="1" dirty="0" err="1">
                    <a:solidFill>
                      <a:schemeClr val="bg2"/>
                    </a:solidFill>
                  </a:rPr>
                  <a:t>finsi</a:t>
                </a:r>
                <a:r>
                  <a:rPr lang="es-ES" sz="2600" dirty="0">
                    <a:solidFill>
                      <a:schemeClr val="bg2"/>
                    </a:solidFill>
                  </a:rPr>
                  <a:t> </a:t>
                </a:r>
              </a:p>
              <a:p>
                <a:pPr marL="25400" indent="0">
                  <a:lnSpc>
                    <a:spcPct val="110000"/>
                  </a:lnSpc>
                  <a:buNone/>
                </a:pPr>
                <a:r>
                  <a:rPr lang="es-ES" sz="2600" dirty="0">
                    <a:solidFill>
                      <a:schemeClr val="bg2"/>
                    </a:solidFill>
                  </a:rPr>
                  <a:t>	</a:t>
                </a:r>
                <a:r>
                  <a:rPr lang="es-ES" sz="2600" b="1" dirty="0">
                    <a:solidFill>
                      <a:schemeClr val="bg2"/>
                    </a:solidFill>
                  </a:rPr>
                  <a:t>hasta</a:t>
                </a:r>
                <a:r>
                  <a:rPr lang="es-ES" sz="2600" dirty="0">
                    <a:solidFill>
                      <a:schemeClr val="bg2"/>
                    </a:solidFill>
                  </a:rPr>
                  <a:t> fin </a:t>
                </a:r>
                <a:r>
                  <a:rPr lang="es-ES" sz="2600" b="1" dirty="0">
                    <a:solidFill>
                      <a:srgbClr val="FF0000"/>
                    </a:solidFill>
                  </a:rPr>
                  <a:t>OR (nivel == 0)</a:t>
                </a:r>
                <a:endParaRPr lang="es-PE" sz="2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844A1983-67CE-4098-B4AF-B1A9CB5D3A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575733" y="1188332"/>
                <a:ext cx="14617700" cy="7740650"/>
              </a:xfrm>
              <a:blipFill>
                <a:blip r:embed="rId2"/>
                <a:stretch>
                  <a:fillRect l="-75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FC0F674E-D6D3-497A-88BE-B3ACBF167C35}"/>
              </a:ext>
            </a:extLst>
          </p:cNvPr>
          <p:cNvSpPr txBox="1"/>
          <p:nvPr/>
        </p:nvSpPr>
        <p:spPr>
          <a:xfrm>
            <a:off x="7456311" y="2397402"/>
            <a:ext cx="3990623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chemeClr val="bg2">
                    <a:lumMod val="50000"/>
                  </a:schemeClr>
                </a:solidFill>
              </a:rPr>
              <a:t>pact</a:t>
            </a:r>
            <a:r>
              <a:rPr lang="es-ES" sz="2000" b="1" dirty="0">
                <a:solidFill>
                  <a:schemeClr val="bg2">
                    <a:lumMod val="50000"/>
                  </a:schemeClr>
                </a:solidFill>
              </a:rPr>
              <a:t>: peso actual</a:t>
            </a:r>
          </a:p>
          <a:p>
            <a:r>
              <a:rPr lang="es-ES" sz="2000" b="1" dirty="0" err="1">
                <a:solidFill>
                  <a:schemeClr val="bg2">
                    <a:lumMod val="50000"/>
                  </a:schemeClr>
                </a:solidFill>
              </a:rPr>
              <a:t>bact</a:t>
            </a:r>
            <a:r>
              <a:rPr lang="es-ES" sz="2000" b="1" dirty="0">
                <a:solidFill>
                  <a:schemeClr val="bg2">
                    <a:lumMod val="50000"/>
                  </a:schemeClr>
                </a:solidFill>
              </a:rPr>
              <a:t>: beneficio actual</a:t>
            </a:r>
            <a:endParaRPr lang="es-PE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045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59E-DD81-4993-9452-76B0F5E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Problema de la Mochila 0/1</a:t>
            </a:r>
            <a:endParaRPr lang="es-PE" sz="40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45D8A5-41E5-454B-A270-5B1075D9BF3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230313"/>
            <a:ext cx="15308263" cy="7913687"/>
          </a:xfrm>
        </p:spPr>
        <p:txBody>
          <a:bodyPr/>
          <a:lstStyle/>
          <a:p>
            <a:r>
              <a:rPr lang="es-PE" sz="3000" b="1" dirty="0">
                <a:solidFill>
                  <a:schemeClr val="bg2"/>
                </a:solidFill>
              </a:rPr>
              <a:t>Funciones</a:t>
            </a:r>
            <a:r>
              <a:rPr lang="es-PE" sz="3000" dirty="0">
                <a:solidFill>
                  <a:schemeClr val="bg2"/>
                </a:solidFill>
              </a:rPr>
              <a:t>: </a:t>
            </a:r>
          </a:p>
          <a:p>
            <a:pPr marL="25400" indent="0">
              <a:buNone/>
            </a:pPr>
            <a:r>
              <a:rPr lang="es-PE" sz="3000" b="1" dirty="0">
                <a:solidFill>
                  <a:schemeClr val="bg2"/>
                </a:solidFill>
              </a:rPr>
              <a:t>	</a:t>
            </a:r>
            <a:r>
              <a:rPr lang="es-PE" sz="3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▪ </a:t>
            </a:r>
            <a:r>
              <a:rPr lang="es-PE" sz="2700" b="1" dirty="0">
                <a:solidFill>
                  <a:schemeClr val="bg2"/>
                </a:solidFill>
              </a:rPr>
              <a:t>Generar (nivel, s) </a:t>
            </a:r>
            <a:r>
              <a:rPr lang="es-PE" sz="2700" b="1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s-ES" sz="2700" dirty="0">
                <a:solidFill>
                  <a:schemeClr val="bg2"/>
                </a:solidFill>
                <a:sym typeface="Wingdings" panose="05000000000000000000" pitchFamily="2" charset="2"/>
              </a:rPr>
              <a:t>Probar primero 0 y luego 1</a:t>
            </a:r>
            <a:endParaRPr lang="es-PE" sz="2700" dirty="0">
              <a:solidFill>
                <a:schemeClr val="bg2"/>
              </a:solidFill>
            </a:endParaRPr>
          </a:p>
          <a:p>
            <a:pPr marL="25400" indent="0">
              <a:buNone/>
            </a:pPr>
            <a:r>
              <a:rPr lang="es-PE" sz="2700" dirty="0">
                <a:solidFill>
                  <a:schemeClr val="bg2"/>
                </a:solidFill>
              </a:rPr>
              <a:t>		</a:t>
            </a:r>
            <a:r>
              <a:rPr lang="es-ES" sz="2700" dirty="0">
                <a:solidFill>
                  <a:schemeClr val="bg2"/>
                </a:solidFill>
              </a:rPr>
              <a:t>s[nivel]:= s[nivel] + 1</a:t>
            </a:r>
          </a:p>
          <a:p>
            <a:pPr marL="25400" indent="0">
              <a:buNone/>
            </a:pPr>
            <a:r>
              <a:rPr lang="es-ES" sz="2700" dirty="0">
                <a:solidFill>
                  <a:schemeClr val="bg2"/>
                </a:solidFill>
              </a:rPr>
              <a:t>		</a:t>
            </a:r>
            <a:r>
              <a:rPr lang="es-ES" sz="2700" dirty="0" err="1">
                <a:solidFill>
                  <a:schemeClr val="bg2"/>
                </a:solidFill>
              </a:rPr>
              <a:t>pact</a:t>
            </a:r>
            <a:r>
              <a:rPr lang="es-ES" sz="2700" dirty="0">
                <a:solidFill>
                  <a:schemeClr val="bg2"/>
                </a:solidFill>
              </a:rPr>
              <a:t>:= </a:t>
            </a:r>
            <a:r>
              <a:rPr lang="es-ES" sz="2700" dirty="0" err="1">
                <a:solidFill>
                  <a:schemeClr val="bg2"/>
                </a:solidFill>
              </a:rPr>
              <a:t>pact</a:t>
            </a:r>
            <a:r>
              <a:rPr lang="es-ES" sz="2700" dirty="0">
                <a:solidFill>
                  <a:schemeClr val="bg2"/>
                </a:solidFill>
              </a:rPr>
              <a:t> + p[nivel]*s[nivel]</a:t>
            </a:r>
          </a:p>
          <a:p>
            <a:pPr marL="25400" indent="0">
              <a:buNone/>
            </a:pPr>
            <a:r>
              <a:rPr lang="es-ES" sz="2700" dirty="0">
                <a:solidFill>
                  <a:schemeClr val="bg2"/>
                </a:solidFill>
              </a:rPr>
              <a:t>		</a:t>
            </a:r>
            <a:r>
              <a:rPr lang="es-ES" sz="2700" dirty="0" err="1">
                <a:solidFill>
                  <a:schemeClr val="bg2"/>
                </a:solidFill>
              </a:rPr>
              <a:t>bact</a:t>
            </a:r>
            <a:r>
              <a:rPr lang="es-ES" sz="2700" dirty="0">
                <a:solidFill>
                  <a:schemeClr val="bg2"/>
                </a:solidFill>
              </a:rPr>
              <a:t>:= </a:t>
            </a:r>
            <a:r>
              <a:rPr lang="es-ES" sz="2700" dirty="0" err="1">
                <a:solidFill>
                  <a:schemeClr val="bg2"/>
                </a:solidFill>
              </a:rPr>
              <a:t>bact</a:t>
            </a:r>
            <a:r>
              <a:rPr lang="es-ES" sz="2700" dirty="0">
                <a:solidFill>
                  <a:schemeClr val="bg2"/>
                </a:solidFill>
              </a:rPr>
              <a:t> + b[nivel]*s[nivel]</a:t>
            </a:r>
            <a:endParaRPr lang="es-PE" sz="2700" dirty="0">
              <a:solidFill>
                <a:schemeClr val="bg2"/>
              </a:solidFill>
            </a:endParaRPr>
          </a:p>
          <a:p>
            <a:pPr marL="25400" indent="0">
              <a:buNone/>
            </a:pPr>
            <a:r>
              <a:rPr lang="es-PE" sz="2700" b="1" dirty="0">
                <a:solidFill>
                  <a:schemeClr val="bg2"/>
                </a:solidFill>
              </a:rPr>
              <a:t>	</a:t>
            </a:r>
            <a:r>
              <a:rPr lang="es-PE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2700" b="1" dirty="0">
                <a:solidFill>
                  <a:schemeClr val="bg2"/>
                </a:solidFill>
              </a:rPr>
              <a:t>Solución (nivel, s) </a:t>
            </a:r>
          </a:p>
          <a:p>
            <a:pPr marL="25400" indent="0">
              <a:buNone/>
            </a:pPr>
            <a:r>
              <a:rPr lang="es-PE" sz="2700" dirty="0">
                <a:solidFill>
                  <a:schemeClr val="bg2"/>
                </a:solidFill>
              </a:rPr>
              <a:t>		</a:t>
            </a:r>
            <a:r>
              <a:rPr lang="es-PE" sz="2700" b="1" dirty="0">
                <a:solidFill>
                  <a:schemeClr val="bg2"/>
                </a:solidFill>
              </a:rPr>
              <a:t>devolver</a:t>
            </a:r>
            <a:r>
              <a:rPr lang="es-PE" sz="2700" dirty="0">
                <a:solidFill>
                  <a:schemeClr val="bg2"/>
                </a:solidFill>
              </a:rPr>
              <a:t> (nivel == n) AND (</a:t>
            </a:r>
            <a:r>
              <a:rPr lang="es-PE" sz="2700" dirty="0" err="1">
                <a:solidFill>
                  <a:schemeClr val="bg2"/>
                </a:solidFill>
              </a:rPr>
              <a:t>pact</a:t>
            </a:r>
            <a:r>
              <a:rPr lang="es-PE" sz="2700" dirty="0">
                <a:solidFill>
                  <a:schemeClr val="bg2"/>
                </a:solidFill>
              </a:rPr>
              <a:t> ≤ M)</a:t>
            </a:r>
          </a:p>
          <a:p>
            <a:pPr marL="25400" indent="0">
              <a:buNone/>
            </a:pPr>
            <a:r>
              <a:rPr lang="es-PE" sz="2700" b="1" dirty="0">
                <a:solidFill>
                  <a:schemeClr val="bg2"/>
                </a:solidFill>
              </a:rPr>
              <a:t>	</a:t>
            </a:r>
            <a:r>
              <a:rPr lang="es-PE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2700" b="1" dirty="0">
                <a:solidFill>
                  <a:schemeClr val="bg2"/>
                </a:solidFill>
              </a:rPr>
              <a:t>Criterio (nivel, s) </a:t>
            </a:r>
          </a:p>
          <a:p>
            <a:pPr marL="25400" indent="0">
              <a:buNone/>
            </a:pPr>
            <a:r>
              <a:rPr lang="es-PE" sz="2700" dirty="0">
                <a:solidFill>
                  <a:schemeClr val="bg2"/>
                </a:solidFill>
              </a:rPr>
              <a:t>		</a:t>
            </a:r>
            <a:r>
              <a:rPr lang="es-PE" sz="2700" b="1" dirty="0">
                <a:solidFill>
                  <a:schemeClr val="bg2"/>
                </a:solidFill>
              </a:rPr>
              <a:t>devolver</a:t>
            </a:r>
            <a:r>
              <a:rPr lang="es-PE" sz="2700" dirty="0">
                <a:solidFill>
                  <a:schemeClr val="bg2"/>
                </a:solidFill>
              </a:rPr>
              <a:t> (nivel &lt; n) AND (</a:t>
            </a:r>
            <a:r>
              <a:rPr lang="es-PE" sz="2700" dirty="0" err="1">
                <a:solidFill>
                  <a:schemeClr val="bg2"/>
                </a:solidFill>
              </a:rPr>
              <a:t>pact</a:t>
            </a:r>
            <a:r>
              <a:rPr lang="es-PE" sz="2700" dirty="0">
                <a:solidFill>
                  <a:schemeClr val="bg2"/>
                </a:solidFill>
              </a:rPr>
              <a:t> ≤ M) </a:t>
            </a:r>
          </a:p>
          <a:p>
            <a:pPr marL="25400" indent="0">
              <a:buNone/>
            </a:pPr>
            <a:r>
              <a:rPr lang="es-PE" sz="2700" b="1" dirty="0">
                <a:solidFill>
                  <a:schemeClr val="bg2"/>
                </a:solidFill>
              </a:rPr>
              <a:t>	</a:t>
            </a:r>
            <a:r>
              <a:rPr lang="es-PE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2700" b="1" dirty="0" err="1">
                <a:solidFill>
                  <a:schemeClr val="bg2"/>
                </a:solidFill>
              </a:rPr>
              <a:t>MasHermanos</a:t>
            </a:r>
            <a:r>
              <a:rPr lang="es-PE" sz="2700" b="1" dirty="0">
                <a:solidFill>
                  <a:schemeClr val="bg2"/>
                </a:solidFill>
              </a:rPr>
              <a:t> (nivel, s)</a:t>
            </a:r>
          </a:p>
          <a:p>
            <a:pPr marL="25400" indent="0">
              <a:buNone/>
            </a:pPr>
            <a:r>
              <a:rPr lang="es-PE" sz="2700" dirty="0">
                <a:solidFill>
                  <a:schemeClr val="bg2"/>
                </a:solidFill>
              </a:rPr>
              <a:t>		</a:t>
            </a:r>
            <a:r>
              <a:rPr lang="es-PE" sz="2700" b="1" dirty="0">
                <a:solidFill>
                  <a:schemeClr val="bg2"/>
                </a:solidFill>
              </a:rPr>
              <a:t>devolver</a:t>
            </a:r>
            <a:r>
              <a:rPr lang="es-PE" sz="2700" dirty="0">
                <a:solidFill>
                  <a:schemeClr val="bg2"/>
                </a:solidFill>
              </a:rPr>
              <a:t> s[nivel] &lt; 1 </a:t>
            </a:r>
          </a:p>
          <a:p>
            <a:pPr marL="25400" indent="0">
              <a:buNone/>
            </a:pPr>
            <a:r>
              <a:rPr lang="es-PE" sz="2700" b="1" dirty="0">
                <a:solidFill>
                  <a:schemeClr val="bg2"/>
                </a:solidFill>
              </a:rPr>
              <a:t>	</a:t>
            </a:r>
            <a:r>
              <a:rPr lang="es-PE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▪ </a:t>
            </a:r>
            <a:r>
              <a:rPr lang="es-PE" sz="2700" b="1" dirty="0">
                <a:solidFill>
                  <a:schemeClr val="bg2"/>
                </a:solidFill>
              </a:rPr>
              <a:t>Retroceder (nivel, s) </a:t>
            </a:r>
          </a:p>
          <a:p>
            <a:pPr marL="25400" indent="0">
              <a:buNone/>
            </a:pPr>
            <a:r>
              <a:rPr lang="es-PE" sz="2700" dirty="0">
                <a:solidFill>
                  <a:schemeClr val="bg2"/>
                </a:solidFill>
              </a:rPr>
              <a:t>		</a:t>
            </a:r>
            <a:r>
              <a:rPr lang="es-ES" sz="2700" dirty="0" err="1">
                <a:solidFill>
                  <a:schemeClr val="bg2"/>
                </a:solidFill>
              </a:rPr>
              <a:t>pact</a:t>
            </a:r>
            <a:r>
              <a:rPr lang="es-ES" sz="2700" dirty="0">
                <a:solidFill>
                  <a:schemeClr val="bg2"/>
                </a:solidFill>
              </a:rPr>
              <a:t>:= </a:t>
            </a:r>
            <a:r>
              <a:rPr lang="es-ES" sz="2700" dirty="0" err="1">
                <a:solidFill>
                  <a:schemeClr val="bg2"/>
                </a:solidFill>
              </a:rPr>
              <a:t>pact</a:t>
            </a:r>
            <a:r>
              <a:rPr lang="es-ES" sz="2700" dirty="0">
                <a:solidFill>
                  <a:schemeClr val="bg2"/>
                </a:solidFill>
              </a:rPr>
              <a:t> – p[nivel]*s[nivel]</a:t>
            </a:r>
          </a:p>
          <a:p>
            <a:pPr marL="25400" indent="0">
              <a:buNone/>
            </a:pPr>
            <a:r>
              <a:rPr lang="es-ES" sz="2700" dirty="0">
                <a:solidFill>
                  <a:schemeClr val="bg2"/>
                </a:solidFill>
              </a:rPr>
              <a:t>		</a:t>
            </a:r>
            <a:r>
              <a:rPr lang="es-ES" sz="2700" dirty="0" err="1">
                <a:solidFill>
                  <a:schemeClr val="bg2"/>
                </a:solidFill>
              </a:rPr>
              <a:t>bact</a:t>
            </a:r>
            <a:r>
              <a:rPr lang="es-ES" sz="2700" dirty="0">
                <a:solidFill>
                  <a:schemeClr val="bg2"/>
                </a:solidFill>
              </a:rPr>
              <a:t>:= </a:t>
            </a:r>
            <a:r>
              <a:rPr lang="es-ES" sz="2700" dirty="0" err="1">
                <a:solidFill>
                  <a:schemeClr val="bg2"/>
                </a:solidFill>
              </a:rPr>
              <a:t>bact</a:t>
            </a:r>
            <a:r>
              <a:rPr lang="es-ES" sz="2700" dirty="0">
                <a:solidFill>
                  <a:schemeClr val="bg2"/>
                </a:solidFill>
              </a:rPr>
              <a:t> – b[nivel]*s[nivel]</a:t>
            </a:r>
          </a:p>
          <a:p>
            <a:pPr marL="25400" indent="0">
              <a:buNone/>
            </a:pPr>
            <a:r>
              <a:rPr lang="es-ES" sz="2700" dirty="0">
                <a:solidFill>
                  <a:schemeClr val="bg2"/>
                </a:solidFill>
              </a:rPr>
              <a:t>		s[nivel]:= -1</a:t>
            </a:r>
          </a:p>
          <a:p>
            <a:pPr marL="25400" indent="0">
              <a:buNone/>
            </a:pPr>
            <a:r>
              <a:rPr lang="es-ES" sz="2700" dirty="0">
                <a:solidFill>
                  <a:schemeClr val="bg2"/>
                </a:solidFill>
              </a:rPr>
              <a:t>		nivel:= nivel – 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7E3658-B3FC-4723-8600-20CC509743AD}"/>
              </a:ext>
            </a:extLst>
          </p:cNvPr>
          <p:cNvSpPr txBox="1"/>
          <p:nvPr/>
        </p:nvSpPr>
        <p:spPr>
          <a:xfrm>
            <a:off x="9945511" y="2506133"/>
            <a:ext cx="4068743" cy="163121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s-ES" sz="2500" b="1" dirty="0">
                <a:latin typeface="Roboto" panose="02000000000000000000" pitchFamily="2" charset="0"/>
                <a:ea typeface="Roboto" panose="02000000000000000000" pitchFamily="2" charset="0"/>
              </a:rPr>
              <a:t>si</a:t>
            </a:r>
            <a:r>
              <a:rPr lang="es-ES" sz="2500" dirty="0">
                <a:latin typeface="Roboto" panose="02000000000000000000" pitchFamily="2" charset="0"/>
                <a:ea typeface="Roboto" panose="02000000000000000000" pitchFamily="2" charset="0"/>
              </a:rPr>
              <a:t> s[nivel]==1 </a:t>
            </a:r>
            <a:r>
              <a:rPr lang="es-ES" sz="2500" b="1" dirty="0">
                <a:latin typeface="Roboto" panose="02000000000000000000" pitchFamily="2" charset="0"/>
                <a:ea typeface="Roboto" panose="02000000000000000000" pitchFamily="2" charset="0"/>
              </a:rPr>
              <a:t>entonces</a:t>
            </a:r>
          </a:p>
          <a:p>
            <a:r>
              <a:rPr lang="es-ES" sz="2500" dirty="0">
                <a:latin typeface="Roboto" panose="02000000000000000000" pitchFamily="2" charset="0"/>
                <a:ea typeface="Roboto" panose="02000000000000000000" pitchFamily="2" charset="0"/>
              </a:rPr>
              <a:t>	</a:t>
            </a:r>
            <a:r>
              <a:rPr lang="es-ES" sz="2500" dirty="0" err="1">
                <a:latin typeface="Roboto" panose="02000000000000000000" pitchFamily="2" charset="0"/>
                <a:ea typeface="Roboto" panose="02000000000000000000" pitchFamily="2" charset="0"/>
              </a:rPr>
              <a:t>pact</a:t>
            </a:r>
            <a:r>
              <a:rPr lang="es-ES" sz="2500" dirty="0">
                <a:latin typeface="Roboto" panose="02000000000000000000" pitchFamily="2" charset="0"/>
                <a:ea typeface="Roboto" panose="02000000000000000000" pitchFamily="2" charset="0"/>
              </a:rPr>
              <a:t>:= </a:t>
            </a:r>
            <a:r>
              <a:rPr lang="es-ES" sz="2500" dirty="0" err="1">
                <a:latin typeface="Roboto" panose="02000000000000000000" pitchFamily="2" charset="0"/>
                <a:ea typeface="Roboto" panose="02000000000000000000" pitchFamily="2" charset="0"/>
              </a:rPr>
              <a:t>pact</a:t>
            </a:r>
            <a:r>
              <a:rPr lang="es-ES" sz="2500" dirty="0">
                <a:latin typeface="Roboto" panose="02000000000000000000" pitchFamily="2" charset="0"/>
                <a:ea typeface="Roboto" panose="02000000000000000000" pitchFamily="2" charset="0"/>
              </a:rPr>
              <a:t> + p[nivel]</a:t>
            </a:r>
          </a:p>
          <a:p>
            <a:r>
              <a:rPr lang="es-ES" sz="2500" dirty="0">
                <a:latin typeface="Roboto" panose="02000000000000000000" pitchFamily="2" charset="0"/>
                <a:ea typeface="Roboto" panose="02000000000000000000" pitchFamily="2" charset="0"/>
              </a:rPr>
              <a:t>	</a:t>
            </a:r>
            <a:r>
              <a:rPr lang="es-ES" sz="2500" dirty="0" err="1">
                <a:latin typeface="Roboto" panose="02000000000000000000" pitchFamily="2" charset="0"/>
                <a:ea typeface="Roboto" panose="02000000000000000000" pitchFamily="2" charset="0"/>
              </a:rPr>
              <a:t>bact</a:t>
            </a:r>
            <a:r>
              <a:rPr lang="es-ES" sz="2500" dirty="0">
                <a:latin typeface="Roboto" panose="02000000000000000000" pitchFamily="2" charset="0"/>
                <a:ea typeface="Roboto" panose="02000000000000000000" pitchFamily="2" charset="0"/>
              </a:rPr>
              <a:t>:= </a:t>
            </a:r>
            <a:r>
              <a:rPr lang="es-ES" sz="2500" dirty="0" err="1">
                <a:latin typeface="Roboto" panose="02000000000000000000" pitchFamily="2" charset="0"/>
                <a:ea typeface="Roboto" panose="02000000000000000000" pitchFamily="2" charset="0"/>
              </a:rPr>
              <a:t>bact</a:t>
            </a:r>
            <a:r>
              <a:rPr lang="es-ES" sz="2500" dirty="0">
                <a:latin typeface="Roboto" panose="02000000000000000000" pitchFamily="2" charset="0"/>
                <a:ea typeface="Roboto" panose="02000000000000000000" pitchFamily="2" charset="0"/>
              </a:rPr>
              <a:t> + b[nivel]</a:t>
            </a:r>
          </a:p>
          <a:p>
            <a:r>
              <a:rPr lang="es-ES" sz="2500" b="1" dirty="0" err="1">
                <a:latin typeface="Roboto" panose="02000000000000000000" pitchFamily="2" charset="0"/>
                <a:ea typeface="Roboto" panose="02000000000000000000" pitchFamily="2" charset="0"/>
              </a:rPr>
              <a:t>finsi</a:t>
            </a:r>
            <a:endParaRPr lang="es-PE" sz="25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42AE9D8B-5645-427B-A997-B7002C1FEEC3}"/>
              </a:ext>
            </a:extLst>
          </p:cNvPr>
          <p:cNvSpPr/>
          <p:nvPr/>
        </p:nvSpPr>
        <p:spPr>
          <a:xfrm rot="20997751">
            <a:off x="7276726" y="3148876"/>
            <a:ext cx="2084674" cy="361245"/>
          </a:xfrm>
          <a:prstGeom prst="rightArrow">
            <a:avLst/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2420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8659E-DD81-4993-9452-76B0F5E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Backtracking</a:t>
            </a:r>
            <a:r>
              <a:rPr lang="es-ES" sz="4000" dirty="0"/>
              <a:t>: Problema de la Mochila 0/1</a:t>
            </a:r>
            <a:endParaRPr lang="es-PE" sz="4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944FCB-0EBC-4250-8CB7-60EC51339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68"/>
          <a:stretch/>
        </p:blipFill>
        <p:spPr>
          <a:xfrm>
            <a:off x="2111023" y="1602786"/>
            <a:ext cx="10577690" cy="691682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36E085D-B406-439E-A306-EB17D21E536A}"/>
              </a:ext>
            </a:extLst>
          </p:cNvPr>
          <p:cNvSpPr txBox="1"/>
          <p:nvPr/>
        </p:nvSpPr>
        <p:spPr>
          <a:xfrm>
            <a:off x="13304727" y="4907310"/>
            <a:ext cx="19511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¿Cómo sería la </a:t>
            </a:r>
          </a:p>
          <a:p>
            <a:pPr algn="ctr"/>
            <a:r>
              <a:rPr lang="es-ES" sz="1600" b="1" dirty="0">
                <a:solidFill>
                  <a:srgbClr val="FF0000"/>
                </a:solidFill>
              </a:rPr>
              <a:t>cota superior CS?</a:t>
            </a:r>
          </a:p>
          <a:p>
            <a:pPr algn="ctr"/>
            <a:endParaRPr lang="es-ES" sz="1600" b="1" dirty="0">
              <a:solidFill>
                <a:srgbClr val="FF0000"/>
              </a:solidFill>
            </a:endParaRPr>
          </a:p>
          <a:p>
            <a:pPr algn="ctr"/>
            <a:r>
              <a:rPr lang="es-ES" sz="1600" b="1" dirty="0">
                <a:solidFill>
                  <a:srgbClr val="FF0000"/>
                </a:solidFill>
              </a:rPr>
              <a:t>CS &lt; </a:t>
            </a:r>
            <a:r>
              <a:rPr lang="es-ES" sz="1600" b="1" dirty="0" err="1">
                <a:solidFill>
                  <a:srgbClr val="FF0000"/>
                </a:solidFill>
              </a:rPr>
              <a:t>voa</a:t>
            </a:r>
            <a:r>
              <a:rPr lang="es-ES" sz="16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7023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56011EA-606F-42C9-B425-C25F81074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266" y="3234265"/>
            <a:ext cx="14617199" cy="2139245"/>
          </a:xfrm>
        </p:spPr>
        <p:txBody>
          <a:bodyPr/>
          <a:lstStyle/>
          <a:p>
            <a:r>
              <a:rPr lang="es-ES" dirty="0"/>
              <a:t>Búsqueda Local y Optimización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79360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C747584-CE5A-4936-AFA4-A428F610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 Local y Optimización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A3D40F-FA3D-4A06-84BC-ACE50ECE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9079" y="3147528"/>
            <a:ext cx="8691146" cy="5599965"/>
          </a:xfrm>
        </p:spPr>
        <p:txBody>
          <a:bodyPr/>
          <a:lstStyle/>
          <a:p>
            <a:pPr marL="25400" indent="0">
              <a:buNone/>
            </a:pPr>
            <a:r>
              <a:rPr lang="es-ES" sz="2400" b="1" dirty="0">
                <a:solidFill>
                  <a:srgbClr val="000000"/>
                </a:solidFill>
              </a:rPr>
              <a:t>Diferencia entre búsqueda óptima local y óptima global</a:t>
            </a:r>
          </a:p>
          <a:p>
            <a:pPr marL="527050" lvl="1" indent="0">
              <a:buNone/>
            </a:pPr>
            <a:endParaRPr lang="es-PE" sz="1700" dirty="0">
              <a:solidFill>
                <a:srgbClr val="000000"/>
              </a:solidFill>
            </a:endParaRPr>
          </a:p>
        </p:txBody>
      </p:sp>
      <p:pic>
        <p:nvPicPr>
          <p:cNvPr id="1026" name="Picture 2" descr="INTELIGENCIA ARTIFICIAL II: ALGORITMOS DE BÚSQUEDA LOCAL Y PROBLEMAS DE  OPTIMIZACIÓN">
            <a:extLst>
              <a:ext uri="{FF2B5EF4-FFF2-40B4-BE49-F238E27FC236}">
                <a16:creationId xmlns:a16="http://schemas.microsoft.com/office/drawing/2014/main" id="{2C51AF2B-E6DC-4A73-99A7-B120081A2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775" y="4143792"/>
            <a:ext cx="7311403" cy="400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808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C747584-CE5A-4936-AFA4-A428F610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 Local y Optimización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A3D40F-FA3D-4A06-84BC-ACE50ECE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74" y="3208488"/>
            <a:ext cx="8691146" cy="5599965"/>
          </a:xfrm>
        </p:spPr>
        <p:txBody>
          <a:bodyPr/>
          <a:lstStyle/>
          <a:p>
            <a:pPr marL="25400" indent="0">
              <a:buNone/>
            </a:pPr>
            <a:r>
              <a:rPr lang="es-ES" sz="2400" b="1" dirty="0">
                <a:solidFill>
                  <a:srgbClr val="000000"/>
                </a:solidFill>
              </a:rPr>
              <a:t>Cuando aplicar búsqueda local</a:t>
            </a:r>
          </a:p>
          <a:p>
            <a:pPr marL="527050" lvl="1" indent="0">
              <a:buNone/>
            </a:pPr>
            <a:endParaRPr lang="es-PE" sz="1700" dirty="0">
              <a:solidFill>
                <a:srgbClr val="000000"/>
              </a:solidFill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1C046A8-62D1-4819-89A6-09221799DEB2}"/>
              </a:ext>
            </a:extLst>
          </p:cNvPr>
          <p:cNvSpPr txBox="1"/>
          <p:nvPr/>
        </p:nvSpPr>
        <p:spPr>
          <a:xfrm>
            <a:off x="1718460" y="3742839"/>
            <a:ext cx="12353140" cy="49843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Cuando el l camino al objetivo es irrelevante:</a:t>
            </a: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50000"/>
              </a:lnSpc>
              <a:buClr>
                <a:srgbClr val="000000"/>
              </a:buClr>
              <a:buFont typeface="Arial"/>
              <a:buChar char="–"/>
            </a:pPr>
            <a:r>
              <a:rPr lang="es-E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Ejemplo: el problema de las 8 reinas</a:t>
            </a:r>
            <a:endParaRPr lang="es-ES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Los algoritmos de </a:t>
            </a:r>
            <a:r>
              <a:rPr lang="es-ES" sz="3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búsqueda local</a:t>
            </a:r>
            <a:r>
              <a:rPr lang="es-ES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 funcionan con un solo estado actual y generalmente se mueven solo a los vecinos del estado</a:t>
            </a: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Ventajas:</a:t>
            </a: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50000"/>
              </a:lnSpc>
              <a:buClr>
                <a:srgbClr val="000000"/>
              </a:buClr>
              <a:buFont typeface="Arial"/>
              <a:buChar char="–"/>
            </a:pPr>
            <a:r>
              <a:rPr lang="es-E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Usan muy poca memoria</a:t>
            </a:r>
            <a:endParaRPr lang="es-ES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50000"/>
              </a:lnSpc>
              <a:buClr>
                <a:srgbClr val="000000"/>
              </a:buClr>
              <a:buFont typeface="Arial"/>
              <a:buChar char="–"/>
            </a:pPr>
            <a:r>
              <a:rPr lang="es-E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Pueden encontrar soluciones razonables en espacios de estados grandes</a:t>
            </a:r>
            <a:endParaRPr lang="es-ES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0847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C747584-CE5A-4936-AFA4-A428F610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 Local y Optimización</a:t>
            </a:r>
          </a:p>
        </p:txBody>
      </p:sp>
      <p:sp>
        <p:nvSpPr>
          <p:cNvPr id="7" name="TextShape 1">
            <a:extLst>
              <a:ext uri="{FF2B5EF4-FFF2-40B4-BE49-F238E27FC236}">
                <a16:creationId xmlns:a16="http://schemas.microsoft.com/office/drawing/2014/main" id="{8A020D08-6049-4299-90F3-AC8538D7ED6B}"/>
              </a:ext>
            </a:extLst>
          </p:cNvPr>
          <p:cNvSpPr txBox="1"/>
          <p:nvPr/>
        </p:nvSpPr>
        <p:spPr>
          <a:xfrm>
            <a:off x="650240" y="3563720"/>
            <a:ext cx="7762240" cy="49003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Útil para resolver </a:t>
            </a:r>
            <a:r>
              <a:rPr lang="es-ES" sz="3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problemas de optimización </a:t>
            </a:r>
            <a:r>
              <a:rPr lang="es-ES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puros</a:t>
            </a:r>
          </a:p>
          <a:p>
            <a:pPr marL="360">
              <a:lnSpc>
                <a:spcPct val="100000"/>
              </a:lnSpc>
              <a:buClr>
                <a:srgbClr val="000000"/>
              </a:buClr>
            </a:pP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s-ES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El objetivo es encontrar el mejor estado según una </a:t>
            </a:r>
            <a:r>
              <a:rPr lang="es-ES" sz="2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función objetivo</a:t>
            </a:r>
            <a:endParaRPr lang="es-ES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1" name="Picture 2" descr="Heuristics Search &amp; Game Playing in AI">
            <a:extLst>
              <a:ext uri="{FF2B5EF4-FFF2-40B4-BE49-F238E27FC236}">
                <a16:creationId xmlns:a16="http://schemas.microsoft.com/office/drawing/2014/main" id="{209CFABA-3172-4633-AA91-367022D02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6"/>
          <a:stretch/>
        </p:blipFill>
        <p:spPr bwMode="auto">
          <a:xfrm>
            <a:off x="9438640" y="3851593"/>
            <a:ext cx="5608320" cy="365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01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731520" y="3041360"/>
            <a:ext cx="14617198" cy="6533760"/>
          </a:xfrm>
          <a:prstGeom prst="rect">
            <a:avLst/>
          </a:prstGeom>
          <a:noFill/>
          <a:ln>
            <a:noFill/>
          </a:ln>
        </p:spPr>
        <p:txBody>
          <a:bodyPr rIns="176160"/>
          <a:lstStyle/>
          <a:p>
            <a:pPr marL="480"/>
            <a:r>
              <a:rPr lang="es-ES" sz="40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Estrategia:</a:t>
            </a:r>
          </a:p>
          <a:p>
            <a:pPr marL="457429" indent="-456949">
              <a:buFont typeface="Arial"/>
              <a:buChar char="•"/>
            </a:pP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Se empieza de una </a:t>
            </a:r>
            <a:r>
              <a:rPr lang="es-ES" sz="40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configuración inicial</a:t>
            </a: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 (generalmente aleatoria) y se hacen pequeños cambios (a través de </a:t>
            </a:r>
            <a:r>
              <a:rPr lang="es-ES" sz="40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operadores</a:t>
            </a: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) hasta alcanzar un estado desde el cual no se puede alcanzar ningún estado mejor</a:t>
            </a:r>
            <a:endParaRPr lang="es-ES" sz="4000" spc="-1" dirty="0"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57429" indent="-456949">
              <a:buFont typeface="Arial"/>
              <a:buChar char="•"/>
            </a:pP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Obviamente, es propenso a encontrar </a:t>
            </a:r>
            <a:r>
              <a:rPr lang="es-ES" sz="40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óptimos locales</a:t>
            </a:r>
            <a:endParaRPr lang="es-ES" sz="4000" spc="-1" dirty="0"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57429" indent="-456949">
              <a:buFont typeface="Arial"/>
              <a:buChar char="•"/>
            </a:pP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En este contexto, el óptimo global es generalmente imposible de alcanzar en un tiempo limitado</a:t>
            </a:r>
            <a:endParaRPr lang="es-ES" sz="4000" spc="-1" dirty="0"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043494" lvl="1" indent="-380630">
              <a:buFont typeface="Arial"/>
              <a:buChar char="–"/>
            </a:pPr>
            <a:r>
              <a:rPr lang="es-ES" sz="36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Los algoritmos </a:t>
            </a:r>
            <a:r>
              <a:rPr lang="es-ES" sz="36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no pueden hacer una exploración sistemática</a:t>
            </a:r>
            <a:r>
              <a:rPr lang="es-ES" sz="36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.</a:t>
            </a:r>
            <a:endParaRPr lang="es-ES" sz="2800" spc="-1" dirty="0"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38" name="TextShape 3"/>
          <p:cNvSpPr txBox="1"/>
          <p:nvPr/>
        </p:nvSpPr>
        <p:spPr>
          <a:xfrm>
            <a:off x="12949120" y="8475360"/>
            <a:ext cx="664800" cy="48624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02A7FB61-CB04-44EB-8EEE-2C48A719D5E9}" type="slidenum">
              <a:rPr lang="es-PE" sz="1600" spc="-1">
                <a:uFill>
                  <a:solidFill>
                    <a:srgbClr val="FFFFFF"/>
                  </a:solidFill>
                </a:uFill>
                <a:ea typeface="ヒラギノ角ゴ ProN W3"/>
              </a:rPr>
              <a:t>31</a:t>
            </a:fld>
            <a:endParaRPr lang="es-PE" sz="1867" spc="-1"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22E603-8D8A-4D10-97A4-612F3A40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 Local y Optimización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5329513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924560" y="3169920"/>
            <a:ext cx="14742160" cy="5527040"/>
          </a:xfrm>
          <a:prstGeom prst="rect">
            <a:avLst/>
          </a:prstGeom>
          <a:noFill/>
          <a:ln>
            <a:noFill/>
          </a:ln>
        </p:spPr>
        <p:txBody>
          <a:bodyPr rIns="176160"/>
          <a:lstStyle/>
          <a:p>
            <a:pPr marL="480"/>
            <a:r>
              <a:rPr lang="es-ES" sz="44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Estrategia:</a:t>
            </a:r>
          </a:p>
          <a:p>
            <a:pPr marL="457429" indent="-456949">
              <a:buFont typeface="Arial"/>
              <a:buChar char="•"/>
            </a:pP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Hay una </a:t>
            </a:r>
            <a:r>
              <a:rPr lang="es-ES" sz="40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función heurística </a:t>
            </a: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que evalúa la calidad de la solución, pero que no está necesariamente ligada a un costo.</a:t>
            </a:r>
            <a:endParaRPr lang="es-ES" sz="4000" spc="-1" dirty="0"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57429" indent="-456949">
              <a:buFont typeface="Arial"/>
              <a:buChar char="•"/>
            </a:pP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La función heurística se usará para </a:t>
            </a:r>
            <a:r>
              <a:rPr lang="es-ES" sz="40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podar el espacio de búsqueda</a:t>
            </a: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 (soluciones que no merece la pena explorar)</a:t>
            </a:r>
            <a:endParaRPr lang="es-ES" sz="4000" spc="-1" dirty="0"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57429" indent="-456949">
              <a:buFont typeface="Arial"/>
              <a:buChar char="•"/>
            </a:pPr>
            <a:r>
              <a:rPr lang="es-ES" sz="4000" b="1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No se suele</a:t>
            </a:r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  <a:ea typeface="ヒラギノ角ゴ ProN W3"/>
              </a:rPr>
              <a:t> guardar historia del camino recorrido</a:t>
            </a:r>
            <a:endParaRPr lang="es-ES" sz="4000" spc="-1" dirty="0"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1927B1-451A-4EFB-9747-D3CD324F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 Local y Optimización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216141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87F97A-DED6-44ED-A984-5AA02D8A8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3333" y="7120089"/>
            <a:ext cx="12054107" cy="865672"/>
          </a:xfrm>
        </p:spPr>
        <p:txBody>
          <a:bodyPr/>
          <a:lstStyle/>
          <a:p>
            <a:pPr marL="25400" indent="0" algn="ctr">
              <a:buNone/>
            </a:pPr>
            <a:r>
              <a:rPr lang="es-PE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https://www.youtube.com/watch?v=50sZeHG_WrA</a:t>
            </a:r>
          </a:p>
          <a:p>
            <a:pPr algn="ctr"/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DA3689-916A-411F-B71F-0FC4C114A670}"/>
              </a:ext>
            </a:extLst>
          </p:cNvPr>
          <p:cNvSpPr txBox="1"/>
          <p:nvPr/>
        </p:nvSpPr>
        <p:spPr>
          <a:xfrm>
            <a:off x="2773680" y="3731270"/>
            <a:ext cx="10627360" cy="25545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4000" spc="-1" dirty="0">
                <a:uFill>
                  <a:solidFill>
                    <a:srgbClr val="FFFFFF"/>
                  </a:solidFill>
                </a:uFill>
                <a:latin typeface="Calibri"/>
              </a:rPr>
              <a:t>Comienza con una solución arbitraria a un problema, luego intenta encontrar una mejor solución variando incrementalmente un único elemento de la solución. </a:t>
            </a:r>
            <a:endParaRPr lang="es-PE" sz="4000" spc="-1" dirty="0"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2330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endParaRPr lang="es-PE" dirty="0"/>
          </a:p>
        </p:txBody>
      </p:sp>
      <p:sp>
        <p:nvSpPr>
          <p:cNvPr id="5" name="TextShape 4">
            <a:extLst>
              <a:ext uri="{FF2B5EF4-FFF2-40B4-BE49-F238E27FC236}">
                <a16:creationId xmlns:a16="http://schemas.microsoft.com/office/drawing/2014/main" id="{97A6485A-6772-42D6-B904-A67262FBDC0A}"/>
              </a:ext>
            </a:extLst>
          </p:cNvPr>
          <p:cNvSpPr txBox="1"/>
          <p:nvPr/>
        </p:nvSpPr>
        <p:spPr>
          <a:xfrm>
            <a:off x="3873440" y="3725784"/>
            <a:ext cx="8267400" cy="320184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Ventaja:</a:t>
            </a: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s-ES" sz="3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Reduce el numero de nodos a analizar</a:t>
            </a: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Desventaja:</a:t>
            </a: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s-ES" sz="3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Puede ser que encuentre una solución, pero no es la más óptima.</a:t>
            </a: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4367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endParaRPr lang="es-PE" dirty="0"/>
          </a:p>
        </p:txBody>
      </p:sp>
      <p:sp>
        <p:nvSpPr>
          <p:cNvPr id="7" name="TextShape 3">
            <a:extLst>
              <a:ext uri="{FF2B5EF4-FFF2-40B4-BE49-F238E27FC236}">
                <a16:creationId xmlns:a16="http://schemas.microsoft.com/office/drawing/2014/main" id="{3AD1F7B2-5E8C-4B61-93B8-630FB702DFE3}"/>
              </a:ext>
            </a:extLst>
          </p:cNvPr>
          <p:cNvSpPr txBox="1"/>
          <p:nvPr/>
        </p:nvSpPr>
        <p:spPr>
          <a:xfrm>
            <a:off x="436880" y="3262497"/>
            <a:ext cx="9639000" cy="55802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Escala Simple:</a:t>
            </a: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s-ES" sz="3000" spc="-1" dirty="0">
                <a:uFill>
                  <a:solidFill>
                    <a:srgbClr val="FFFFFF"/>
                  </a:solidFill>
                </a:uFill>
                <a:latin typeface="Calibri"/>
              </a:rPr>
              <a:t>- Se dirige a un estado mejor que el actual</a:t>
            </a:r>
          </a:p>
          <a:p>
            <a:pPr>
              <a:lnSpc>
                <a:spcPct val="100000"/>
              </a:lnSpc>
            </a:pPr>
            <a:r>
              <a:rPr lang="es-ES" sz="3000" spc="-1" dirty="0">
                <a:uFill>
                  <a:solidFill>
                    <a:srgbClr val="FFFFFF"/>
                  </a:solidFill>
                </a:uFill>
                <a:latin typeface="Calibri"/>
              </a:rPr>
              <a:t>- Función heurística de proximidad</a:t>
            </a:r>
          </a:p>
          <a:p>
            <a:pPr>
              <a:lnSpc>
                <a:spcPct val="100000"/>
              </a:lnSpc>
            </a:pPr>
            <a:r>
              <a:rPr lang="es-ES" sz="3000" spc="-1" dirty="0">
                <a:uFill>
                  <a:solidFill>
                    <a:srgbClr val="FFFFFF"/>
                  </a:solidFill>
                </a:uFill>
                <a:latin typeface="Calibri"/>
              </a:rPr>
              <a:t>- No se almacenan los estados anteriores</a:t>
            </a: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s-ES" sz="3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Sus movimientos están determinados por ser mejor al anterior</a:t>
            </a:r>
          </a:p>
          <a:p>
            <a:pPr>
              <a:lnSpc>
                <a:spcPct val="100000"/>
              </a:lnSpc>
            </a:pP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Escala por máxima pendiente</a:t>
            </a: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s-ES" sz="3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ヒラギノ角ゴ ProN W3"/>
              </a:rPr>
              <a:t>- Busca no solamente un estado mejor que el actual, si no el mejor de todos los estados posible.</a:t>
            </a:r>
            <a:endParaRPr lang="es-ES" sz="30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2050" name="Picture 2" descr="Heuristics Search &amp; Game Playing in AI">
            <a:extLst>
              <a:ext uri="{FF2B5EF4-FFF2-40B4-BE49-F238E27FC236}">
                <a16:creationId xmlns:a16="http://schemas.microsoft.com/office/drawing/2014/main" id="{05E357B9-23F6-46A3-B22F-794F234B7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6"/>
          <a:stretch/>
        </p:blipFill>
        <p:spPr bwMode="auto">
          <a:xfrm>
            <a:off x="10210800" y="4379913"/>
            <a:ext cx="5608320" cy="365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436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FB285D-FD40-4CAF-96D3-6CC493EF6BD9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0161546" y="3067290"/>
            <a:ext cx="4936214" cy="5962560"/>
          </a:xfrm>
          <a:prstGeom prst="rect">
            <a:avLst/>
          </a:prstGeom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758A98B-D589-4E07-AF3B-19D55180AF7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11712" y="3329060"/>
            <a:ext cx="8325888" cy="54390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5829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r>
              <a:rPr lang="es-PE" dirty="0"/>
              <a:t>: Problema de la Mochila</a:t>
            </a:r>
          </a:p>
        </p:txBody>
      </p:sp>
      <p:sp>
        <p:nvSpPr>
          <p:cNvPr id="5" name="TextShape 1">
            <a:extLst>
              <a:ext uri="{FF2B5EF4-FFF2-40B4-BE49-F238E27FC236}">
                <a16:creationId xmlns:a16="http://schemas.microsoft.com/office/drawing/2014/main" id="{F235B820-C2FD-4E90-BACC-9F35F4CF7C30}"/>
              </a:ext>
            </a:extLst>
          </p:cNvPr>
          <p:cNvSpPr txBox="1"/>
          <p:nvPr/>
        </p:nvSpPr>
        <p:spPr>
          <a:xfrm>
            <a:off x="673040" y="3340200"/>
            <a:ext cx="8267400" cy="528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Estado Inicial:</a:t>
            </a:r>
            <a:r>
              <a:rPr lang="es-ES" sz="3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 mochila vacía</a:t>
            </a: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Estado Final:</a:t>
            </a:r>
            <a:r>
              <a:rPr lang="es-ES" sz="3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 cualquier combinación de objetos en la mochila</a:t>
            </a: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Operadores:</a:t>
            </a:r>
            <a:r>
              <a:rPr lang="es-ES" sz="3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 meter o sacar objetos de la mochila</a:t>
            </a: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3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MS PGothic"/>
              </a:rPr>
              <a:t>Heurística: </a:t>
            </a:r>
            <a:endParaRPr lang="es-ES" sz="32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E533F47-CEDC-40C8-A7D6-40C4C75EB62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109200" y="3840400"/>
            <a:ext cx="3831520" cy="4135200"/>
          </a:xfrm>
          <a:prstGeom prst="rect">
            <a:avLst/>
          </a:prstGeom>
          <a:ln>
            <a:noFill/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96ECCA34-99FA-43B1-9826-1EA52F5B173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917280" y="6689440"/>
            <a:ext cx="3778920" cy="4910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1344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r>
              <a:rPr lang="es-PE" dirty="0"/>
              <a:t>: Problema de la Mochila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A49530B-DDDC-41B4-A7FE-43407780331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02840" y="3495800"/>
            <a:ext cx="6407560" cy="4926840"/>
          </a:xfrm>
          <a:prstGeom prst="rect">
            <a:avLst/>
          </a:prstGeom>
          <a:ln>
            <a:noFill/>
          </a:ln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1792A11D-59E3-4DEE-B080-25803AEC241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887840" y="3286040"/>
            <a:ext cx="6291200" cy="5746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693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r>
              <a:rPr lang="es-PE" dirty="0"/>
              <a:t>: Problema de la Mochila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1792A11D-59E3-4DEE-B080-25803AEC241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68400" y="3245400"/>
            <a:ext cx="6291200" cy="5746200"/>
          </a:xfrm>
          <a:prstGeom prst="rect">
            <a:avLst/>
          </a:prstGeom>
          <a:ln>
            <a:noFill/>
          </a:ln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890650F-89B6-407D-AB0A-3C14A7A2A99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723760" y="3245400"/>
            <a:ext cx="7863840" cy="52917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227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r>
              <a:rPr lang="es-PE" dirty="0"/>
              <a:t>: Problema del </a:t>
            </a:r>
            <a:r>
              <a:rPr lang="es-PE" dirty="0" err="1"/>
              <a:t>Puzzle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99DE78-3E0F-4A13-ACF1-85EA8F33E4F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011120" y="3246720"/>
            <a:ext cx="7906560" cy="57550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6489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231BA904-7608-4FF1-BFCE-A5B276D77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780046"/>
              </p:ext>
            </p:extLst>
          </p:nvPr>
        </p:nvGraphicFramePr>
        <p:xfrm>
          <a:off x="2800775" y="349954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A35D6172-52F5-45DD-937C-F242C2DA6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791037"/>
              </p:ext>
            </p:extLst>
          </p:nvPr>
        </p:nvGraphicFramePr>
        <p:xfrm>
          <a:off x="11406293" y="1325314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8" name="Tabla 4">
            <a:extLst>
              <a:ext uri="{FF2B5EF4-FFF2-40B4-BE49-F238E27FC236}">
                <a16:creationId xmlns:a16="http://schemas.microsoft.com/office/drawing/2014/main" id="{4501D3C5-D273-4FC9-8619-89863845A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880075"/>
              </p:ext>
            </p:extLst>
          </p:nvPr>
        </p:nvGraphicFramePr>
        <p:xfrm>
          <a:off x="321735" y="2778194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9" name="Tabla 4">
            <a:extLst>
              <a:ext uri="{FF2B5EF4-FFF2-40B4-BE49-F238E27FC236}">
                <a16:creationId xmlns:a16="http://schemas.microsoft.com/office/drawing/2014/main" id="{6C246DB3-092A-49F4-8123-A41DBE555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551600"/>
              </p:ext>
            </p:extLst>
          </p:nvPr>
        </p:nvGraphicFramePr>
        <p:xfrm>
          <a:off x="2800775" y="2778194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11" name="Tabla 4">
            <a:extLst>
              <a:ext uri="{FF2B5EF4-FFF2-40B4-BE49-F238E27FC236}">
                <a16:creationId xmlns:a16="http://schemas.microsoft.com/office/drawing/2014/main" id="{48AC4897-B225-43E9-BC7D-F5422E18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294725"/>
              </p:ext>
            </p:extLst>
          </p:nvPr>
        </p:nvGraphicFramePr>
        <p:xfrm>
          <a:off x="5306909" y="2778194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441A40C8-BDD1-497D-9E88-0A9BA3CC12E9}"/>
              </a:ext>
            </a:extLst>
          </p:cNvPr>
          <p:cNvSpPr txBox="1"/>
          <p:nvPr/>
        </p:nvSpPr>
        <p:spPr>
          <a:xfrm>
            <a:off x="10231120" y="1682248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F(x) = 8</a:t>
            </a:r>
            <a:endParaRPr lang="es-PE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18D93E9-7550-4A2F-A077-31D381A9B5E1}"/>
              </a:ext>
            </a:extLst>
          </p:cNvPr>
          <p:cNvSpPr txBox="1"/>
          <p:nvPr/>
        </p:nvSpPr>
        <p:spPr>
          <a:xfrm>
            <a:off x="1846732" y="711247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F(x) = 4</a:t>
            </a:r>
            <a:endParaRPr lang="es-PE" b="1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402F03C-D767-4BB9-9EA9-7D2D3A4D5C99}"/>
              </a:ext>
            </a:extLst>
          </p:cNvPr>
          <p:cNvCxnSpPr/>
          <p:nvPr/>
        </p:nvCxnSpPr>
        <p:spPr>
          <a:xfrm flipH="1">
            <a:off x="1198880" y="1574800"/>
            <a:ext cx="2468880" cy="1203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5CDC2FF-4FF2-4724-995F-179213E4D10B}"/>
              </a:ext>
            </a:extLst>
          </p:cNvPr>
          <p:cNvCxnSpPr/>
          <p:nvPr/>
        </p:nvCxnSpPr>
        <p:spPr>
          <a:xfrm>
            <a:off x="3925148" y="1574800"/>
            <a:ext cx="18627" cy="1087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AEF9012-2862-4966-9F93-A845A35FEEB6}"/>
              </a:ext>
            </a:extLst>
          </p:cNvPr>
          <p:cNvCxnSpPr>
            <a:endCxn id="11" idx="0"/>
          </p:cNvCxnSpPr>
          <p:nvPr/>
        </p:nvCxnSpPr>
        <p:spPr>
          <a:xfrm>
            <a:off x="4349327" y="1574800"/>
            <a:ext cx="2081955" cy="1203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6F61F28-BDB4-474E-9DD3-B20FD597983F}"/>
              </a:ext>
            </a:extLst>
          </p:cNvPr>
          <p:cNvSpPr txBox="1"/>
          <p:nvPr/>
        </p:nvSpPr>
        <p:spPr>
          <a:xfrm>
            <a:off x="313966" y="2349831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F(x) = 3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F29D0C3-F1D9-4AD6-8A83-C88C7D301346}"/>
              </a:ext>
            </a:extLst>
          </p:cNvPr>
          <p:cNvSpPr txBox="1"/>
          <p:nvPr/>
        </p:nvSpPr>
        <p:spPr>
          <a:xfrm>
            <a:off x="2991425" y="2412280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F(x) = 5</a:t>
            </a:r>
            <a:endParaRPr lang="es-PE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C8E3AA7-6DB6-47F4-8CC3-848ABF8B6EF4}"/>
              </a:ext>
            </a:extLst>
          </p:cNvPr>
          <p:cNvSpPr txBox="1"/>
          <p:nvPr/>
        </p:nvSpPr>
        <p:spPr>
          <a:xfrm>
            <a:off x="6307820" y="2419540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F(x) = 3</a:t>
            </a:r>
            <a:endParaRPr lang="es-PE" dirty="0"/>
          </a:p>
        </p:txBody>
      </p:sp>
      <p:graphicFrame>
        <p:nvGraphicFramePr>
          <p:cNvPr id="23" name="Tabla 4">
            <a:extLst>
              <a:ext uri="{FF2B5EF4-FFF2-40B4-BE49-F238E27FC236}">
                <a16:creationId xmlns:a16="http://schemas.microsoft.com/office/drawing/2014/main" id="{DEC23CF5-BE0A-4B34-B191-F737C7309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457674"/>
              </p:ext>
            </p:extLst>
          </p:nvPr>
        </p:nvGraphicFramePr>
        <p:xfrm>
          <a:off x="184574" y="5302388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24" name="Tabla 4">
            <a:extLst>
              <a:ext uri="{FF2B5EF4-FFF2-40B4-BE49-F238E27FC236}">
                <a16:creationId xmlns:a16="http://schemas.microsoft.com/office/drawing/2014/main" id="{5AB60084-BECB-4219-B871-2989E31B3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210273"/>
              </p:ext>
            </p:extLst>
          </p:nvPr>
        </p:nvGraphicFramePr>
        <p:xfrm>
          <a:off x="2800775" y="5280936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25" name="Tabla 4">
            <a:extLst>
              <a:ext uri="{FF2B5EF4-FFF2-40B4-BE49-F238E27FC236}">
                <a16:creationId xmlns:a16="http://schemas.microsoft.com/office/drawing/2014/main" id="{D4D4DF04-6C1C-4C3B-8F74-B6FFBB5DA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41833"/>
              </p:ext>
            </p:extLst>
          </p:nvPr>
        </p:nvGraphicFramePr>
        <p:xfrm>
          <a:off x="5356016" y="5257234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E16D1E5-7981-4A09-8CDB-9B616FA24EF1}"/>
              </a:ext>
            </a:extLst>
          </p:cNvPr>
          <p:cNvCxnSpPr>
            <a:endCxn id="23" idx="0"/>
          </p:cNvCxnSpPr>
          <p:nvPr/>
        </p:nvCxnSpPr>
        <p:spPr>
          <a:xfrm flipH="1">
            <a:off x="1308947" y="4003040"/>
            <a:ext cx="2714413" cy="1299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F02882B-259A-4FC0-B731-CE166C259FA8}"/>
              </a:ext>
            </a:extLst>
          </p:cNvPr>
          <p:cNvCxnSpPr>
            <a:endCxn id="24" idx="0"/>
          </p:cNvCxnSpPr>
          <p:nvPr/>
        </p:nvCxnSpPr>
        <p:spPr>
          <a:xfrm flipH="1">
            <a:off x="3925148" y="4003040"/>
            <a:ext cx="98212" cy="1277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141939B-C4C6-49DD-ACF6-4E5B496A48A5}"/>
              </a:ext>
            </a:extLst>
          </p:cNvPr>
          <p:cNvCxnSpPr/>
          <p:nvPr/>
        </p:nvCxnSpPr>
        <p:spPr>
          <a:xfrm>
            <a:off x="4102948" y="4003040"/>
            <a:ext cx="2607386" cy="1203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143F66C-19B4-4B6C-B1DA-268C957095B7}"/>
              </a:ext>
            </a:extLst>
          </p:cNvPr>
          <p:cNvSpPr txBox="1"/>
          <p:nvPr/>
        </p:nvSpPr>
        <p:spPr>
          <a:xfrm>
            <a:off x="826844" y="4798391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F(x) = 5 </a:t>
            </a:r>
            <a:endParaRPr lang="es-PE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6C24FDD-4725-4156-B90C-0AED4EA4B70A}"/>
              </a:ext>
            </a:extLst>
          </p:cNvPr>
          <p:cNvSpPr txBox="1"/>
          <p:nvPr/>
        </p:nvSpPr>
        <p:spPr>
          <a:xfrm>
            <a:off x="3040531" y="4782020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F(x) = 5 </a:t>
            </a:r>
            <a:endParaRPr lang="es-PE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1553BC2-022B-46D1-96A8-E8EFC4D508B2}"/>
              </a:ext>
            </a:extLst>
          </p:cNvPr>
          <p:cNvSpPr txBox="1"/>
          <p:nvPr/>
        </p:nvSpPr>
        <p:spPr>
          <a:xfrm>
            <a:off x="6511453" y="4798391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F(x) = 4 </a:t>
            </a:r>
            <a:endParaRPr lang="es-PE" dirty="0"/>
          </a:p>
        </p:txBody>
      </p:sp>
      <p:graphicFrame>
        <p:nvGraphicFramePr>
          <p:cNvPr id="35" name="Tabla 4">
            <a:extLst>
              <a:ext uri="{FF2B5EF4-FFF2-40B4-BE49-F238E27FC236}">
                <a16:creationId xmlns:a16="http://schemas.microsoft.com/office/drawing/2014/main" id="{A2A7D978-6EB2-4DF1-9764-127F773B1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18348"/>
              </p:ext>
            </p:extLst>
          </p:nvPr>
        </p:nvGraphicFramePr>
        <p:xfrm>
          <a:off x="1259013" y="7475496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36" name="Tabla 4">
            <a:extLst>
              <a:ext uri="{FF2B5EF4-FFF2-40B4-BE49-F238E27FC236}">
                <a16:creationId xmlns:a16="http://schemas.microsoft.com/office/drawing/2014/main" id="{D6B54746-CF11-4D79-9D0D-F7E3E4781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418484"/>
              </p:ext>
            </p:extLst>
          </p:nvPr>
        </p:nvGraphicFramePr>
        <p:xfrm>
          <a:off x="3904870" y="7475496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sp>
        <p:nvSpPr>
          <p:cNvPr id="37" name="CuadroTexto 36">
            <a:extLst>
              <a:ext uri="{FF2B5EF4-FFF2-40B4-BE49-F238E27FC236}">
                <a16:creationId xmlns:a16="http://schemas.microsoft.com/office/drawing/2014/main" id="{3162083B-BD42-4C45-BF16-BBD37C16DB9B}"/>
              </a:ext>
            </a:extLst>
          </p:cNvPr>
          <p:cNvSpPr txBox="1"/>
          <p:nvPr/>
        </p:nvSpPr>
        <p:spPr>
          <a:xfrm>
            <a:off x="1461542" y="7125387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F(x) = 6 </a:t>
            </a:r>
            <a:endParaRPr lang="es-PE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C564A3C-B46D-48C2-9189-312575A033B6}"/>
              </a:ext>
            </a:extLst>
          </p:cNvPr>
          <p:cNvSpPr txBox="1"/>
          <p:nvPr/>
        </p:nvSpPr>
        <p:spPr>
          <a:xfrm>
            <a:off x="4622160" y="7130949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F(x) = 4 </a:t>
            </a:r>
            <a:endParaRPr lang="es-PE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F06D1AE-5577-4E71-9AF1-14C561868BF1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2433322" y="6505782"/>
            <a:ext cx="1491826" cy="969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6AD0349-EB8E-4E3D-A79B-0BE45B8288DA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3925148" y="6505782"/>
            <a:ext cx="1035268" cy="927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a 4">
            <a:extLst>
              <a:ext uri="{FF2B5EF4-FFF2-40B4-BE49-F238E27FC236}">
                <a16:creationId xmlns:a16="http://schemas.microsoft.com/office/drawing/2014/main" id="{D6C2F2FA-AE5D-4FCD-9732-BC3123DEE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596784"/>
              </p:ext>
            </p:extLst>
          </p:nvPr>
        </p:nvGraphicFramePr>
        <p:xfrm>
          <a:off x="9315721" y="3173070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45" name="Tabla 4">
            <a:extLst>
              <a:ext uri="{FF2B5EF4-FFF2-40B4-BE49-F238E27FC236}">
                <a16:creationId xmlns:a16="http://schemas.microsoft.com/office/drawing/2014/main" id="{E33040D4-560A-4473-9212-D596D8CD2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95853"/>
              </p:ext>
            </p:extLst>
          </p:nvPr>
        </p:nvGraphicFramePr>
        <p:xfrm>
          <a:off x="9315721" y="5302388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sp>
        <p:nvSpPr>
          <p:cNvPr id="47" name="CuadroTexto 46">
            <a:extLst>
              <a:ext uri="{FF2B5EF4-FFF2-40B4-BE49-F238E27FC236}">
                <a16:creationId xmlns:a16="http://schemas.microsoft.com/office/drawing/2014/main" id="{3173281C-28B8-490C-9397-C595D237559A}"/>
              </a:ext>
            </a:extLst>
          </p:cNvPr>
          <p:cNvSpPr txBox="1"/>
          <p:nvPr/>
        </p:nvSpPr>
        <p:spPr>
          <a:xfrm>
            <a:off x="9765081" y="2793069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F(x) = 6 </a:t>
            </a:r>
            <a:endParaRPr lang="es-PE" b="1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3C5D0F2-EE93-4E8D-B6AF-5DB4C8C0092E}"/>
              </a:ext>
            </a:extLst>
          </p:cNvPr>
          <p:cNvSpPr txBox="1"/>
          <p:nvPr/>
        </p:nvSpPr>
        <p:spPr>
          <a:xfrm>
            <a:off x="9774679" y="4898657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F(x) = 7 </a:t>
            </a:r>
            <a:endParaRPr lang="es-PE" b="1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F05193C-9CC7-407A-A0C0-0EA933CFB39A}"/>
              </a:ext>
            </a:extLst>
          </p:cNvPr>
          <p:cNvCxnSpPr>
            <a:cxnSpLocks/>
          </p:cNvCxnSpPr>
          <p:nvPr/>
        </p:nvCxnSpPr>
        <p:spPr>
          <a:xfrm>
            <a:off x="10651719" y="4450849"/>
            <a:ext cx="17388" cy="806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a 4">
            <a:extLst>
              <a:ext uri="{FF2B5EF4-FFF2-40B4-BE49-F238E27FC236}">
                <a16:creationId xmlns:a16="http://schemas.microsoft.com/office/drawing/2014/main" id="{FB387F7C-25E1-40AB-991F-C2B6DC539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091327"/>
              </p:ext>
            </p:extLst>
          </p:nvPr>
        </p:nvGraphicFramePr>
        <p:xfrm>
          <a:off x="7982374" y="7438726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graphicFrame>
        <p:nvGraphicFramePr>
          <p:cNvPr id="52" name="Tabla 4">
            <a:extLst>
              <a:ext uri="{FF2B5EF4-FFF2-40B4-BE49-F238E27FC236}">
                <a16:creationId xmlns:a16="http://schemas.microsoft.com/office/drawing/2014/main" id="{B318C178-56D7-4D13-884F-49FAA7DD0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76652"/>
              </p:ext>
            </p:extLst>
          </p:nvPr>
        </p:nvGraphicFramePr>
        <p:xfrm>
          <a:off x="11206479" y="7431706"/>
          <a:ext cx="2248746" cy="1224846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749582">
                  <a:extLst>
                    <a:ext uri="{9D8B030D-6E8A-4147-A177-3AD203B41FA5}">
                      <a16:colId xmlns:a16="http://schemas.microsoft.com/office/drawing/2014/main" val="655036248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1381229710"/>
                    </a:ext>
                  </a:extLst>
                </a:gridCol>
                <a:gridCol w="749582">
                  <a:extLst>
                    <a:ext uri="{9D8B030D-6E8A-4147-A177-3AD203B41FA5}">
                      <a16:colId xmlns:a16="http://schemas.microsoft.com/office/drawing/2014/main" val="3084166183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1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2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3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338152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7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8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4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493162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/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 6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5</a:t>
                      </a:r>
                      <a:endParaRPr lang="es-PE" sz="18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1115250"/>
                  </a:ext>
                </a:extLst>
              </a:tr>
            </a:tbl>
          </a:graphicData>
        </a:graphic>
      </p:graphicFrame>
      <p:sp>
        <p:nvSpPr>
          <p:cNvPr id="53" name="CuadroTexto 52">
            <a:extLst>
              <a:ext uri="{FF2B5EF4-FFF2-40B4-BE49-F238E27FC236}">
                <a16:creationId xmlns:a16="http://schemas.microsoft.com/office/drawing/2014/main" id="{AB76719A-4625-443E-818D-0D3C2F1D9F0E}"/>
              </a:ext>
            </a:extLst>
          </p:cNvPr>
          <p:cNvSpPr txBox="1"/>
          <p:nvPr/>
        </p:nvSpPr>
        <p:spPr>
          <a:xfrm>
            <a:off x="8252026" y="6990639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F(x) = 8 </a:t>
            </a:r>
            <a:endParaRPr lang="es-PE" b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33F60DB-F8B7-43A7-9946-3042403DC1E5}"/>
              </a:ext>
            </a:extLst>
          </p:cNvPr>
          <p:cNvSpPr txBox="1"/>
          <p:nvPr/>
        </p:nvSpPr>
        <p:spPr>
          <a:xfrm>
            <a:off x="11970996" y="6990639"/>
            <a:ext cx="85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F(x) = 6 </a:t>
            </a:r>
            <a:endParaRPr lang="es-PE" dirty="0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04DB0402-D0E9-42BD-B617-754A441468B3}"/>
              </a:ext>
            </a:extLst>
          </p:cNvPr>
          <p:cNvCxnSpPr>
            <a:cxnSpLocks/>
          </p:cNvCxnSpPr>
          <p:nvPr/>
        </p:nvCxnSpPr>
        <p:spPr>
          <a:xfrm flipH="1">
            <a:off x="9237357" y="6547554"/>
            <a:ext cx="1401662" cy="891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18FDE71-AFE6-4207-A8B7-4F5221F6FEED}"/>
              </a:ext>
            </a:extLst>
          </p:cNvPr>
          <p:cNvCxnSpPr>
            <a:cxnSpLocks/>
          </p:cNvCxnSpPr>
          <p:nvPr/>
        </p:nvCxnSpPr>
        <p:spPr>
          <a:xfrm>
            <a:off x="10669107" y="6623188"/>
            <a:ext cx="1126653" cy="675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378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9FDC1-31B9-4B0A-866F-A340D51D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Implementar el </a:t>
            </a:r>
            <a:r>
              <a:rPr lang="es-ES" dirty="0" err="1"/>
              <a:t>Puzzle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06F4A1-24CB-478E-9760-F0EE09B40049}"/>
              </a:ext>
            </a:extLst>
          </p:cNvPr>
          <p:cNvSpPr txBox="1"/>
          <p:nvPr/>
        </p:nvSpPr>
        <p:spPr>
          <a:xfrm>
            <a:off x="3395733" y="1388406"/>
            <a:ext cx="1105408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/>
              <a:t>- Función heurística</a:t>
            </a:r>
          </a:p>
          <a:p>
            <a:r>
              <a:rPr lang="es-PE" sz="2400" dirty="0"/>
              <a:t>	* cantidad de fichas ubicadas correctamente</a:t>
            </a:r>
          </a:p>
          <a:p>
            <a:r>
              <a:rPr lang="es-PE" sz="2400" dirty="0"/>
              <a:t>- Representar el estado</a:t>
            </a:r>
          </a:p>
          <a:p>
            <a:r>
              <a:rPr lang="es-PE" sz="2400" dirty="0"/>
              <a:t>	* matriz con valores entre 1-8, el espacio vacío es -1</a:t>
            </a:r>
          </a:p>
          <a:p>
            <a:r>
              <a:rPr lang="es-PE" sz="2400" dirty="0"/>
              <a:t>- Función objetivo</a:t>
            </a:r>
          </a:p>
          <a:p>
            <a:r>
              <a:rPr lang="es-PE" sz="2400" dirty="0"/>
              <a:t>	* cantidad de fichas = 8</a:t>
            </a:r>
          </a:p>
          <a:p>
            <a:endParaRPr lang="es-PE" sz="2400" dirty="0"/>
          </a:p>
          <a:p>
            <a:r>
              <a:rPr lang="es-PE" sz="2400" dirty="0"/>
              <a:t>=================================</a:t>
            </a:r>
          </a:p>
          <a:p>
            <a:r>
              <a:rPr lang="es-PE" sz="2400" dirty="0"/>
              <a:t>input:   </a:t>
            </a:r>
          </a:p>
          <a:p>
            <a:r>
              <a:rPr lang="es-PE" sz="2400" dirty="0"/>
              <a:t>        inicial = [[2,8,3],[1,6,4],[7,-1,5]]</a:t>
            </a:r>
          </a:p>
          <a:p>
            <a:r>
              <a:rPr lang="es-PE" sz="2400" dirty="0"/>
              <a:t>        final   = [[1,2,3],[8,-1,4],[7,6,5]]</a:t>
            </a:r>
          </a:p>
          <a:p>
            <a:r>
              <a:rPr lang="es-PE" sz="2400" dirty="0"/>
              <a:t>Output:</a:t>
            </a:r>
          </a:p>
          <a:p>
            <a:r>
              <a:rPr lang="es-PE" sz="2400" dirty="0"/>
              <a:t>-------------------------------------</a:t>
            </a:r>
          </a:p>
          <a:p>
            <a:r>
              <a:rPr lang="es-PE" sz="2400" dirty="0"/>
              <a:t>| 1- Mover 6 abajo		|</a:t>
            </a:r>
          </a:p>
          <a:p>
            <a:r>
              <a:rPr lang="es-PE" sz="2400" dirty="0"/>
              <a:t>| 2- Mover 8 abajo		|</a:t>
            </a:r>
          </a:p>
          <a:p>
            <a:r>
              <a:rPr lang="es-PE" sz="2400" dirty="0"/>
              <a:t>| 3- Mover 2 derecha	|</a:t>
            </a:r>
          </a:p>
          <a:p>
            <a:r>
              <a:rPr lang="es-PE" sz="2400" dirty="0"/>
              <a:t>| 4- Mover 1 arriba		|</a:t>
            </a:r>
          </a:p>
          <a:p>
            <a:r>
              <a:rPr lang="es-PE" sz="2400" dirty="0"/>
              <a:t>| 5- Mover 8 izquierda	|</a:t>
            </a:r>
          </a:p>
          <a:p>
            <a:r>
              <a:rPr lang="es-PE" sz="2400" dirty="0"/>
              <a:t>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346258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AFE3-E7D1-4273-9358-27D95ED4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Hill </a:t>
            </a:r>
            <a:r>
              <a:rPr lang="es-PE" dirty="0" err="1"/>
              <a:t>Climbing</a:t>
            </a:r>
            <a:r>
              <a:rPr lang="es-PE" dirty="0"/>
              <a:t>: Problema de las 8 Reinas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912D3A-B6CA-4C18-805A-FE47449FBA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119120" y="3224660"/>
            <a:ext cx="9708560" cy="57059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8823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C5AF9AD-CD7A-4EA3-8055-576ABD7F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0" y="406400"/>
            <a:ext cx="7914640" cy="1169100"/>
          </a:xfrm>
        </p:spPr>
        <p:txBody>
          <a:bodyPr/>
          <a:lstStyle/>
          <a:p>
            <a:r>
              <a:rPr lang="es-ES" dirty="0"/>
              <a:t>Fin del Curso!!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E586FD-28B4-429E-8233-62CA510C5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1920" y="2519680"/>
            <a:ext cx="14051280" cy="5618538"/>
          </a:xfrm>
        </p:spPr>
        <p:txBody>
          <a:bodyPr/>
          <a:lstStyle/>
          <a:p>
            <a:pPr marL="0" lvl="0" indent="0">
              <a:lnSpc>
                <a:spcPct val="115000"/>
              </a:lnSpc>
            </a:pPr>
            <a:r>
              <a:rPr lang="es-ES" sz="2400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Para el examen final revisar las siguientes estructuras:</a:t>
            </a:r>
          </a:p>
          <a:p>
            <a:pPr marL="0" lvl="0" indent="0">
              <a:lnSpc>
                <a:spcPct val="115000"/>
              </a:lnSpc>
            </a:pPr>
            <a:endParaRPr lang="es-ES" sz="2400" u="none" strike="noStrike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Treap</a:t>
            </a: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: </a:t>
            </a:r>
            <a:r>
              <a:rPr lang="es-ES" sz="24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 </a:t>
            </a:r>
            <a:endParaRPr lang="es-PE" sz="2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>
              <a:lnSpc>
                <a:spcPct val="115000"/>
              </a:lnSpc>
            </a:pPr>
            <a:r>
              <a:rPr lang="es-ES" sz="24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 </a:t>
            </a:r>
            <a:endParaRPr lang="es-PE" sz="2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Red Black </a:t>
            </a: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Tree</a:t>
            </a: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:</a:t>
            </a:r>
            <a:endParaRPr lang="es-PE" sz="2400" b="1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s-ES" sz="24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 </a:t>
            </a:r>
            <a:endParaRPr lang="es-PE" sz="2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B-Link </a:t>
            </a: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tree</a:t>
            </a: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:</a:t>
            </a:r>
            <a:endParaRPr lang="es-PE" sz="2400" b="1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s-ES" sz="24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  </a:t>
            </a:r>
            <a:endParaRPr lang="es-PE" sz="2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Skip</a:t>
            </a: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List</a:t>
            </a: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:</a:t>
            </a:r>
            <a:endParaRPr lang="es-PE" sz="2400" b="1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s-ES" sz="24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 </a:t>
            </a:r>
            <a:endParaRPr lang="es-PE" sz="2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Splay</a:t>
            </a: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Tree</a:t>
            </a: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: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endParaRPr lang="es-ES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●"/>
            </a:pPr>
            <a:r>
              <a:rPr lang="es-ES" sz="2400" b="1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Digital </a:t>
            </a:r>
            <a:r>
              <a:rPr lang="es-ES" sz="2400" b="1" u="none" strike="noStrike" dirty="0" err="1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Tree</a:t>
            </a:r>
            <a:endParaRPr lang="es-PE" sz="2400" b="1" u="none" strike="noStrike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P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11582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3254</TotalTime>
  <Words>3010</Words>
  <Application>Microsoft Office PowerPoint</Application>
  <PresentationFormat>Personalizado</PresentationFormat>
  <Paragraphs>569</Paragraphs>
  <Slides>44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44</vt:i4>
      </vt:variant>
    </vt:vector>
  </HeadingPairs>
  <TitlesOfParts>
    <vt:vector size="54" baseType="lpstr">
      <vt:lpstr>Tahoma</vt:lpstr>
      <vt:lpstr>Arial</vt:lpstr>
      <vt:lpstr>Calibri</vt:lpstr>
      <vt:lpstr>Times New Roman</vt:lpstr>
      <vt:lpstr>Cambria Math</vt:lpstr>
      <vt:lpstr>Roboto</vt:lpstr>
      <vt:lpstr>Wingdings</vt:lpstr>
      <vt:lpstr>Material</vt:lpstr>
      <vt:lpstr>1_Material</vt:lpstr>
      <vt:lpstr>2_Material</vt:lpstr>
      <vt:lpstr>Presentación de PowerPoint</vt:lpstr>
      <vt:lpstr>Backtracking</vt:lpstr>
      <vt:lpstr>Backtracking</vt:lpstr>
      <vt:lpstr>Backtracking: Método General</vt:lpstr>
      <vt:lpstr>Backtracking: Método General</vt:lpstr>
      <vt:lpstr>Backtracking: Método General</vt:lpstr>
      <vt:lpstr>Backtracking: Método General</vt:lpstr>
      <vt:lpstr>Backtracking: Método General</vt:lpstr>
      <vt:lpstr>Backtracking: Método General</vt:lpstr>
      <vt:lpstr>Backtracking:  Problema del Subconjunto </vt:lpstr>
      <vt:lpstr>Backtracking:  Problema del Subconjunto </vt:lpstr>
      <vt:lpstr>Backtracking: Problema del Subconjunto </vt:lpstr>
      <vt:lpstr>Backtracking: Problema del Subconjunto </vt:lpstr>
      <vt:lpstr>Backtracking: Problema del Subconjunto </vt:lpstr>
      <vt:lpstr>Backtracking: Variaciones</vt:lpstr>
      <vt:lpstr>Backtracking: Método General</vt:lpstr>
      <vt:lpstr>Backtracking: Método General</vt:lpstr>
      <vt:lpstr>Backtracking: Método General</vt:lpstr>
      <vt:lpstr>Backtracking: Ramificacion y Poda</vt:lpstr>
      <vt:lpstr>Problema del mejor subconjunto</vt:lpstr>
      <vt:lpstr>Backtracking: Ramificacion y Poda</vt:lpstr>
      <vt:lpstr>Backtracking: Problema de la Mochila 0/1</vt:lpstr>
      <vt:lpstr>Backtracking:  Problema de la Mochila 0/1</vt:lpstr>
      <vt:lpstr>Backtracking: Problema de la Mochila 0/1</vt:lpstr>
      <vt:lpstr>Backtracking: Problema de la Mochila 0/1</vt:lpstr>
      <vt:lpstr>Backtracking: Problema de la Mochila 0/1</vt:lpstr>
      <vt:lpstr>Búsqueda Local y Optimización</vt:lpstr>
      <vt:lpstr>Búsqueda Local y Optimización</vt:lpstr>
      <vt:lpstr>Búsqueda Local y Optimización</vt:lpstr>
      <vt:lpstr>Búsqueda Local y Optimización</vt:lpstr>
      <vt:lpstr>Búsqueda Local y Optimización</vt:lpstr>
      <vt:lpstr>Búsqueda Local y Optimización</vt:lpstr>
      <vt:lpstr>Hill Climbing</vt:lpstr>
      <vt:lpstr>Hill Climbing</vt:lpstr>
      <vt:lpstr>Hill Climbing</vt:lpstr>
      <vt:lpstr>Hill Climbing</vt:lpstr>
      <vt:lpstr>Hill Climbing: Problema de la Mochila</vt:lpstr>
      <vt:lpstr>Hill Climbing: Problema de la Mochila</vt:lpstr>
      <vt:lpstr>Hill Climbing: Problema de la Mochila</vt:lpstr>
      <vt:lpstr>Hill Climbing: Problema del Puzzle</vt:lpstr>
      <vt:lpstr>Presentación de PowerPoint</vt:lpstr>
      <vt:lpstr>Implementar el Puzzle</vt:lpstr>
      <vt:lpstr>Hill Climbing: Problema de las 8 Reinas</vt:lpstr>
      <vt:lpstr>Fin del Curso!!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heider sanchez</cp:lastModifiedBy>
  <cp:revision>122</cp:revision>
  <dcterms:modified xsi:type="dcterms:W3CDTF">2022-07-05T14:41:00Z</dcterms:modified>
</cp:coreProperties>
</file>