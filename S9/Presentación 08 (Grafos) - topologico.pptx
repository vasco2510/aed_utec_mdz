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4"/>
  </p:notesMasterIdLst>
  <p:sldIdLst>
    <p:sldId id="256" r:id="rId2"/>
    <p:sldId id="303" r:id="rId3"/>
    <p:sldId id="257" r:id="rId4"/>
    <p:sldId id="401" r:id="rId5"/>
    <p:sldId id="403" r:id="rId6"/>
    <p:sldId id="404" r:id="rId7"/>
    <p:sldId id="405" r:id="rId8"/>
    <p:sldId id="409" r:id="rId9"/>
    <p:sldId id="407" r:id="rId10"/>
    <p:sldId id="408" r:id="rId11"/>
    <p:sldId id="410" r:id="rId12"/>
    <p:sldId id="302" r:id="rId13"/>
  </p:sldIdLst>
  <p:sldSz cx="16256000" cy="9144000"/>
  <p:notesSz cx="16256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Tahoma" panose="020B060403050404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6764" autoAdjust="0"/>
  </p:normalViewPr>
  <p:slideViewPr>
    <p:cSldViewPr snapToGrid="0">
      <p:cViewPr varScale="1">
        <p:scale>
          <a:sx n="86" d="100"/>
          <a:sy n="86" d="100"/>
        </p:scale>
        <p:origin x="73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font" Target="fonts/font7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font" Target="fonts/font6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10.fntdata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23" Type="http://schemas.openxmlformats.org/officeDocument/2006/relationships/font" Target="fonts/font9.fntdata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font" Target="fonts/font5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font" Target="fonts/font8.fntdata" /><Relationship Id="rId27" Type="http://schemas.openxmlformats.org/officeDocument/2006/relationships/theme" Target="theme/theme1.xml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 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 /><Relationship Id="rId1" Type="http://schemas.openxmlformats.org/officeDocument/2006/relationships/image" Target="../media/image3.wmf" 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 /><Relationship Id="rId1" Type="http://schemas.openxmlformats.org/officeDocument/2006/relationships/image" Target="../media/image4.wmf" 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 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 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 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 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 /><Relationship Id="rId1" Type="http://schemas.openxmlformats.org/officeDocument/2006/relationships/image" Target="../media/image6.wmf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9207500" y="0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080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98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70437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9207500" y="8685213"/>
            <a:ext cx="70453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838a9880b_0_0:notes"/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7838a988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afffaee7_0_0:notes"/>
          <p:cNvSpPr txBox="1">
            <a:spLocks noGrp="1"/>
          </p:cNvSpPr>
          <p:nvPr>
            <p:ph type="body" idx="1"/>
          </p:nvPr>
        </p:nvSpPr>
        <p:spPr>
          <a:xfrm>
            <a:off x="2167466" y="4343400"/>
            <a:ext cx="11883300" cy="12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eafffae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3703300" y="-7013575"/>
            <a:ext cx="27406600" cy="15416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20715" y="3371809"/>
            <a:ext cx="8193183" cy="3194520"/>
          </a:xfrm>
          <a:prstGeom prst="rect">
            <a:avLst/>
          </a:prstGeom>
        </p:spPr>
        <p:txBody>
          <a:bodyPr spcFirstLastPara="1" wrap="square" lIns="96300" tIns="48150" rIns="96300" bIns="481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4554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20715" y="3371809"/>
            <a:ext cx="8193183" cy="3194520"/>
          </a:xfrm>
          <a:prstGeom prst="rect">
            <a:avLst/>
          </a:prstGeom>
        </p:spPr>
        <p:txBody>
          <a:bodyPr spcFirstLastPara="1" wrap="square" lIns="96300" tIns="48150" rIns="96300" bIns="481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518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20715" y="3371809"/>
            <a:ext cx="8193183" cy="3194520"/>
          </a:xfrm>
          <a:prstGeom prst="rect">
            <a:avLst/>
          </a:prstGeom>
        </p:spPr>
        <p:txBody>
          <a:bodyPr spcFirstLastPara="1" wrap="square" lIns="96300" tIns="48150" rIns="96300" bIns="481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767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20715" y="3371809"/>
            <a:ext cx="8193183" cy="3194520"/>
          </a:xfrm>
          <a:prstGeom prst="rect">
            <a:avLst/>
          </a:prstGeom>
        </p:spPr>
        <p:txBody>
          <a:bodyPr spcFirstLastPara="1" wrap="square" lIns="96300" tIns="48150" rIns="96300" bIns="481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4040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20715" y="3371809"/>
            <a:ext cx="8193183" cy="3194520"/>
          </a:xfrm>
          <a:prstGeom prst="rect">
            <a:avLst/>
          </a:prstGeom>
        </p:spPr>
        <p:txBody>
          <a:bodyPr spcFirstLastPara="1" wrap="square" lIns="96300" tIns="48150" rIns="96300" bIns="481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5580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20715" y="3371809"/>
            <a:ext cx="8193183" cy="3194520"/>
          </a:xfrm>
          <a:prstGeom prst="rect">
            <a:avLst/>
          </a:prstGeom>
        </p:spPr>
        <p:txBody>
          <a:bodyPr spcFirstLastPara="1" wrap="square" lIns="96300" tIns="48150" rIns="96300" bIns="481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443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20715" y="3371809"/>
            <a:ext cx="8193183" cy="3194520"/>
          </a:xfrm>
          <a:prstGeom prst="rect">
            <a:avLst/>
          </a:prstGeom>
        </p:spPr>
        <p:txBody>
          <a:bodyPr spcFirstLastPara="1" wrap="square" lIns="96300" tIns="48150" rIns="96300" bIns="481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8789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1020715" y="3371809"/>
            <a:ext cx="8193183" cy="3194520"/>
          </a:xfrm>
          <a:prstGeom prst="rect">
            <a:avLst/>
          </a:prstGeom>
        </p:spPr>
        <p:txBody>
          <a:bodyPr spcFirstLastPara="1" wrap="square" lIns="96300" tIns="48150" rIns="96300" bIns="481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8010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7838a9880b_0_90:notes"/>
          <p:cNvSpPr txBox="1">
            <a:spLocks noGrp="1"/>
          </p:cNvSpPr>
          <p:nvPr>
            <p:ph type="body" idx="1"/>
          </p:nvPr>
        </p:nvSpPr>
        <p:spPr>
          <a:xfrm>
            <a:off x="1625600" y="4343400"/>
            <a:ext cx="130047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7838a9880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rot="10800000" flipH="1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ctrTitle"/>
          </p:nvPr>
        </p:nvSpPr>
        <p:spPr>
          <a:xfrm>
            <a:off x="4762500" y="2159000"/>
            <a:ext cx="6731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2438400" y="5120639"/>
            <a:ext cx="11379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5325108" y="406400"/>
            <a:ext cx="5605799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12800" y="2103119"/>
            <a:ext cx="14630400" cy="603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5527039" y="8503920"/>
            <a:ext cx="520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1280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11704320" y="8503920"/>
            <a:ext cx="3738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 flipH="1">
            <a:off x="14660300" y="7548311"/>
            <a:ext cx="1595700" cy="1595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 flipH="1">
            <a:off x="14660300" y="7548222"/>
            <a:ext cx="1595700" cy="1595700"/>
          </a:xfrm>
          <a:prstGeom prst="round1Rect">
            <a:avLst>
              <a:gd name="adj" fmla="val 16667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>
            <a:spLocks noGrp="1"/>
          </p:cNvSpPr>
          <p:nvPr>
            <p:ph type="ctrTitle"/>
          </p:nvPr>
        </p:nvSpPr>
        <p:spPr>
          <a:xfrm>
            <a:off x="694266" y="3234266"/>
            <a:ext cx="14617199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8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1"/>
          </p:nvPr>
        </p:nvSpPr>
        <p:spPr>
          <a:xfrm>
            <a:off x="694266" y="4958453"/>
            <a:ext cx="14617199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19466" y="3671733"/>
            <a:ext cx="14617199" cy="1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7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 rot="10800000" flipH="1">
            <a:off x="0" y="2997300"/>
            <a:ext cx="16256101" cy="614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0"/>
          <p:cNvSpPr/>
          <p:nvPr/>
        </p:nvSpPr>
        <p:spPr>
          <a:xfrm>
            <a:off x="0" y="2997333"/>
            <a:ext cx="16256101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8389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2"/>
          </p:nvPr>
        </p:nvSpPr>
        <p:spPr>
          <a:xfrm>
            <a:off x="8345333" y="3411689"/>
            <a:ext cx="7110900" cy="48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/>
        </p:nvSpPr>
        <p:spPr>
          <a:xfrm rot="10800000" flipH="1">
            <a:off x="5825066" y="43"/>
            <a:ext cx="10430999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/>
          <p:nvPr/>
        </p:nvSpPr>
        <p:spPr>
          <a:xfrm rot="-5400000">
            <a:off x="1349666" y="4475400"/>
            <a:ext cx="91440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401915" y="636088"/>
            <a:ext cx="4992000" cy="16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401911" y="2605866"/>
            <a:ext cx="4992000" cy="5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●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619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"/>
              <a:buChar char="○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619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100"/>
              <a:buFont typeface="Roboto"/>
              <a:buChar char="■"/>
              <a:defRPr sz="2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871555" y="868000"/>
            <a:ext cx="11070300" cy="72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0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 flipH="1">
            <a:off x="100" y="0"/>
            <a:ext cx="8127900" cy="914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 rot="5400000">
            <a:off x="3460311" y="4475866"/>
            <a:ext cx="9142800" cy="1932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>
            <a:off x="472000" y="2192311"/>
            <a:ext cx="7191600" cy="263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7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1"/>
          </p:nvPr>
        </p:nvSpPr>
        <p:spPr>
          <a:xfrm>
            <a:off x="472000" y="4941274"/>
            <a:ext cx="7191600" cy="219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None/>
              <a:defRPr sz="37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8781333" y="1287466"/>
            <a:ext cx="6821400" cy="6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1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45333" y="2237377"/>
            <a:ext cx="14617199" cy="3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  <a:defRPr sz="2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body" idx="1"/>
          </p:nvPr>
        </p:nvSpPr>
        <p:spPr>
          <a:xfrm>
            <a:off x="845333" y="5874888"/>
            <a:ext cx="14617199" cy="231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ctr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ctr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2"/>
          <p:cNvSpPr txBox="1"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8754" lvl="2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dt" idx="10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ftr" idx="11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sldNum" idx="12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015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199" cy="136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933" y="3411688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Roboto"/>
              <a:buChar char="●"/>
              <a:defRPr sz="32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●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87350" algn="l" rtl="0">
              <a:lnSpc>
                <a:spcPct val="115000"/>
              </a:lnSpc>
              <a:spcBef>
                <a:spcPts val="280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Roboto"/>
              <a:buChar char="○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87350" algn="l" rtl="0">
              <a:lnSpc>
                <a:spcPct val="115000"/>
              </a:lnSpc>
              <a:spcBef>
                <a:spcPts val="2800"/>
              </a:spcBef>
              <a:spcAft>
                <a:spcPts val="2800"/>
              </a:spcAft>
              <a:buClr>
                <a:schemeClr val="lt2"/>
              </a:buClr>
              <a:buSzPts val="2500"/>
              <a:buFont typeface="Roboto"/>
              <a:buChar char="■"/>
              <a:defRPr sz="25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5152963" y="8347774"/>
            <a:ext cx="975600" cy="6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Roboto"/>
              <a:buNone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6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 /><Relationship Id="rId2" Type="http://schemas.openxmlformats.org/officeDocument/2006/relationships/slideLayout" Target="../slideLayouts/slideLayout3.xml" /><Relationship Id="rId1" Type="http://schemas.openxmlformats.org/officeDocument/2006/relationships/vmlDrawing" Target="../drawings/vmlDrawing1.vml" /><Relationship Id="rId5" Type="http://schemas.openxmlformats.org/officeDocument/2006/relationships/image" Target="../media/image2.wmf" /><Relationship Id="rId4" Type="http://schemas.openxmlformats.org/officeDocument/2006/relationships/oleObject" Target="../embeddings/oleObject1.bin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 /><Relationship Id="rId7" Type="http://schemas.openxmlformats.org/officeDocument/2006/relationships/image" Target="../media/image2.wmf" /><Relationship Id="rId2" Type="http://schemas.openxmlformats.org/officeDocument/2006/relationships/slideLayout" Target="../slideLayouts/slideLayout3.xml" /><Relationship Id="rId1" Type="http://schemas.openxmlformats.org/officeDocument/2006/relationships/vmlDrawing" Target="../drawings/vmlDrawing2.vml" /><Relationship Id="rId6" Type="http://schemas.openxmlformats.org/officeDocument/2006/relationships/oleObject" Target="../embeddings/oleObject3.bin" /><Relationship Id="rId5" Type="http://schemas.openxmlformats.org/officeDocument/2006/relationships/image" Target="../media/image3.wmf" /><Relationship Id="rId4" Type="http://schemas.openxmlformats.org/officeDocument/2006/relationships/oleObject" Target="../embeddings/oleObject2.bin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 /><Relationship Id="rId7" Type="http://schemas.openxmlformats.org/officeDocument/2006/relationships/image" Target="../media/image2.wmf" /><Relationship Id="rId2" Type="http://schemas.openxmlformats.org/officeDocument/2006/relationships/slideLayout" Target="../slideLayouts/slideLayout3.xml" /><Relationship Id="rId1" Type="http://schemas.openxmlformats.org/officeDocument/2006/relationships/vmlDrawing" Target="../drawings/vmlDrawing3.vml" /><Relationship Id="rId6" Type="http://schemas.openxmlformats.org/officeDocument/2006/relationships/oleObject" Target="../embeddings/oleObject5.bin" /><Relationship Id="rId5" Type="http://schemas.openxmlformats.org/officeDocument/2006/relationships/image" Target="../media/image4.wmf" /><Relationship Id="rId4" Type="http://schemas.openxmlformats.org/officeDocument/2006/relationships/oleObject" Target="../embeddings/oleObject4.bin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 /><Relationship Id="rId2" Type="http://schemas.openxmlformats.org/officeDocument/2006/relationships/slideLayout" Target="../slideLayouts/slideLayout3.xml" /><Relationship Id="rId1" Type="http://schemas.openxmlformats.org/officeDocument/2006/relationships/vmlDrawing" Target="../drawings/vmlDrawing4.vml" /><Relationship Id="rId5" Type="http://schemas.openxmlformats.org/officeDocument/2006/relationships/image" Target="../media/image4.wmf" /><Relationship Id="rId4" Type="http://schemas.openxmlformats.org/officeDocument/2006/relationships/oleObject" Target="../embeddings/oleObject6.bin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 /><Relationship Id="rId2" Type="http://schemas.openxmlformats.org/officeDocument/2006/relationships/slideLayout" Target="../slideLayouts/slideLayout3.xml" /><Relationship Id="rId1" Type="http://schemas.openxmlformats.org/officeDocument/2006/relationships/vmlDrawing" Target="../drawings/vmlDrawing5.vml" /><Relationship Id="rId5" Type="http://schemas.openxmlformats.org/officeDocument/2006/relationships/image" Target="../media/image4.wmf" /><Relationship Id="rId4" Type="http://schemas.openxmlformats.org/officeDocument/2006/relationships/oleObject" Target="../embeddings/oleObject7.bin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 /><Relationship Id="rId2" Type="http://schemas.openxmlformats.org/officeDocument/2006/relationships/slideLayout" Target="../slideLayouts/slideLayout3.xml" /><Relationship Id="rId1" Type="http://schemas.openxmlformats.org/officeDocument/2006/relationships/vmlDrawing" Target="../drawings/vmlDrawing6.vml" /><Relationship Id="rId5" Type="http://schemas.openxmlformats.org/officeDocument/2006/relationships/image" Target="../media/image5.wmf" /><Relationship Id="rId4" Type="http://schemas.openxmlformats.org/officeDocument/2006/relationships/oleObject" Target="../embeddings/oleObject8.bin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 /><Relationship Id="rId2" Type="http://schemas.openxmlformats.org/officeDocument/2006/relationships/slideLayout" Target="../slideLayouts/slideLayout3.xml" /><Relationship Id="rId1" Type="http://schemas.openxmlformats.org/officeDocument/2006/relationships/vmlDrawing" Target="../drawings/vmlDrawing7.vml" /><Relationship Id="rId5" Type="http://schemas.openxmlformats.org/officeDocument/2006/relationships/image" Target="../media/image5.wmf" /><Relationship Id="rId4" Type="http://schemas.openxmlformats.org/officeDocument/2006/relationships/oleObject" Target="../embeddings/oleObject9.bin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 /><Relationship Id="rId7" Type="http://schemas.openxmlformats.org/officeDocument/2006/relationships/image" Target="../media/image2.wmf" /><Relationship Id="rId2" Type="http://schemas.openxmlformats.org/officeDocument/2006/relationships/slideLayout" Target="../slideLayouts/slideLayout3.xml" /><Relationship Id="rId1" Type="http://schemas.openxmlformats.org/officeDocument/2006/relationships/vmlDrawing" Target="../drawings/vmlDrawing8.vml" /><Relationship Id="rId6" Type="http://schemas.openxmlformats.org/officeDocument/2006/relationships/oleObject" Target="../embeddings/oleObject5.bin" /><Relationship Id="rId5" Type="http://schemas.openxmlformats.org/officeDocument/2006/relationships/image" Target="../media/image6.wmf" /><Relationship Id="rId4" Type="http://schemas.openxmlformats.org/officeDocument/2006/relationships/oleObject" Target="../embeddings/oleObject10.bin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884050" y="3070950"/>
            <a:ext cx="14487900" cy="30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s-PE" sz="6800" b="1" i="0" u="none" strike="noStrike" cap="none">
                <a:solidFill>
                  <a:srgbClr val="FFFFFF"/>
                </a:solidFill>
              </a:rPr>
              <a:t>Welcome to </a:t>
            </a:r>
            <a:br>
              <a:rPr lang="es-PE" sz="6800" b="1" i="0" u="none" strike="noStrike" cap="none">
                <a:solidFill>
                  <a:srgbClr val="FFFFFF"/>
                </a:solidFill>
              </a:rPr>
            </a:br>
            <a:r>
              <a:rPr lang="es-PE" sz="6800" b="1">
                <a:solidFill>
                  <a:srgbClr val="FFFFFF"/>
                </a:solidFill>
              </a:rPr>
              <a:t>Algorithms and Data Structures</a:t>
            </a:r>
            <a:r>
              <a:rPr lang="es-PE" sz="6800" b="1" i="0" u="none" strike="noStrike" cap="none">
                <a:solidFill>
                  <a:srgbClr val="FFFFFF"/>
                </a:solidFill>
              </a:rPr>
              <a:t>! - CS</a:t>
            </a:r>
            <a:r>
              <a:rPr lang="es-PE" sz="6800" b="1">
                <a:solidFill>
                  <a:srgbClr val="FFFFFF"/>
                </a:solidFill>
              </a:rPr>
              <a:t>2100</a:t>
            </a:r>
            <a:r>
              <a:rPr lang="es-PE" sz="6800" b="1" i="0" u="none" strike="noStrike" cap="none">
                <a:solidFill>
                  <a:srgbClr val="FFFFFF"/>
                </a:solidFill>
              </a:rPr>
              <a:t> </a:t>
            </a:r>
            <a:endParaRPr sz="7200" b="1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B0D3B-0240-FA7A-F45D-94D2A5BF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/>
              <a:t>Ordenamiento Topológico </a:t>
            </a:r>
            <a:endParaRPr lang="es-PE" dirty="0"/>
          </a:p>
        </p:txBody>
      </p:sp>
      <p:sp>
        <p:nvSpPr>
          <p:cNvPr id="4" name="Google Shape;80;p14">
            <a:extLst>
              <a:ext uri="{FF2B5EF4-FFF2-40B4-BE49-F238E27FC236}">
                <a16:creationId xmlns:a16="http://schemas.microsoft.com/office/drawing/2014/main" id="{67142A93-C13F-EE1A-1C07-8DD177112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3200400"/>
            <a:ext cx="146177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PE" dirty="0"/>
              <a:t>Dada las siguientes asignaturas y sus relaciones</a:t>
            </a:r>
          </a:p>
        </p:txBody>
      </p:sp>
      <p:grpSp>
        <p:nvGrpSpPr>
          <p:cNvPr id="5" name="Group 117">
            <a:extLst>
              <a:ext uri="{FF2B5EF4-FFF2-40B4-BE49-F238E27FC236}">
                <a16:creationId xmlns:a16="http://schemas.microsoft.com/office/drawing/2014/main" id="{45CCCC31-C6CC-FC25-6CA5-97C4B9868CBE}"/>
              </a:ext>
            </a:extLst>
          </p:cNvPr>
          <p:cNvGrpSpPr>
            <a:grpSpLocks/>
          </p:cNvGrpSpPr>
          <p:nvPr/>
        </p:nvGrpSpPr>
        <p:grpSpPr bwMode="auto">
          <a:xfrm>
            <a:off x="3995916" y="4189975"/>
            <a:ext cx="6753859" cy="2812991"/>
            <a:chOff x="-3" y="-3"/>
            <a:chExt cx="3314" cy="3382"/>
          </a:xfrm>
        </p:grpSpPr>
        <p:grpSp>
          <p:nvGrpSpPr>
            <p:cNvPr id="6" name="Group 115">
              <a:extLst>
                <a:ext uri="{FF2B5EF4-FFF2-40B4-BE49-F238E27FC236}">
                  <a16:creationId xmlns:a16="http://schemas.microsoft.com/office/drawing/2014/main" id="{3EE57C99-5470-E24A-277C-C8E9D02535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308" cy="3376"/>
              <a:chOff x="0" y="0"/>
              <a:chExt cx="3308" cy="3376"/>
            </a:xfrm>
          </p:grpSpPr>
          <p:grpSp>
            <p:nvGrpSpPr>
              <p:cNvPr id="8" name="Group 82">
                <a:extLst>
                  <a:ext uri="{FF2B5EF4-FFF2-40B4-BE49-F238E27FC236}">
                    <a16:creationId xmlns:a16="http://schemas.microsoft.com/office/drawing/2014/main" id="{19E968CA-B470-11FC-0255-D3339F710E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596" cy="422"/>
                <a:chOff x="0" y="0"/>
                <a:chExt cx="1596" cy="422"/>
              </a:xfrm>
            </p:grpSpPr>
            <p:sp>
              <p:nvSpPr>
                <p:cNvPr id="56" name="Rectangle 81">
                  <a:extLst>
                    <a:ext uri="{FF2B5EF4-FFF2-40B4-BE49-F238E27FC236}">
                      <a16:creationId xmlns:a16="http://schemas.microsoft.com/office/drawing/2014/main" id="{2C0837CE-EB92-714F-EEAD-8DF6070DCD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96" cy="422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  <p:grpSp>
              <p:nvGrpSpPr>
                <p:cNvPr id="57" name="Group 80">
                  <a:extLst>
                    <a:ext uri="{FF2B5EF4-FFF2-40B4-BE49-F238E27FC236}">
                      <a16:creationId xmlns:a16="http://schemas.microsoft.com/office/drawing/2014/main" id="{70AF58DE-DC82-C8BA-9FAC-DAEF1A8F6E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596" cy="422"/>
                  <a:chOff x="0" y="0"/>
                  <a:chExt cx="1596" cy="422"/>
                </a:xfrm>
              </p:grpSpPr>
              <p:sp>
                <p:nvSpPr>
                  <p:cNvPr id="58" name="Rectangle 63">
                    <a:extLst>
                      <a:ext uri="{FF2B5EF4-FFF2-40B4-BE49-F238E27FC236}">
                        <a16:creationId xmlns:a16="http://schemas.microsoft.com/office/drawing/2014/main" id="{F6685C43-C245-E69D-42CB-72E4539868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" y="0"/>
                    <a:ext cx="1540" cy="422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s-PE" altLang="es-PE" sz="1400" b="1">
                        <a:solidFill>
                          <a:srgbClr val="FFFFFF"/>
                        </a:solidFill>
                        <a:latin typeface="Tahoma" panose="020B0604030504040204" pitchFamily="34" charset="0"/>
                      </a:rPr>
                      <a:t>Asignatura</a:t>
                    </a:r>
                    <a:endParaRPr lang="es-PE" altLang="es-PE" sz="1200">
                      <a:cs typeface="Times New Roman" panose="02020603050405020304" pitchFamily="18" charset="0"/>
                    </a:endParaRPr>
                  </a:p>
                  <a:p>
                    <a:pPr eaLnBrk="0" hangingPunct="0"/>
                    <a:endParaRPr lang="es-PE" altLang="es-PE"/>
                  </a:p>
                </p:txBody>
              </p:sp>
              <p:sp>
                <p:nvSpPr>
                  <p:cNvPr id="59" name="Rectangle 79">
                    <a:extLst>
                      <a:ext uri="{FF2B5EF4-FFF2-40B4-BE49-F238E27FC236}">
                        <a16:creationId xmlns:a16="http://schemas.microsoft.com/office/drawing/2014/main" id="{ED98BB64-3700-18D6-4A18-C2820E39D2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96" cy="42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s-PE"/>
                  </a:p>
                </p:txBody>
              </p:sp>
            </p:grpSp>
          </p:grpSp>
          <p:grpSp>
            <p:nvGrpSpPr>
              <p:cNvPr id="9" name="Group 86">
                <a:extLst>
                  <a:ext uri="{FF2B5EF4-FFF2-40B4-BE49-F238E27FC236}">
                    <a16:creationId xmlns:a16="http://schemas.microsoft.com/office/drawing/2014/main" id="{CC10E7C9-5AAA-5E42-5208-D06742E29D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6" y="0"/>
                <a:ext cx="1712" cy="422"/>
                <a:chOff x="1596" y="0"/>
                <a:chExt cx="1712" cy="422"/>
              </a:xfrm>
            </p:grpSpPr>
            <p:sp>
              <p:nvSpPr>
                <p:cNvPr id="52" name="Rectangle 85">
                  <a:extLst>
                    <a:ext uri="{FF2B5EF4-FFF2-40B4-BE49-F238E27FC236}">
                      <a16:creationId xmlns:a16="http://schemas.microsoft.com/office/drawing/2014/main" id="{C696764A-7888-2AD5-A686-B0C54CA4F0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" y="0"/>
                  <a:ext cx="1712" cy="422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  <p:grpSp>
              <p:nvGrpSpPr>
                <p:cNvPr id="53" name="Group 84">
                  <a:extLst>
                    <a:ext uri="{FF2B5EF4-FFF2-40B4-BE49-F238E27FC236}">
                      <a16:creationId xmlns:a16="http://schemas.microsoft.com/office/drawing/2014/main" id="{D7988B3E-A090-AA99-B50B-F6FED4382B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96" y="0"/>
                  <a:ext cx="1712" cy="422"/>
                  <a:chOff x="1596" y="0"/>
                  <a:chExt cx="1712" cy="422"/>
                </a:xfrm>
              </p:grpSpPr>
              <p:sp>
                <p:nvSpPr>
                  <p:cNvPr id="54" name="Rectangle 64">
                    <a:extLst>
                      <a:ext uri="{FF2B5EF4-FFF2-40B4-BE49-F238E27FC236}">
                        <a16:creationId xmlns:a16="http://schemas.microsoft.com/office/drawing/2014/main" id="{BE282637-5A95-B187-4195-BA171BD395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24" y="0"/>
                    <a:ext cx="1656" cy="422"/>
                  </a:xfrm>
                  <a:prstGeom prst="rect">
                    <a:avLst/>
                  </a:prstGeom>
                  <a:solidFill>
                    <a:srgbClr val="80808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s-PE" altLang="es-PE" sz="1400" b="1">
                        <a:solidFill>
                          <a:srgbClr val="FFFFFF"/>
                        </a:solidFill>
                        <a:latin typeface="Tahoma" panose="020B0604030504040204" pitchFamily="34" charset="0"/>
                      </a:rPr>
                      <a:t>Prerrequisito de</a:t>
                    </a:r>
                    <a:endParaRPr lang="es-PE" altLang="es-PE" sz="1200">
                      <a:cs typeface="Times New Roman" panose="02020603050405020304" pitchFamily="18" charset="0"/>
                    </a:endParaRPr>
                  </a:p>
                  <a:p>
                    <a:pPr eaLnBrk="0" hangingPunct="0"/>
                    <a:endParaRPr lang="es-PE" altLang="es-PE"/>
                  </a:p>
                </p:txBody>
              </p:sp>
              <p:sp>
                <p:nvSpPr>
                  <p:cNvPr id="55" name="Rectangle 83">
                    <a:extLst>
                      <a:ext uri="{FF2B5EF4-FFF2-40B4-BE49-F238E27FC236}">
                        <a16:creationId xmlns:a16="http://schemas.microsoft.com/office/drawing/2014/main" id="{F458D944-B7D5-AEC6-21A2-5D408A21DF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6" y="0"/>
                    <a:ext cx="1712" cy="42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s-PE"/>
                  </a:p>
                </p:txBody>
              </p:sp>
            </p:grpSp>
          </p:grpSp>
          <p:grpSp>
            <p:nvGrpSpPr>
              <p:cNvPr id="10" name="Group 88">
                <a:extLst>
                  <a:ext uri="{FF2B5EF4-FFF2-40B4-BE49-F238E27FC236}">
                    <a16:creationId xmlns:a16="http://schemas.microsoft.com/office/drawing/2014/main" id="{DF8F6F69-DC6E-7039-0876-2CEF17CAAF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22"/>
                <a:ext cx="1596" cy="422"/>
                <a:chOff x="0" y="422"/>
                <a:chExt cx="1596" cy="422"/>
              </a:xfrm>
            </p:grpSpPr>
            <p:sp>
              <p:nvSpPr>
                <p:cNvPr id="50" name="Rectangle 65">
                  <a:extLst>
                    <a:ext uri="{FF2B5EF4-FFF2-40B4-BE49-F238E27FC236}">
                      <a16:creationId xmlns:a16="http://schemas.microsoft.com/office/drawing/2014/main" id="{2820032A-8A3F-5DBC-828B-BC860C061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422"/>
                  <a:ext cx="1540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TEC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51" name="Rectangle 87">
                  <a:extLst>
                    <a:ext uri="{FF2B5EF4-FFF2-40B4-BE49-F238E27FC236}">
                      <a16:creationId xmlns:a16="http://schemas.microsoft.com/office/drawing/2014/main" id="{277F1C07-C7EA-14AB-8DD4-5E2914DCA7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22"/>
                  <a:ext cx="1596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1" name="Group 90">
                <a:extLst>
                  <a:ext uri="{FF2B5EF4-FFF2-40B4-BE49-F238E27FC236}">
                    <a16:creationId xmlns:a16="http://schemas.microsoft.com/office/drawing/2014/main" id="{D9532A95-9699-DB3F-B88E-6FF2730E63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6" y="422"/>
                <a:ext cx="1712" cy="422"/>
                <a:chOff x="1596" y="422"/>
                <a:chExt cx="1712" cy="422"/>
              </a:xfrm>
            </p:grpSpPr>
            <p:sp>
              <p:nvSpPr>
                <p:cNvPr id="48" name="Rectangle 66">
                  <a:extLst>
                    <a:ext uri="{FF2B5EF4-FFF2-40B4-BE49-F238E27FC236}">
                      <a16:creationId xmlns:a16="http://schemas.microsoft.com/office/drawing/2014/main" id="{C441FEAB-D838-20BC-E9C7-C1D125702C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4" y="422"/>
                  <a:ext cx="1656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ED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49" name="Rectangle 89">
                  <a:extLst>
                    <a:ext uri="{FF2B5EF4-FFF2-40B4-BE49-F238E27FC236}">
                      <a16:creationId xmlns:a16="http://schemas.microsoft.com/office/drawing/2014/main" id="{EBA23200-99CE-1FB1-6D20-A2938CD13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" y="422"/>
                  <a:ext cx="1712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2" name="Group 92">
                <a:extLst>
                  <a:ext uri="{FF2B5EF4-FFF2-40B4-BE49-F238E27FC236}">
                    <a16:creationId xmlns:a16="http://schemas.microsoft.com/office/drawing/2014/main" id="{DEF6801C-E927-4D75-3E6D-75462A580E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844"/>
                <a:ext cx="1596" cy="422"/>
                <a:chOff x="0" y="844"/>
                <a:chExt cx="1596" cy="422"/>
              </a:xfrm>
            </p:grpSpPr>
            <p:sp>
              <p:nvSpPr>
                <p:cNvPr id="46" name="Rectangle 67">
                  <a:extLst>
                    <a:ext uri="{FF2B5EF4-FFF2-40B4-BE49-F238E27FC236}">
                      <a16:creationId xmlns:a16="http://schemas.microsoft.com/office/drawing/2014/main" id="{70AE02AA-BB5D-4836-2BB6-C95FCBEA5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844"/>
                  <a:ext cx="1540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ED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47" name="Rectangle 91">
                  <a:extLst>
                    <a:ext uri="{FF2B5EF4-FFF2-40B4-BE49-F238E27FC236}">
                      <a16:creationId xmlns:a16="http://schemas.microsoft.com/office/drawing/2014/main" id="{F3889943-B252-0D73-C559-69E1186E7F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844"/>
                  <a:ext cx="1596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3" name="Group 94">
                <a:extLst>
                  <a:ext uri="{FF2B5EF4-FFF2-40B4-BE49-F238E27FC236}">
                    <a16:creationId xmlns:a16="http://schemas.microsoft.com/office/drawing/2014/main" id="{88DCB51B-3FAB-76EF-3D1F-7DC17E3B97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6" y="844"/>
                <a:ext cx="1712" cy="422"/>
                <a:chOff x="1596" y="844"/>
                <a:chExt cx="1712" cy="422"/>
              </a:xfrm>
            </p:grpSpPr>
            <p:sp>
              <p:nvSpPr>
                <p:cNvPr id="44" name="Rectangle 68">
                  <a:extLst>
                    <a:ext uri="{FF2B5EF4-FFF2-40B4-BE49-F238E27FC236}">
                      <a16:creationId xmlns:a16="http://schemas.microsoft.com/office/drawing/2014/main" id="{4499B7B3-C3C8-DBC2-8E8C-81C52CACDF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4" y="844"/>
                  <a:ext cx="1656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00">
                      <a:latin typeface="Tahoma" panose="020B0604030504040204" pitchFamily="34" charset="0"/>
                    </a:rPr>
                    <a:t>BD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45" name="Rectangle 93">
                  <a:extLst>
                    <a:ext uri="{FF2B5EF4-FFF2-40B4-BE49-F238E27FC236}">
                      <a16:creationId xmlns:a16="http://schemas.microsoft.com/office/drawing/2014/main" id="{421586FD-7FAA-F5F5-B4ED-E0DD0D451D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" y="844"/>
                  <a:ext cx="1712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4" name="Group 96">
                <a:extLst>
                  <a:ext uri="{FF2B5EF4-FFF2-40B4-BE49-F238E27FC236}">
                    <a16:creationId xmlns:a16="http://schemas.microsoft.com/office/drawing/2014/main" id="{95ED782B-8DC2-A5C3-C6A0-18197CCAE4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66"/>
                <a:ext cx="1596" cy="422"/>
                <a:chOff x="0" y="1266"/>
                <a:chExt cx="1596" cy="422"/>
              </a:xfrm>
            </p:grpSpPr>
            <p:sp>
              <p:nvSpPr>
                <p:cNvPr id="42" name="Rectangle 69">
                  <a:extLst>
                    <a:ext uri="{FF2B5EF4-FFF2-40B4-BE49-F238E27FC236}">
                      <a16:creationId xmlns:a16="http://schemas.microsoft.com/office/drawing/2014/main" id="{7E0FE120-0B98-0C3C-D86F-0ED33B16DE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1266"/>
                  <a:ext cx="1540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00">
                      <a:latin typeface="Tahoma" panose="020B0604030504040204" pitchFamily="34" charset="0"/>
                    </a:rPr>
                    <a:t>ED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43" name="Rectangle 95">
                  <a:extLst>
                    <a:ext uri="{FF2B5EF4-FFF2-40B4-BE49-F238E27FC236}">
                      <a16:creationId xmlns:a16="http://schemas.microsoft.com/office/drawing/2014/main" id="{F096204A-DFFB-BF5C-50F6-728E591AE4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66"/>
                  <a:ext cx="1596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5" name="Group 98">
                <a:extLst>
                  <a:ext uri="{FF2B5EF4-FFF2-40B4-BE49-F238E27FC236}">
                    <a16:creationId xmlns:a16="http://schemas.microsoft.com/office/drawing/2014/main" id="{62216F44-879F-E971-0653-892DE896EB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6" y="1266"/>
                <a:ext cx="1712" cy="422"/>
                <a:chOff x="1596" y="1266"/>
                <a:chExt cx="1712" cy="422"/>
              </a:xfrm>
            </p:grpSpPr>
            <p:sp>
              <p:nvSpPr>
                <p:cNvPr id="40" name="Rectangle 70">
                  <a:extLst>
                    <a:ext uri="{FF2B5EF4-FFF2-40B4-BE49-F238E27FC236}">
                      <a16:creationId xmlns:a16="http://schemas.microsoft.com/office/drawing/2014/main" id="{ABF757E7-BAE1-3A6F-9119-1D78A6E1AA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4" y="1266"/>
                  <a:ext cx="1656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00">
                      <a:latin typeface="Tahoma" panose="020B0604030504040204" pitchFamily="34" charset="0"/>
                    </a:rPr>
                    <a:t>TAL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41" name="Rectangle 97">
                  <a:extLst>
                    <a:ext uri="{FF2B5EF4-FFF2-40B4-BE49-F238E27FC236}">
                      <a16:creationId xmlns:a16="http://schemas.microsoft.com/office/drawing/2014/main" id="{5763327D-8831-47B2-FBE0-3130201654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" y="1266"/>
                  <a:ext cx="1712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6" name="Group 100">
                <a:extLst>
                  <a:ext uri="{FF2B5EF4-FFF2-40B4-BE49-F238E27FC236}">
                    <a16:creationId xmlns:a16="http://schemas.microsoft.com/office/drawing/2014/main" id="{96E10625-D143-F4DA-9C8B-CA41424BB1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688"/>
                <a:ext cx="1596" cy="422"/>
                <a:chOff x="0" y="1688"/>
                <a:chExt cx="1596" cy="422"/>
              </a:xfrm>
            </p:grpSpPr>
            <p:sp>
              <p:nvSpPr>
                <p:cNvPr id="38" name="Rectangle 71">
                  <a:extLst>
                    <a:ext uri="{FF2B5EF4-FFF2-40B4-BE49-F238E27FC236}">
                      <a16:creationId xmlns:a16="http://schemas.microsoft.com/office/drawing/2014/main" id="{01141ED7-3640-9B65-6651-2EFD740EC2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1688"/>
                  <a:ext cx="1540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ED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39" name="Rectangle 99">
                  <a:extLst>
                    <a:ext uri="{FF2B5EF4-FFF2-40B4-BE49-F238E27FC236}">
                      <a16:creationId xmlns:a16="http://schemas.microsoft.com/office/drawing/2014/main" id="{73A875C6-C06F-B686-59E5-1F819757BA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688"/>
                  <a:ext cx="1596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7" name="Group 102">
                <a:extLst>
                  <a:ext uri="{FF2B5EF4-FFF2-40B4-BE49-F238E27FC236}">
                    <a16:creationId xmlns:a16="http://schemas.microsoft.com/office/drawing/2014/main" id="{F368A17F-7D63-9F29-1402-8618AFC260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6" y="1688"/>
                <a:ext cx="1712" cy="422"/>
                <a:chOff x="1596" y="1688"/>
                <a:chExt cx="1712" cy="422"/>
              </a:xfrm>
            </p:grpSpPr>
            <p:sp>
              <p:nvSpPr>
                <p:cNvPr id="36" name="Rectangle 72">
                  <a:extLst>
                    <a:ext uri="{FF2B5EF4-FFF2-40B4-BE49-F238E27FC236}">
                      <a16:creationId xmlns:a16="http://schemas.microsoft.com/office/drawing/2014/main" id="{3275E948-F89C-B3DD-C757-96C8234C78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4" y="1688"/>
                  <a:ext cx="1656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ADES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37" name="Rectangle 101">
                  <a:extLst>
                    <a:ext uri="{FF2B5EF4-FFF2-40B4-BE49-F238E27FC236}">
                      <a16:creationId xmlns:a16="http://schemas.microsoft.com/office/drawing/2014/main" id="{DBB039ED-0CB2-C72E-5D4B-07B454C9A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" y="1688"/>
                  <a:ext cx="1712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8" name="Group 104">
                <a:extLst>
                  <a:ext uri="{FF2B5EF4-FFF2-40B4-BE49-F238E27FC236}">
                    <a16:creationId xmlns:a16="http://schemas.microsoft.com/office/drawing/2014/main" id="{028CE344-0160-F319-8CB8-CC9AF0DFF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10"/>
                <a:ext cx="1596" cy="422"/>
                <a:chOff x="0" y="2110"/>
                <a:chExt cx="1596" cy="422"/>
              </a:xfrm>
            </p:grpSpPr>
            <p:sp>
              <p:nvSpPr>
                <p:cNvPr id="34" name="Rectangle 73">
                  <a:extLst>
                    <a:ext uri="{FF2B5EF4-FFF2-40B4-BE49-F238E27FC236}">
                      <a16:creationId xmlns:a16="http://schemas.microsoft.com/office/drawing/2014/main" id="{1051F3E9-C5D5-C4EF-05FD-F05AFB4B08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2110"/>
                  <a:ext cx="1540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BD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35" name="Rectangle 103">
                  <a:extLst>
                    <a:ext uri="{FF2B5EF4-FFF2-40B4-BE49-F238E27FC236}">
                      <a16:creationId xmlns:a16="http://schemas.microsoft.com/office/drawing/2014/main" id="{9A9B2C88-D896-A181-22A5-A3FFD455C2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10"/>
                  <a:ext cx="1596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19" name="Group 106">
                <a:extLst>
                  <a:ext uri="{FF2B5EF4-FFF2-40B4-BE49-F238E27FC236}">
                    <a16:creationId xmlns:a16="http://schemas.microsoft.com/office/drawing/2014/main" id="{2857088A-059D-7709-461A-C10C2B3FD6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6" y="2110"/>
                <a:ext cx="1712" cy="422"/>
                <a:chOff x="1596" y="2110"/>
                <a:chExt cx="1712" cy="422"/>
              </a:xfrm>
            </p:grpSpPr>
            <p:sp>
              <p:nvSpPr>
                <p:cNvPr id="32" name="Rectangle 74">
                  <a:extLst>
                    <a:ext uri="{FF2B5EF4-FFF2-40B4-BE49-F238E27FC236}">
                      <a16:creationId xmlns:a16="http://schemas.microsoft.com/office/drawing/2014/main" id="{80E580B8-8DF0-47DE-62DC-2CCE55274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4" y="2110"/>
                  <a:ext cx="1656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ABD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33" name="Rectangle 105">
                  <a:extLst>
                    <a:ext uri="{FF2B5EF4-FFF2-40B4-BE49-F238E27FC236}">
                      <a16:creationId xmlns:a16="http://schemas.microsoft.com/office/drawing/2014/main" id="{804589DB-D716-97B6-2F86-2243CE16A0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" y="2110"/>
                  <a:ext cx="1712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20" name="Group 108">
                <a:extLst>
                  <a:ext uri="{FF2B5EF4-FFF2-40B4-BE49-F238E27FC236}">
                    <a16:creationId xmlns:a16="http://schemas.microsoft.com/office/drawing/2014/main" id="{68A8A507-A69F-F912-11C5-381CA538BF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32"/>
                <a:ext cx="1596" cy="422"/>
                <a:chOff x="0" y="2532"/>
                <a:chExt cx="1596" cy="422"/>
              </a:xfrm>
            </p:grpSpPr>
            <p:sp>
              <p:nvSpPr>
                <p:cNvPr id="30" name="Rectangle 75">
                  <a:extLst>
                    <a:ext uri="{FF2B5EF4-FFF2-40B4-BE49-F238E27FC236}">
                      <a16:creationId xmlns:a16="http://schemas.microsoft.com/office/drawing/2014/main" id="{E4622B57-7FE6-6E12-F1AE-22E0EE0FA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2532"/>
                  <a:ext cx="1540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TEC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31" name="Rectangle 107">
                  <a:extLst>
                    <a:ext uri="{FF2B5EF4-FFF2-40B4-BE49-F238E27FC236}">
                      <a16:creationId xmlns:a16="http://schemas.microsoft.com/office/drawing/2014/main" id="{F4E5F24E-9CD0-69F1-5C3D-A3DFFBF65A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32"/>
                  <a:ext cx="1596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21" name="Group 110">
                <a:extLst>
                  <a:ext uri="{FF2B5EF4-FFF2-40B4-BE49-F238E27FC236}">
                    <a16:creationId xmlns:a16="http://schemas.microsoft.com/office/drawing/2014/main" id="{35B08D77-8A5A-C54E-CBB9-6CA2D3073D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6" y="2532"/>
                <a:ext cx="1712" cy="422"/>
                <a:chOff x="1596" y="2532"/>
                <a:chExt cx="1712" cy="422"/>
              </a:xfrm>
            </p:grpSpPr>
            <p:sp>
              <p:nvSpPr>
                <p:cNvPr id="28" name="Rectangle 76">
                  <a:extLst>
                    <a:ext uri="{FF2B5EF4-FFF2-40B4-BE49-F238E27FC236}">
                      <a16:creationId xmlns:a16="http://schemas.microsoft.com/office/drawing/2014/main" id="{7DD00BD1-4074-580B-2703-62E1D55C15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4" y="2532"/>
                  <a:ext cx="1656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es-PE" sz="1400">
                      <a:latin typeface="Tahoma" panose="020B0604030504040204" pitchFamily="34" charset="0"/>
                    </a:rPr>
                    <a:t>COMP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29" name="Rectangle 109">
                  <a:extLst>
                    <a:ext uri="{FF2B5EF4-FFF2-40B4-BE49-F238E27FC236}">
                      <a16:creationId xmlns:a16="http://schemas.microsoft.com/office/drawing/2014/main" id="{25D72C2E-E3F7-B008-D5B5-FA341B5019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" y="2532"/>
                  <a:ext cx="1712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22" name="Group 112">
                <a:extLst>
                  <a:ext uri="{FF2B5EF4-FFF2-40B4-BE49-F238E27FC236}">
                    <a16:creationId xmlns:a16="http://schemas.microsoft.com/office/drawing/2014/main" id="{DAE04F51-B9F3-9FEB-52C5-F2CC089F3D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954"/>
                <a:ext cx="1596" cy="422"/>
                <a:chOff x="0" y="2954"/>
                <a:chExt cx="1596" cy="422"/>
              </a:xfrm>
            </p:grpSpPr>
            <p:sp>
              <p:nvSpPr>
                <p:cNvPr id="26" name="Rectangle 77">
                  <a:extLst>
                    <a:ext uri="{FF2B5EF4-FFF2-40B4-BE49-F238E27FC236}">
                      <a16:creationId xmlns:a16="http://schemas.microsoft.com/office/drawing/2014/main" id="{9E37930D-3C0B-4E72-BF20-660D0158F1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2954"/>
                  <a:ext cx="1540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00">
                      <a:latin typeface="Tahoma" panose="020B0604030504040204" pitchFamily="34" charset="0"/>
                    </a:rPr>
                    <a:t>ADES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27" name="Rectangle 111">
                  <a:extLst>
                    <a:ext uri="{FF2B5EF4-FFF2-40B4-BE49-F238E27FC236}">
                      <a16:creationId xmlns:a16="http://schemas.microsoft.com/office/drawing/2014/main" id="{F437560D-E612-7998-1D1C-64EF819F9B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954"/>
                  <a:ext cx="1596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  <p:grpSp>
            <p:nvGrpSpPr>
              <p:cNvPr id="23" name="Group 114">
                <a:extLst>
                  <a:ext uri="{FF2B5EF4-FFF2-40B4-BE49-F238E27FC236}">
                    <a16:creationId xmlns:a16="http://schemas.microsoft.com/office/drawing/2014/main" id="{EF47CBE7-3237-EBE4-9265-208804B6D0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6" y="2954"/>
                <a:ext cx="1712" cy="422"/>
                <a:chOff x="1596" y="2954"/>
                <a:chExt cx="1712" cy="422"/>
              </a:xfrm>
            </p:grpSpPr>
            <p:sp>
              <p:nvSpPr>
                <p:cNvPr id="24" name="Rectangle 78">
                  <a:extLst>
                    <a:ext uri="{FF2B5EF4-FFF2-40B4-BE49-F238E27FC236}">
                      <a16:creationId xmlns:a16="http://schemas.microsoft.com/office/drawing/2014/main" id="{74540E65-33A4-70D7-3363-39CDBC48B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24" y="2954"/>
                  <a:ext cx="1656" cy="42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00">
                      <a:latin typeface="Tahoma" panose="020B0604030504040204" pitchFamily="34" charset="0"/>
                    </a:rPr>
                    <a:t>COMP</a:t>
                  </a:r>
                  <a:endParaRPr lang="es-PE" altLang="es-PE" sz="12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/>
                </a:p>
              </p:txBody>
            </p:sp>
            <p:sp>
              <p:nvSpPr>
                <p:cNvPr id="25" name="Rectangle 113">
                  <a:extLst>
                    <a:ext uri="{FF2B5EF4-FFF2-40B4-BE49-F238E27FC236}">
                      <a16:creationId xmlns:a16="http://schemas.microsoft.com/office/drawing/2014/main" id="{A718D796-D3BF-EAB6-F93C-E52C7EA67A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" y="2954"/>
                  <a:ext cx="1712" cy="42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/>
                </a:p>
              </p:txBody>
            </p:sp>
          </p:grpSp>
        </p:grpSp>
        <p:sp>
          <p:nvSpPr>
            <p:cNvPr id="7" name="Rectangle 116">
              <a:extLst>
                <a:ext uri="{FF2B5EF4-FFF2-40B4-BE49-F238E27FC236}">
                  <a16:creationId xmlns:a16="http://schemas.microsoft.com/office/drawing/2014/main" id="{A0DCB9A7-875F-4FC6-D57D-E73EBA2A8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314" cy="3382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PE"/>
            </a:p>
          </p:txBody>
        </p: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2CAF6667-6E71-D478-CA0A-31D42A0BCB45}"/>
              </a:ext>
            </a:extLst>
          </p:cNvPr>
          <p:cNvSpPr txBox="1"/>
          <p:nvPr/>
        </p:nvSpPr>
        <p:spPr>
          <a:xfrm>
            <a:off x="3284170" y="7522883"/>
            <a:ext cx="65738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¿En que orden debo llevar los cursos?</a:t>
            </a:r>
            <a:endParaRPr lang="es-PE" sz="3200" b="1" dirty="0"/>
          </a:p>
        </p:txBody>
      </p:sp>
    </p:spTree>
    <p:extLst>
      <p:ext uri="{BB962C8B-B14F-4D97-AF65-F5344CB8AC3E}">
        <p14:creationId xmlns:p14="http://schemas.microsoft.com/office/powerpoint/2010/main" val="233464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838933" y="1313288"/>
            <a:ext cx="14617200" cy="13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25" tIns="162525" rIns="162525" bIns="1625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Roboto"/>
              <a:buNone/>
            </a:pPr>
            <a:r>
              <a:rPr lang="es-PE" b="1" dirty="0"/>
              <a:t>Ordenamiento Topológico </a:t>
            </a:r>
            <a:endParaRPr b="1" dirty="0"/>
          </a:p>
        </p:txBody>
      </p:sp>
      <p:sp>
        <p:nvSpPr>
          <p:cNvPr id="2" name="Google Shape;80;p14">
            <a:extLst>
              <a:ext uri="{FF2B5EF4-FFF2-40B4-BE49-F238E27FC236}">
                <a16:creationId xmlns:a16="http://schemas.microsoft.com/office/drawing/2014/main" id="{FB789D4E-6662-E7D2-CFD6-4186B3289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933" y="3300762"/>
            <a:ext cx="13850418" cy="517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PE" dirty="0"/>
              <a:t>Es un ordenamiento de vértices en un grafo acíclico dirigido, tal que si este es un camino de vi, </a:t>
            </a:r>
            <a:r>
              <a:rPr lang="es-PE" dirty="0" err="1"/>
              <a:t>vj</a:t>
            </a:r>
            <a:r>
              <a:rPr lang="es-PE" dirty="0"/>
              <a:t> , entonces </a:t>
            </a:r>
            <a:r>
              <a:rPr lang="es-PE" dirty="0" err="1"/>
              <a:t>vj</a:t>
            </a:r>
            <a:r>
              <a:rPr lang="es-PE" dirty="0"/>
              <a:t> aparece después de vi en el ordenamiento.</a:t>
            </a:r>
          </a:p>
          <a:p>
            <a:r>
              <a:rPr lang="es-PE" dirty="0"/>
              <a:t>La figura anterior representa una estructura de prerrequisitos de cursos de una universidad estatal de Miami. Un arco dirigido (</a:t>
            </a:r>
            <a:r>
              <a:rPr lang="es-PE" dirty="0" err="1"/>
              <a:t>v,w</a:t>
            </a:r>
            <a:r>
              <a:rPr lang="es-PE" dirty="0"/>
              <a:t>) indica que el curso v debe ser completado antes que el curso w pueda ser aceptado.</a:t>
            </a:r>
          </a:p>
          <a:p>
            <a:r>
              <a:rPr lang="es-PE" b="1" dirty="0"/>
              <a:t>Un ordenamiento topológico de estos cursos es cualquier secuencia de cursos que no debe violar el requerimiento de prerrequisito.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ctr" anchorCtr="0">
            <a:noAutofit/>
          </a:bodyPr>
          <a:lstStyle/>
          <a:p>
            <a:pPr algn="l"/>
            <a:r>
              <a:rPr lang="es-PE" sz="5400" b="1" dirty="0"/>
              <a:t>Ordenamiento Topológico </a:t>
            </a:r>
            <a:endParaRPr sz="5177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>
            <a:off x="615909" y="3012713"/>
            <a:ext cx="14617199" cy="4817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t" anchorCtr="0">
            <a:noAutofit/>
          </a:bodyPr>
          <a:lstStyle/>
          <a:p>
            <a:pPr lvl="1"/>
            <a:r>
              <a:rPr lang="es-PE" dirty="0"/>
              <a:t>Grafo</a:t>
            </a:r>
          </a:p>
        </p:txBody>
      </p:sp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2E5A8030-8CC6-42C4-A4D5-617F2515E1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343252"/>
              </p:ext>
            </p:extLst>
          </p:nvPr>
        </p:nvGraphicFramePr>
        <p:xfrm>
          <a:off x="4968091" y="3779083"/>
          <a:ext cx="6992471" cy="4450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Drawing" r:id="rId4" imgW="7543800" imgH="4800600" progId="AutoCAD.Drawing.15">
                  <p:embed/>
                </p:oleObj>
              </mc:Choice>
              <mc:Fallback>
                <p:oleObj name="Drawing" r:id="rId4" imgW="7543800" imgH="4800600" progId="AutoCAD.Drawing.15">
                  <p:embed/>
                  <p:pic>
                    <p:nvPicPr>
                      <p:cNvPr id="5" name="Object 7">
                        <a:extLst>
                          <a:ext uri="{FF2B5EF4-FFF2-40B4-BE49-F238E27FC236}">
                            <a16:creationId xmlns:a16="http://schemas.microsoft.com/office/drawing/2014/main" id="{2E5A8030-8CC6-42C4-A4D5-617F2515E1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091" y="3779083"/>
                        <a:ext cx="6992471" cy="44506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8591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ctr" anchorCtr="0">
            <a:noAutofit/>
          </a:bodyPr>
          <a:lstStyle/>
          <a:p>
            <a:pPr algn="l"/>
            <a:r>
              <a:rPr lang="es-PE" sz="4800" b="1" dirty="0"/>
              <a:t>Ordenamiento Topológico </a:t>
            </a:r>
            <a:endParaRPr sz="5177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61" name="Object 4">
            <a:extLst>
              <a:ext uri="{FF2B5EF4-FFF2-40B4-BE49-F238E27FC236}">
                <a16:creationId xmlns:a16="http://schemas.microsoft.com/office/drawing/2014/main" id="{C235A96F-8FC7-44EA-A0D9-23D334E795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705279"/>
              </p:ext>
            </p:extLst>
          </p:nvPr>
        </p:nvGraphicFramePr>
        <p:xfrm>
          <a:off x="7756755" y="4192860"/>
          <a:ext cx="6829270" cy="3931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Drawing" r:id="rId4" imgW="7543800" imgH="4800600" progId="AutoCAD.Drawing.15">
                  <p:embed/>
                </p:oleObj>
              </mc:Choice>
              <mc:Fallback>
                <p:oleObj name="Drawing" r:id="rId4" imgW="7543800" imgH="4800600" progId="AutoCAD.Drawing.15">
                  <p:embed/>
                  <p:pic>
                    <p:nvPicPr>
                      <p:cNvPr id="61" name="Object 4">
                        <a:extLst>
                          <a:ext uri="{FF2B5EF4-FFF2-40B4-BE49-F238E27FC236}">
                            <a16:creationId xmlns:a16="http://schemas.microsoft.com/office/drawing/2014/main" id="{C235A96F-8FC7-44EA-A0D9-23D334E795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755" y="4192860"/>
                        <a:ext cx="6829270" cy="3931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5">
            <a:extLst>
              <a:ext uri="{FF2B5EF4-FFF2-40B4-BE49-F238E27FC236}">
                <a16:creationId xmlns:a16="http://schemas.microsoft.com/office/drawing/2014/main" id="{D5720978-0538-427B-9C1D-E99C6FB17A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384907"/>
              </p:ext>
            </p:extLst>
          </p:nvPr>
        </p:nvGraphicFramePr>
        <p:xfrm>
          <a:off x="447480" y="4192860"/>
          <a:ext cx="5707769" cy="3805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Drawing" r:id="rId6" imgW="7543800" imgH="4800600" progId="AutoCAD.Drawing.15">
                  <p:embed/>
                </p:oleObj>
              </mc:Choice>
              <mc:Fallback>
                <p:oleObj name="Drawing" r:id="rId6" imgW="7543800" imgH="4800600" progId="AutoCAD.Drawing.15">
                  <p:embed/>
                  <p:pic>
                    <p:nvPicPr>
                      <p:cNvPr id="62" name="Object 5">
                        <a:extLst>
                          <a:ext uri="{FF2B5EF4-FFF2-40B4-BE49-F238E27FC236}">
                            <a16:creationId xmlns:a16="http://schemas.microsoft.com/office/drawing/2014/main" id="{D5720978-0538-427B-9C1D-E99C6FB17A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480" y="4192860"/>
                        <a:ext cx="5707769" cy="3805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" name="Text Box 463">
            <a:extLst>
              <a:ext uri="{FF2B5EF4-FFF2-40B4-BE49-F238E27FC236}">
                <a16:creationId xmlns:a16="http://schemas.microsoft.com/office/drawing/2014/main" id="{D495FDB9-B7FF-4378-A42E-48DE2AF9E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7532" y="3609706"/>
            <a:ext cx="3514912" cy="454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PE" sz="2353" b="1" dirty="0" err="1">
                <a:latin typeface="Tahoma" panose="020B0604030504040204" pitchFamily="34" charset="0"/>
              </a:rPr>
              <a:t>Listas</a:t>
            </a:r>
            <a:r>
              <a:rPr lang="en-US" altLang="es-PE" sz="2353" b="1" dirty="0">
                <a:latin typeface="Tahoma" panose="020B0604030504040204" pitchFamily="34" charset="0"/>
              </a:rPr>
              <a:t> de </a:t>
            </a:r>
            <a:r>
              <a:rPr lang="en-US" altLang="es-PE" sz="2353" b="1" dirty="0" err="1">
                <a:latin typeface="Tahoma" panose="020B0604030504040204" pitchFamily="34" charset="0"/>
              </a:rPr>
              <a:t>Adyacencia</a:t>
            </a:r>
            <a:endParaRPr lang="es-ES" altLang="es-PE" sz="2353" b="1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9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ctr" anchorCtr="0">
            <a:noAutofit/>
          </a:bodyPr>
          <a:lstStyle/>
          <a:p>
            <a:pPr algn="l"/>
            <a:r>
              <a:rPr lang="es-PE" sz="5400" b="1" dirty="0"/>
              <a:t>Ordenamiento Topológico </a:t>
            </a:r>
            <a:endParaRPr sz="5177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B8DF6B6-DF0D-43D2-8D21-1252A169B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33" y="3148149"/>
            <a:ext cx="15692704" cy="150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PE" altLang="es-PE" sz="3059" dirty="0">
                <a:latin typeface="Tahoma" panose="020B0604030504040204" pitchFamily="34" charset="0"/>
              </a:rPr>
              <a:t>Método general:</a:t>
            </a:r>
            <a:endParaRPr lang="es-PE" altLang="es-PE" sz="1412" dirty="0">
              <a:cs typeface="Times New Roman" panose="02020603050405020304" pitchFamily="18" charset="0"/>
            </a:endParaRPr>
          </a:p>
          <a:p>
            <a:pPr eaLnBrk="0" hangingPunct="0"/>
            <a:endParaRPr lang="es-PE" altLang="es-PE" sz="3059" dirty="0">
              <a:latin typeface="Tahoma" panose="020B0604030504040204" pitchFamily="34" charset="0"/>
            </a:endParaRPr>
          </a:p>
          <a:p>
            <a:pPr eaLnBrk="0" hangingPunct="0"/>
            <a:r>
              <a:rPr lang="es-PE" altLang="es-PE" sz="3059" dirty="0">
                <a:latin typeface="Tahoma" panose="020B0604030504040204" pitchFamily="34" charset="0"/>
              </a:rPr>
              <a:t>Calcular para cada Vértice, su grado de entrada (cantidad de aristas que llegan al Vértice)</a:t>
            </a:r>
            <a:endParaRPr lang="es-PE" altLang="es-PE" sz="1647" dirty="0"/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3D3D4BBB-34D8-4CEE-9B58-7F91287807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223966"/>
              </p:ext>
            </p:extLst>
          </p:nvPr>
        </p:nvGraphicFramePr>
        <p:xfrm>
          <a:off x="6981825" y="4956175"/>
          <a:ext cx="6319838" cy="402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Drawing" r:id="rId4" imgW="7543800" imgH="4800600" progId="AutoCAD.Drawing.15">
                  <p:embed/>
                </p:oleObj>
              </mc:Choice>
              <mc:Fallback>
                <p:oleObj name="Drawing" r:id="rId4" imgW="7543800" imgH="4800600" progId="AutoCAD.Drawing.15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3D3D4BBB-34D8-4CEE-9B58-7F91287807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1825" y="4956175"/>
                        <a:ext cx="6319838" cy="402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A12A0C49-B2A8-4901-924E-894BAB98E6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813976"/>
              </p:ext>
            </p:extLst>
          </p:nvPr>
        </p:nvGraphicFramePr>
        <p:xfrm>
          <a:off x="2714605" y="5122954"/>
          <a:ext cx="3854824" cy="2629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Drawing" r:id="rId6" imgW="7543800" imgH="4800600" progId="AutoCAD.Drawing.15">
                  <p:embed/>
                </p:oleObj>
              </mc:Choice>
              <mc:Fallback>
                <p:oleObj name="Drawing" r:id="rId6" imgW="7543800" imgH="4800600" progId="AutoCAD.Drawing.15">
                  <p:embed/>
                  <p:pic>
                    <p:nvPicPr>
                      <p:cNvPr id="8" name="Object 6">
                        <a:extLst>
                          <a:ext uri="{FF2B5EF4-FFF2-40B4-BE49-F238E27FC236}">
                            <a16:creationId xmlns:a16="http://schemas.microsoft.com/office/drawing/2014/main" id="{A12A0C49-B2A8-4901-924E-894BAB98E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05" y="5122954"/>
                        <a:ext cx="3854824" cy="2629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674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ctr" anchorCtr="0">
            <a:noAutofit/>
          </a:bodyPr>
          <a:lstStyle/>
          <a:p>
            <a:pPr algn="l"/>
            <a:r>
              <a:rPr lang="es-PE" sz="4800" b="1" dirty="0"/>
              <a:t>Ordenamiento Topológico </a:t>
            </a:r>
            <a:endParaRPr sz="5177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6" name="Group 57">
            <a:extLst>
              <a:ext uri="{FF2B5EF4-FFF2-40B4-BE49-F238E27FC236}">
                <a16:creationId xmlns:a16="http://schemas.microsoft.com/office/drawing/2014/main" id="{A1A9ADB5-8347-4D3C-911E-0B5E3A8EEBF0}"/>
              </a:ext>
            </a:extLst>
          </p:cNvPr>
          <p:cNvGrpSpPr>
            <a:grpSpLocks/>
          </p:cNvGrpSpPr>
          <p:nvPr/>
        </p:nvGrpSpPr>
        <p:grpSpPr bwMode="auto">
          <a:xfrm>
            <a:off x="3228437" y="4345080"/>
            <a:ext cx="7943104" cy="453839"/>
            <a:chOff x="-3" y="-3"/>
            <a:chExt cx="4253" cy="486"/>
          </a:xfrm>
        </p:grpSpPr>
        <p:grpSp>
          <p:nvGrpSpPr>
            <p:cNvPr id="7" name="Group 55">
              <a:extLst>
                <a:ext uri="{FF2B5EF4-FFF2-40B4-BE49-F238E27FC236}">
                  <a16:creationId xmlns:a16="http://schemas.microsoft.com/office/drawing/2014/main" id="{312D403B-AEEF-4F42-9C02-8746309A1F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247" cy="480"/>
              <a:chOff x="0" y="0"/>
              <a:chExt cx="4247" cy="480"/>
            </a:xfrm>
          </p:grpSpPr>
          <p:grpSp>
            <p:nvGrpSpPr>
              <p:cNvPr id="9" name="Group 40">
                <a:extLst>
                  <a:ext uri="{FF2B5EF4-FFF2-40B4-BE49-F238E27FC236}">
                    <a16:creationId xmlns:a16="http://schemas.microsoft.com/office/drawing/2014/main" id="{3FFEE23E-038B-4E03-BE78-1E19403AC2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859" cy="480"/>
                <a:chOff x="0" y="0"/>
                <a:chExt cx="859" cy="480"/>
              </a:xfrm>
            </p:grpSpPr>
            <p:sp>
              <p:nvSpPr>
                <p:cNvPr id="31" name="Rectangle 31">
                  <a:extLst>
                    <a:ext uri="{FF2B5EF4-FFF2-40B4-BE49-F238E27FC236}">
                      <a16:creationId xmlns:a16="http://schemas.microsoft.com/office/drawing/2014/main" id="{54AA97FB-1083-42A4-BACF-E82365D422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803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2353">
                      <a:latin typeface="Tahoma" panose="020B0604030504040204" pitchFamily="34" charset="0"/>
                    </a:rPr>
                    <a:t>COLA:</a:t>
                  </a:r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32" name="Rectangle 39">
                  <a:extLst>
                    <a:ext uri="{FF2B5EF4-FFF2-40B4-BE49-F238E27FC236}">
                      <a16:creationId xmlns:a16="http://schemas.microsoft.com/office/drawing/2014/main" id="{A6A87DEC-8A96-4E44-97CB-A63F0CF91B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10" name="Group 42">
                <a:extLst>
                  <a:ext uri="{FF2B5EF4-FFF2-40B4-BE49-F238E27FC236}">
                    <a16:creationId xmlns:a16="http://schemas.microsoft.com/office/drawing/2014/main" id="{19DE36BB-6DB6-41E9-AC23-254C2E0F36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9" y="0"/>
                <a:ext cx="526" cy="480"/>
                <a:chOff x="859" y="0"/>
                <a:chExt cx="526" cy="480"/>
              </a:xfrm>
            </p:grpSpPr>
            <p:sp>
              <p:nvSpPr>
                <p:cNvPr id="29" name="Rectangle 32">
                  <a:extLst>
                    <a:ext uri="{FF2B5EF4-FFF2-40B4-BE49-F238E27FC236}">
                      <a16:creationId xmlns:a16="http://schemas.microsoft.com/office/drawing/2014/main" id="{C6200283-71D5-41F8-86C4-A34496B374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7" y="0"/>
                  <a:ext cx="47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/>
                <a:p>
                  <a:r>
                    <a:rPr lang="es-PE" altLang="es-PE" sz="1882" b="1">
                      <a:latin typeface="Tahoma" panose="020B0604030504040204" pitchFamily="34" charset="0"/>
                    </a:rPr>
                    <a:t>TEC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30" name="Rectangle 41">
                  <a:extLst>
                    <a:ext uri="{FF2B5EF4-FFF2-40B4-BE49-F238E27FC236}">
                      <a16:creationId xmlns:a16="http://schemas.microsoft.com/office/drawing/2014/main" id="{9BEA00CE-FD2E-4A7A-A37F-B2CB673EFE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9" y="0"/>
                  <a:ext cx="5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11" name="Group 44">
                <a:extLst>
                  <a:ext uri="{FF2B5EF4-FFF2-40B4-BE49-F238E27FC236}">
                    <a16:creationId xmlns:a16="http://schemas.microsoft.com/office/drawing/2014/main" id="{B96A1D9F-DCB5-4AB3-A2C8-385D6F1A77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5" y="0"/>
                <a:ext cx="477" cy="480"/>
                <a:chOff x="1385" y="0"/>
                <a:chExt cx="477" cy="480"/>
              </a:xfrm>
            </p:grpSpPr>
            <p:sp>
              <p:nvSpPr>
                <p:cNvPr id="27" name="Rectangle 33">
                  <a:extLst>
                    <a:ext uri="{FF2B5EF4-FFF2-40B4-BE49-F238E27FC236}">
                      <a16:creationId xmlns:a16="http://schemas.microsoft.com/office/drawing/2014/main" id="{1029F15E-3A99-4346-9705-5EC8A51265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3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28" name="Rectangle 43">
                  <a:extLst>
                    <a:ext uri="{FF2B5EF4-FFF2-40B4-BE49-F238E27FC236}">
                      <a16:creationId xmlns:a16="http://schemas.microsoft.com/office/drawing/2014/main" id="{62CC6286-BBED-42CA-B362-364ED3A47F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5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12" name="Group 46">
                <a:extLst>
                  <a:ext uri="{FF2B5EF4-FFF2-40B4-BE49-F238E27FC236}">
                    <a16:creationId xmlns:a16="http://schemas.microsoft.com/office/drawing/2014/main" id="{6DF94A30-C388-4E33-8BA5-CE45356255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2" y="0"/>
                <a:ext cx="477" cy="480"/>
                <a:chOff x="1862" y="0"/>
                <a:chExt cx="477" cy="480"/>
              </a:xfrm>
            </p:grpSpPr>
            <p:sp>
              <p:nvSpPr>
                <p:cNvPr id="25" name="Rectangle 34">
                  <a:extLst>
                    <a:ext uri="{FF2B5EF4-FFF2-40B4-BE49-F238E27FC236}">
                      <a16:creationId xmlns:a16="http://schemas.microsoft.com/office/drawing/2014/main" id="{068AFA4B-AE73-4648-875F-6410B513EF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26" name="Rectangle 45">
                  <a:extLst>
                    <a:ext uri="{FF2B5EF4-FFF2-40B4-BE49-F238E27FC236}">
                      <a16:creationId xmlns:a16="http://schemas.microsoft.com/office/drawing/2014/main" id="{C6BAABAD-0644-4267-A16C-5E7B1F02FB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62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13" name="Group 48">
                <a:extLst>
                  <a:ext uri="{FF2B5EF4-FFF2-40B4-BE49-F238E27FC236}">
                    <a16:creationId xmlns:a16="http://schemas.microsoft.com/office/drawing/2014/main" id="{F1D3A7DE-C268-4B44-9B99-659BD0F0F9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9" y="0"/>
                <a:ext cx="477" cy="480"/>
                <a:chOff x="2339" y="0"/>
                <a:chExt cx="477" cy="480"/>
              </a:xfrm>
            </p:grpSpPr>
            <p:sp>
              <p:nvSpPr>
                <p:cNvPr id="23" name="Rectangle 35">
                  <a:extLst>
                    <a:ext uri="{FF2B5EF4-FFF2-40B4-BE49-F238E27FC236}">
                      <a16:creationId xmlns:a16="http://schemas.microsoft.com/office/drawing/2014/main" id="{8148696D-20C5-46E9-89BD-E43EB266D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7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24" name="Rectangle 47">
                  <a:extLst>
                    <a:ext uri="{FF2B5EF4-FFF2-40B4-BE49-F238E27FC236}">
                      <a16:creationId xmlns:a16="http://schemas.microsoft.com/office/drawing/2014/main" id="{768F6E04-09F7-4BB2-88D5-495DCAB73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14" name="Group 50">
                <a:extLst>
                  <a:ext uri="{FF2B5EF4-FFF2-40B4-BE49-F238E27FC236}">
                    <a16:creationId xmlns:a16="http://schemas.microsoft.com/office/drawing/2014/main" id="{0371C203-3F57-4D86-8FBC-A10ACE1997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6" y="0"/>
                <a:ext cx="477" cy="480"/>
                <a:chOff x="2816" y="0"/>
                <a:chExt cx="477" cy="480"/>
              </a:xfrm>
            </p:grpSpPr>
            <p:sp>
              <p:nvSpPr>
                <p:cNvPr id="21" name="Rectangle 36">
                  <a:extLst>
                    <a:ext uri="{FF2B5EF4-FFF2-40B4-BE49-F238E27FC236}">
                      <a16:creationId xmlns:a16="http://schemas.microsoft.com/office/drawing/2014/main" id="{BC1FB555-DEB1-43DA-A5DC-94217AA795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4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22" name="Rectangle 49">
                  <a:extLst>
                    <a:ext uri="{FF2B5EF4-FFF2-40B4-BE49-F238E27FC236}">
                      <a16:creationId xmlns:a16="http://schemas.microsoft.com/office/drawing/2014/main" id="{D1A05108-149D-4B2B-9D7A-348677C5B1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6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B4DABAE3-E7C0-4A6D-9CA6-4380663BB0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3" y="0"/>
                <a:ext cx="477" cy="480"/>
                <a:chOff x="3293" y="0"/>
                <a:chExt cx="477" cy="480"/>
              </a:xfrm>
            </p:grpSpPr>
            <p:sp>
              <p:nvSpPr>
                <p:cNvPr id="19" name="Rectangle 37">
                  <a:extLst>
                    <a:ext uri="{FF2B5EF4-FFF2-40B4-BE49-F238E27FC236}">
                      <a16:creationId xmlns:a16="http://schemas.microsoft.com/office/drawing/2014/main" id="{06A18821-F7BB-4B9E-A252-4764DF9B9D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1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20" name="Rectangle 51">
                  <a:extLst>
                    <a:ext uri="{FF2B5EF4-FFF2-40B4-BE49-F238E27FC236}">
                      <a16:creationId xmlns:a16="http://schemas.microsoft.com/office/drawing/2014/main" id="{F94E318B-577A-4F30-8267-D4495863B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3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16" name="Group 54">
                <a:extLst>
                  <a:ext uri="{FF2B5EF4-FFF2-40B4-BE49-F238E27FC236}">
                    <a16:creationId xmlns:a16="http://schemas.microsoft.com/office/drawing/2014/main" id="{1EEF4455-B329-4F80-8CC8-43088AF3F7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0" y="0"/>
                <a:ext cx="477" cy="480"/>
                <a:chOff x="3770" y="0"/>
                <a:chExt cx="477" cy="480"/>
              </a:xfrm>
            </p:grpSpPr>
            <p:sp>
              <p:nvSpPr>
                <p:cNvPr id="17" name="Rectangle 38">
                  <a:extLst>
                    <a:ext uri="{FF2B5EF4-FFF2-40B4-BE49-F238E27FC236}">
                      <a16:creationId xmlns:a16="http://schemas.microsoft.com/office/drawing/2014/main" id="{376332C4-C308-42DD-B149-981AF6614A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18" name="Rectangle 53">
                  <a:extLst>
                    <a:ext uri="{FF2B5EF4-FFF2-40B4-BE49-F238E27FC236}">
                      <a16:creationId xmlns:a16="http://schemas.microsoft.com/office/drawing/2014/main" id="{F9157B48-57D7-4904-AE2C-5AE8DC77FE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0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</p:grpSp>
        <p:sp>
          <p:nvSpPr>
            <p:cNvPr id="8" name="Rectangle 56">
              <a:extLst>
                <a:ext uri="{FF2B5EF4-FFF2-40B4-BE49-F238E27FC236}">
                  <a16:creationId xmlns:a16="http://schemas.microsoft.com/office/drawing/2014/main" id="{A45D460C-6DBD-4A65-A7A5-C35CDD0CD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4253" cy="48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PE" sz="1647"/>
            </a:p>
          </p:txBody>
        </p:sp>
      </p:grpSp>
      <p:sp>
        <p:nvSpPr>
          <p:cNvPr id="33" name="Rectangle 58">
            <a:extLst>
              <a:ext uri="{FF2B5EF4-FFF2-40B4-BE49-F238E27FC236}">
                <a16:creationId xmlns:a16="http://schemas.microsoft.com/office/drawing/2014/main" id="{01886F29-A717-4A38-A01C-9EA895CE7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94" y="3409442"/>
            <a:ext cx="15580372" cy="563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PE" altLang="es-PE" sz="3059" dirty="0">
                <a:latin typeface="Tahoma" panose="020B0604030504040204" pitchFamily="34" charset="0"/>
              </a:rPr>
              <a:t>Colocar en una Cola  aquellos vértices con grado de entrada igual a cero</a:t>
            </a:r>
            <a:endParaRPr lang="es-PE" altLang="es-PE" sz="1647" dirty="0"/>
          </a:p>
        </p:txBody>
      </p:sp>
      <p:graphicFrame>
        <p:nvGraphicFramePr>
          <p:cNvPr id="34" name="Object 59">
            <a:extLst>
              <a:ext uri="{FF2B5EF4-FFF2-40B4-BE49-F238E27FC236}">
                <a16:creationId xmlns:a16="http://schemas.microsoft.com/office/drawing/2014/main" id="{E02BC7D1-1071-410D-AED8-8A32C6852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49519"/>
              </p:ext>
            </p:extLst>
          </p:nvPr>
        </p:nvGraphicFramePr>
        <p:xfrm>
          <a:off x="3828770" y="5027462"/>
          <a:ext cx="6320118" cy="4021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Drawing" r:id="rId4" imgW="7543800" imgH="4800600" progId="AutoCAD.Drawing.15">
                  <p:embed/>
                </p:oleObj>
              </mc:Choice>
              <mc:Fallback>
                <p:oleObj name="Drawing" r:id="rId4" imgW="7543800" imgH="4800600" progId="AutoCAD.Drawing.15">
                  <p:embed/>
                  <p:pic>
                    <p:nvPicPr>
                      <p:cNvPr id="34" name="Object 59">
                        <a:extLst>
                          <a:ext uri="{FF2B5EF4-FFF2-40B4-BE49-F238E27FC236}">
                            <a16:creationId xmlns:a16="http://schemas.microsoft.com/office/drawing/2014/main" id="{E02BC7D1-1071-410D-AED8-8A32C6852A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8770" y="5027462"/>
                        <a:ext cx="6320118" cy="4021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0380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ctr" anchorCtr="0">
            <a:noAutofit/>
          </a:bodyPr>
          <a:lstStyle/>
          <a:p>
            <a:pPr algn="l"/>
            <a:r>
              <a:rPr lang="es-PE" sz="5400" b="1" dirty="0"/>
              <a:t>Ordenamiento Topológico </a:t>
            </a:r>
            <a:endParaRPr sz="5177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7E8ADB52-A7D1-4EC2-B094-FA6CE8400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50" y="3800459"/>
            <a:ext cx="5435367" cy="4454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PE" altLang="es-PE" sz="2400" dirty="0">
                <a:latin typeface="Tahoma" panose="020B0604030504040204" pitchFamily="34" charset="0"/>
              </a:rPr>
              <a:t>Mientras la Cola no sea vacía: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Sacar de la cola un Vértice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Colocarlo en el ordenamiento de salida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Decrementar en Uno el grado de entrada de sus vértices adyacentes y colocar en la Cola aquellos cuyos grados de entrada tomen valor Cero.</a:t>
            </a:r>
            <a:endParaRPr lang="es-PE" altLang="es-PE" sz="2400" dirty="0"/>
          </a:p>
        </p:txBody>
      </p:sp>
      <p:grpSp>
        <p:nvGrpSpPr>
          <p:cNvPr id="36" name="Group 5">
            <a:extLst>
              <a:ext uri="{FF2B5EF4-FFF2-40B4-BE49-F238E27FC236}">
                <a16:creationId xmlns:a16="http://schemas.microsoft.com/office/drawing/2014/main" id="{6278FCFA-5655-4651-83DB-CE9AF474AC7C}"/>
              </a:ext>
            </a:extLst>
          </p:cNvPr>
          <p:cNvGrpSpPr>
            <a:grpSpLocks/>
          </p:cNvGrpSpPr>
          <p:nvPr/>
        </p:nvGrpSpPr>
        <p:grpSpPr bwMode="auto">
          <a:xfrm>
            <a:off x="6068805" y="3800460"/>
            <a:ext cx="7943104" cy="453839"/>
            <a:chOff x="-3" y="-3"/>
            <a:chExt cx="4253" cy="486"/>
          </a:xfrm>
        </p:grpSpPr>
        <p:grpSp>
          <p:nvGrpSpPr>
            <p:cNvPr id="37" name="Group 6">
              <a:extLst>
                <a:ext uri="{FF2B5EF4-FFF2-40B4-BE49-F238E27FC236}">
                  <a16:creationId xmlns:a16="http://schemas.microsoft.com/office/drawing/2014/main" id="{94E03B2B-486D-4D90-BEB3-103766030A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247" cy="480"/>
              <a:chOff x="0" y="0"/>
              <a:chExt cx="4247" cy="480"/>
            </a:xfrm>
          </p:grpSpPr>
          <p:grpSp>
            <p:nvGrpSpPr>
              <p:cNvPr id="39" name="Group 7">
                <a:extLst>
                  <a:ext uri="{FF2B5EF4-FFF2-40B4-BE49-F238E27FC236}">
                    <a16:creationId xmlns:a16="http://schemas.microsoft.com/office/drawing/2014/main" id="{C023B743-3B7D-48A6-BF0D-FF982EEBB2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859" cy="480"/>
                <a:chOff x="0" y="0"/>
                <a:chExt cx="859" cy="480"/>
              </a:xfrm>
            </p:grpSpPr>
            <p:sp>
              <p:nvSpPr>
                <p:cNvPr id="61" name="Rectangle 8">
                  <a:extLst>
                    <a:ext uri="{FF2B5EF4-FFF2-40B4-BE49-F238E27FC236}">
                      <a16:creationId xmlns:a16="http://schemas.microsoft.com/office/drawing/2014/main" id="{07943F7A-AF3F-4438-AB03-042EB24E60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803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2353">
                      <a:latin typeface="Tahoma" panose="020B0604030504040204" pitchFamily="34" charset="0"/>
                    </a:rPr>
                    <a:t>COLA:</a:t>
                  </a:r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62" name="Rectangle 9">
                  <a:extLst>
                    <a:ext uri="{FF2B5EF4-FFF2-40B4-BE49-F238E27FC236}">
                      <a16:creationId xmlns:a16="http://schemas.microsoft.com/office/drawing/2014/main" id="{A2C398EF-CAD0-454B-BF7C-FAB86DD389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0" name="Group 10">
                <a:extLst>
                  <a:ext uri="{FF2B5EF4-FFF2-40B4-BE49-F238E27FC236}">
                    <a16:creationId xmlns:a16="http://schemas.microsoft.com/office/drawing/2014/main" id="{6B6B21CF-2DC6-4C54-B220-2A67979E71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9" y="0"/>
                <a:ext cx="526" cy="480"/>
                <a:chOff x="859" y="0"/>
                <a:chExt cx="526" cy="480"/>
              </a:xfrm>
            </p:grpSpPr>
            <p:sp>
              <p:nvSpPr>
                <p:cNvPr id="59" name="Rectangle 11">
                  <a:extLst>
                    <a:ext uri="{FF2B5EF4-FFF2-40B4-BE49-F238E27FC236}">
                      <a16:creationId xmlns:a16="http://schemas.microsoft.com/office/drawing/2014/main" id="{170C3554-115F-46DB-90CF-A5AC79627F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7" y="0"/>
                  <a:ext cx="47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TEC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60" name="Rectangle 12">
                  <a:extLst>
                    <a:ext uri="{FF2B5EF4-FFF2-40B4-BE49-F238E27FC236}">
                      <a16:creationId xmlns:a16="http://schemas.microsoft.com/office/drawing/2014/main" id="{3541629B-DC4D-4F21-903A-0DBE1D3F42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9" y="0"/>
                  <a:ext cx="5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1" name="Group 13">
                <a:extLst>
                  <a:ext uri="{FF2B5EF4-FFF2-40B4-BE49-F238E27FC236}">
                    <a16:creationId xmlns:a16="http://schemas.microsoft.com/office/drawing/2014/main" id="{46298AA8-8888-41D8-86B1-C7124BD30F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5" y="0"/>
                <a:ext cx="477" cy="480"/>
                <a:chOff x="1385" y="0"/>
                <a:chExt cx="477" cy="480"/>
              </a:xfrm>
            </p:grpSpPr>
            <p:sp>
              <p:nvSpPr>
                <p:cNvPr id="57" name="Rectangle 14">
                  <a:extLst>
                    <a:ext uri="{FF2B5EF4-FFF2-40B4-BE49-F238E27FC236}">
                      <a16:creationId xmlns:a16="http://schemas.microsoft.com/office/drawing/2014/main" id="{AFD3717C-5397-4DE2-A3FB-260DDE0F34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3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8" name="Rectangle 15">
                  <a:extLst>
                    <a:ext uri="{FF2B5EF4-FFF2-40B4-BE49-F238E27FC236}">
                      <a16:creationId xmlns:a16="http://schemas.microsoft.com/office/drawing/2014/main" id="{96B1DE9B-8CB3-49D0-94AB-E26402031D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5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2" name="Group 16">
                <a:extLst>
                  <a:ext uri="{FF2B5EF4-FFF2-40B4-BE49-F238E27FC236}">
                    <a16:creationId xmlns:a16="http://schemas.microsoft.com/office/drawing/2014/main" id="{24A6DC29-DFC5-42EB-90DF-B5277A46EF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2" y="0"/>
                <a:ext cx="477" cy="480"/>
                <a:chOff x="1862" y="0"/>
                <a:chExt cx="477" cy="480"/>
              </a:xfrm>
            </p:grpSpPr>
            <p:sp>
              <p:nvSpPr>
                <p:cNvPr id="55" name="Rectangle 17">
                  <a:extLst>
                    <a:ext uri="{FF2B5EF4-FFF2-40B4-BE49-F238E27FC236}">
                      <a16:creationId xmlns:a16="http://schemas.microsoft.com/office/drawing/2014/main" id="{80F37E7F-095A-4063-95C2-59728C1B4C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6" name="Rectangle 18">
                  <a:extLst>
                    <a:ext uri="{FF2B5EF4-FFF2-40B4-BE49-F238E27FC236}">
                      <a16:creationId xmlns:a16="http://schemas.microsoft.com/office/drawing/2014/main" id="{017D2A31-9FF2-48C5-9B95-52E4E48ECB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62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3" name="Group 19">
                <a:extLst>
                  <a:ext uri="{FF2B5EF4-FFF2-40B4-BE49-F238E27FC236}">
                    <a16:creationId xmlns:a16="http://schemas.microsoft.com/office/drawing/2014/main" id="{366D83C3-40C8-4AAD-B4E2-450D1CBF0E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9" y="0"/>
                <a:ext cx="477" cy="480"/>
                <a:chOff x="2339" y="0"/>
                <a:chExt cx="477" cy="480"/>
              </a:xfrm>
            </p:grpSpPr>
            <p:sp>
              <p:nvSpPr>
                <p:cNvPr id="53" name="Rectangle 20">
                  <a:extLst>
                    <a:ext uri="{FF2B5EF4-FFF2-40B4-BE49-F238E27FC236}">
                      <a16:creationId xmlns:a16="http://schemas.microsoft.com/office/drawing/2014/main" id="{B193EBB7-71BC-4EAB-80C6-8274D9B747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7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4" name="Rectangle 21">
                  <a:extLst>
                    <a:ext uri="{FF2B5EF4-FFF2-40B4-BE49-F238E27FC236}">
                      <a16:creationId xmlns:a16="http://schemas.microsoft.com/office/drawing/2014/main" id="{AC2FDAB1-68E8-45FA-B877-D8D005DD5B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4" name="Group 22">
                <a:extLst>
                  <a:ext uri="{FF2B5EF4-FFF2-40B4-BE49-F238E27FC236}">
                    <a16:creationId xmlns:a16="http://schemas.microsoft.com/office/drawing/2014/main" id="{19CDC7D9-107A-4E0D-AD6D-FB7B804FC5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6" y="0"/>
                <a:ext cx="477" cy="480"/>
                <a:chOff x="2816" y="0"/>
                <a:chExt cx="477" cy="480"/>
              </a:xfrm>
            </p:grpSpPr>
            <p:sp>
              <p:nvSpPr>
                <p:cNvPr id="51" name="Rectangle 23">
                  <a:extLst>
                    <a:ext uri="{FF2B5EF4-FFF2-40B4-BE49-F238E27FC236}">
                      <a16:creationId xmlns:a16="http://schemas.microsoft.com/office/drawing/2014/main" id="{9E6E1BF6-6924-4117-897D-946ACC7C9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4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2" name="Rectangle 24">
                  <a:extLst>
                    <a:ext uri="{FF2B5EF4-FFF2-40B4-BE49-F238E27FC236}">
                      <a16:creationId xmlns:a16="http://schemas.microsoft.com/office/drawing/2014/main" id="{52796C7B-0099-41F2-9949-28F698804F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6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5" name="Group 25">
                <a:extLst>
                  <a:ext uri="{FF2B5EF4-FFF2-40B4-BE49-F238E27FC236}">
                    <a16:creationId xmlns:a16="http://schemas.microsoft.com/office/drawing/2014/main" id="{AC3F1881-C6E5-4396-9B0C-1661135B97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3" y="0"/>
                <a:ext cx="477" cy="480"/>
                <a:chOff x="3293" y="0"/>
                <a:chExt cx="477" cy="480"/>
              </a:xfrm>
            </p:grpSpPr>
            <p:sp>
              <p:nvSpPr>
                <p:cNvPr id="49" name="Rectangle 26">
                  <a:extLst>
                    <a:ext uri="{FF2B5EF4-FFF2-40B4-BE49-F238E27FC236}">
                      <a16:creationId xmlns:a16="http://schemas.microsoft.com/office/drawing/2014/main" id="{894F533A-8FC7-45C6-99DA-DA1E04ACBA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1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0" name="Rectangle 27">
                  <a:extLst>
                    <a:ext uri="{FF2B5EF4-FFF2-40B4-BE49-F238E27FC236}">
                      <a16:creationId xmlns:a16="http://schemas.microsoft.com/office/drawing/2014/main" id="{17211FB5-9D5F-4E28-8F8F-20E989371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3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6" name="Group 28">
                <a:extLst>
                  <a:ext uri="{FF2B5EF4-FFF2-40B4-BE49-F238E27FC236}">
                    <a16:creationId xmlns:a16="http://schemas.microsoft.com/office/drawing/2014/main" id="{E59CFCE2-B9EF-49B7-9C1C-8CE64C8913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0" y="0"/>
                <a:ext cx="477" cy="480"/>
                <a:chOff x="3770" y="0"/>
                <a:chExt cx="477" cy="480"/>
              </a:xfrm>
            </p:grpSpPr>
            <p:sp>
              <p:nvSpPr>
                <p:cNvPr id="47" name="Rectangle 29">
                  <a:extLst>
                    <a:ext uri="{FF2B5EF4-FFF2-40B4-BE49-F238E27FC236}">
                      <a16:creationId xmlns:a16="http://schemas.microsoft.com/office/drawing/2014/main" id="{4FB8C1EE-1024-406C-89BD-7F7BBC0FC5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48" name="Rectangle 30">
                  <a:extLst>
                    <a:ext uri="{FF2B5EF4-FFF2-40B4-BE49-F238E27FC236}">
                      <a16:creationId xmlns:a16="http://schemas.microsoft.com/office/drawing/2014/main" id="{5B981D39-31B5-4228-A592-207FD74B28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0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</p:grpSp>
        <p:sp>
          <p:nvSpPr>
            <p:cNvPr id="38" name="Rectangle 31">
              <a:extLst>
                <a:ext uri="{FF2B5EF4-FFF2-40B4-BE49-F238E27FC236}">
                  <a16:creationId xmlns:a16="http://schemas.microsoft.com/office/drawing/2014/main" id="{6278B334-93E3-4238-8C85-0EAAA8E37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4253" cy="48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PE" sz="1647"/>
            </a:p>
          </p:txBody>
        </p:sp>
      </p:grpSp>
      <p:graphicFrame>
        <p:nvGraphicFramePr>
          <p:cNvPr id="63" name="Object 32">
            <a:extLst>
              <a:ext uri="{FF2B5EF4-FFF2-40B4-BE49-F238E27FC236}">
                <a16:creationId xmlns:a16="http://schemas.microsoft.com/office/drawing/2014/main" id="{EABA83A8-21DB-4526-AF79-E78751D5D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362654"/>
              </p:ext>
            </p:extLst>
          </p:nvPr>
        </p:nvGraphicFramePr>
        <p:xfrm>
          <a:off x="6068805" y="4517636"/>
          <a:ext cx="6364941" cy="4049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Drawing" r:id="rId4" imgW="7543800" imgH="4800600" progId="AutoCAD.Drawing.15">
                  <p:embed/>
                </p:oleObj>
              </mc:Choice>
              <mc:Fallback>
                <p:oleObj name="Drawing" r:id="rId4" imgW="7543800" imgH="4800600" progId="AutoCAD.Drawing.15">
                  <p:embed/>
                  <p:pic>
                    <p:nvPicPr>
                      <p:cNvPr id="63" name="Object 32">
                        <a:extLst>
                          <a:ext uri="{FF2B5EF4-FFF2-40B4-BE49-F238E27FC236}">
                            <a16:creationId xmlns:a16="http://schemas.microsoft.com/office/drawing/2014/main" id="{EABA83A8-21DB-4526-AF79-E78751D5D2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8805" y="4517636"/>
                        <a:ext cx="6364941" cy="4049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33">
            <a:extLst>
              <a:ext uri="{FF2B5EF4-FFF2-40B4-BE49-F238E27FC236}">
                <a16:creationId xmlns:a16="http://schemas.microsoft.com/office/drawing/2014/main" id="{F1958FE3-B571-45CF-98A1-9336E9D9C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2688" y="4607283"/>
            <a:ext cx="2439147" cy="671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PE" sz="2118">
                <a:latin typeface="Tahoma" panose="020B0604030504040204" pitchFamily="34" charset="0"/>
              </a:rPr>
              <a:t>A la salida:</a:t>
            </a:r>
          </a:p>
          <a:p>
            <a:r>
              <a:rPr lang="en-US" altLang="es-PE" sz="1647">
                <a:latin typeface="Tahoma" panose="020B0604030504040204" pitchFamily="34" charset="0"/>
              </a:rPr>
              <a:t>TEC</a:t>
            </a:r>
            <a:endParaRPr lang="es-ES" altLang="es-PE" sz="1647">
              <a:latin typeface="Tahoma" panose="020B0604030504040204" pitchFamily="34" charset="0"/>
            </a:endParaRPr>
          </a:p>
        </p:txBody>
      </p:sp>
      <p:sp>
        <p:nvSpPr>
          <p:cNvPr id="65" name="Text Box 34">
            <a:extLst>
              <a:ext uri="{FF2B5EF4-FFF2-40B4-BE49-F238E27FC236}">
                <a16:creationId xmlns:a16="http://schemas.microsoft.com/office/drawing/2014/main" id="{A1BFC1C6-0928-4DC5-B043-EC8E60A77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2688" y="5145165"/>
            <a:ext cx="2797735" cy="34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PE" sz="1647"/>
              <a:t>______________</a:t>
            </a:r>
            <a:endParaRPr lang="es-ES" altLang="es-PE" sz="1647"/>
          </a:p>
        </p:txBody>
      </p:sp>
      <p:sp>
        <p:nvSpPr>
          <p:cNvPr id="66" name="Text Box 35">
            <a:extLst>
              <a:ext uri="{FF2B5EF4-FFF2-40B4-BE49-F238E27FC236}">
                <a16:creationId xmlns:a16="http://schemas.microsoft.com/office/drawing/2014/main" id="{69686C55-70CC-4AE4-BA11-E02261A76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2688" y="5772695"/>
            <a:ext cx="3278462" cy="125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PE" sz="2118">
                <a:latin typeface="Tahoma" panose="020B0604030504040204" pitchFamily="34" charset="0"/>
              </a:rPr>
              <a:t>Decrementar en Uno</a:t>
            </a:r>
          </a:p>
          <a:p>
            <a:r>
              <a:rPr lang="en-US" altLang="es-PE" sz="2118">
                <a:latin typeface="Tahoma" panose="020B0604030504040204" pitchFamily="34" charset="0"/>
              </a:rPr>
              <a:t>los grados de Entrada de:</a:t>
            </a:r>
          </a:p>
          <a:p>
            <a:r>
              <a:rPr lang="en-US" altLang="es-PE" sz="1647">
                <a:latin typeface="Tahoma" panose="020B0604030504040204" pitchFamily="34" charset="0"/>
              </a:rPr>
              <a:t>ED</a:t>
            </a:r>
          </a:p>
          <a:p>
            <a:r>
              <a:rPr lang="en-US" altLang="es-PE" sz="1647">
                <a:latin typeface="Tahoma" panose="020B0604030504040204" pitchFamily="34" charset="0"/>
              </a:rPr>
              <a:t>COMP</a:t>
            </a:r>
            <a:endParaRPr lang="es-ES" altLang="es-PE" sz="1647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57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ctr" anchorCtr="0">
            <a:noAutofit/>
          </a:bodyPr>
          <a:lstStyle/>
          <a:p>
            <a:pPr algn="l"/>
            <a:r>
              <a:rPr lang="es-PE" sz="4800" b="1" dirty="0"/>
              <a:t>Ordenamiento Topológico </a:t>
            </a:r>
            <a:endParaRPr sz="5177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6" name="Group 5">
            <a:extLst>
              <a:ext uri="{FF2B5EF4-FFF2-40B4-BE49-F238E27FC236}">
                <a16:creationId xmlns:a16="http://schemas.microsoft.com/office/drawing/2014/main" id="{391C390F-30F2-4C9E-B1A9-320D6D1A77CE}"/>
              </a:ext>
            </a:extLst>
          </p:cNvPr>
          <p:cNvGrpSpPr>
            <a:grpSpLocks/>
          </p:cNvGrpSpPr>
          <p:nvPr/>
        </p:nvGrpSpPr>
        <p:grpSpPr bwMode="auto">
          <a:xfrm>
            <a:off x="7386629" y="3765177"/>
            <a:ext cx="7943104" cy="453839"/>
            <a:chOff x="-3" y="-3"/>
            <a:chExt cx="4253" cy="486"/>
          </a:xfrm>
        </p:grpSpPr>
        <p:grpSp>
          <p:nvGrpSpPr>
            <p:cNvPr id="37" name="Group 6">
              <a:extLst>
                <a:ext uri="{FF2B5EF4-FFF2-40B4-BE49-F238E27FC236}">
                  <a16:creationId xmlns:a16="http://schemas.microsoft.com/office/drawing/2014/main" id="{C69B1E69-891C-4E73-9F66-A4544BD721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247" cy="480"/>
              <a:chOff x="0" y="0"/>
              <a:chExt cx="4247" cy="480"/>
            </a:xfrm>
          </p:grpSpPr>
          <p:grpSp>
            <p:nvGrpSpPr>
              <p:cNvPr id="39" name="Group 7">
                <a:extLst>
                  <a:ext uri="{FF2B5EF4-FFF2-40B4-BE49-F238E27FC236}">
                    <a16:creationId xmlns:a16="http://schemas.microsoft.com/office/drawing/2014/main" id="{5EBFD559-5F32-4DA6-B2CA-A9BCD8B4D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859" cy="480"/>
                <a:chOff x="0" y="0"/>
                <a:chExt cx="859" cy="480"/>
              </a:xfrm>
            </p:grpSpPr>
            <p:sp>
              <p:nvSpPr>
                <p:cNvPr id="61" name="Rectangle 8">
                  <a:extLst>
                    <a:ext uri="{FF2B5EF4-FFF2-40B4-BE49-F238E27FC236}">
                      <a16:creationId xmlns:a16="http://schemas.microsoft.com/office/drawing/2014/main" id="{1D0AA556-9928-44C1-B448-EDABAA7164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803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2353">
                      <a:latin typeface="Tahoma" panose="020B0604030504040204" pitchFamily="34" charset="0"/>
                    </a:rPr>
                    <a:t>COLA:</a:t>
                  </a:r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62" name="Rectangle 9">
                  <a:extLst>
                    <a:ext uri="{FF2B5EF4-FFF2-40B4-BE49-F238E27FC236}">
                      <a16:creationId xmlns:a16="http://schemas.microsoft.com/office/drawing/2014/main" id="{00BA5A69-FFE5-41D3-BAD6-A03B3D89FE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0" name="Group 10">
                <a:extLst>
                  <a:ext uri="{FF2B5EF4-FFF2-40B4-BE49-F238E27FC236}">
                    <a16:creationId xmlns:a16="http://schemas.microsoft.com/office/drawing/2014/main" id="{BB72823F-EB3E-4D16-A8A1-3FD78A8CC3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9" y="0"/>
                <a:ext cx="526" cy="480"/>
                <a:chOff x="859" y="0"/>
                <a:chExt cx="526" cy="480"/>
              </a:xfrm>
            </p:grpSpPr>
            <p:sp>
              <p:nvSpPr>
                <p:cNvPr id="59" name="Rectangle 11">
                  <a:extLst>
                    <a:ext uri="{FF2B5EF4-FFF2-40B4-BE49-F238E27FC236}">
                      <a16:creationId xmlns:a16="http://schemas.microsoft.com/office/drawing/2014/main" id="{EF8B38AB-21CB-4B3D-A825-DF3DA14756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7" y="0"/>
                  <a:ext cx="47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TEC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60" name="Rectangle 12">
                  <a:extLst>
                    <a:ext uri="{FF2B5EF4-FFF2-40B4-BE49-F238E27FC236}">
                      <a16:creationId xmlns:a16="http://schemas.microsoft.com/office/drawing/2014/main" id="{2564A445-C9EF-46CB-8E20-26B3E07350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9" y="0"/>
                  <a:ext cx="5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1" name="Group 13">
                <a:extLst>
                  <a:ext uri="{FF2B5EF4-FFF2-40B4-BE49-F238E27FC236}">
                    <a16:creationId xmlns:a16="http://schemas.microsoft.com/office/drawing/2014/main" id="{EFAE2694-F395-4CEF-B178-B3194ED6F1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5" y="0"/>
                <a:ext cx="477" cy="480"/>
                <a:chOff x="1385" y="0"/>
                <a:chExt cx="477" cy="480"/>
              </a:xfrm>
            </p:grpSpPr>
            <p:sp>
              <p:nvSpPr>
                <p:cNvPr id="57" name="Rectangle 14">
                  <a:extLst>
                    <a:ext uri="{FF2B5EF4-FFF2-40B4-BE49-F238E27FC236}">
                      <a16:creationId xmlns:a16="http://schemas.microsoft.com/office/drawing/2014/main" id="{90F22C45-DA72-4278-902B-7DE4B63E41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3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882" b="1">
                      <a:latin typeface="Tahoma" panose="020B0604030504040204" pitchFamily="34" charset="0"/>
                    </a:rPr>
                    <a:t>ED</a:t>
                  </a:r>
                </a:p>
                <a:p>
                  <a:endParaRPr lang="es-PE" altLang="es-PE" sz="1882" b="1">
                    <a:latin typeface="Tahoma" panose="020B0604030504040204" pitchFamily="34" charset="0"/>
                  </a:endParaRPr>
                </a:p>
                <a:p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8" name="Rectangle 15">
                  <a:extLst>
                    <a:ext uri="{FF2B5EF4-FFF2-40B4-BE49-F238E27FC236}">
                      <a16:creationId xmlns:a16="http://schemas.microsoft.com/office/drawing/2014/main" id="{CEF87D28-149E-453F-B477-ABB78D20ED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5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2" name="Group 16">
                <a:extLst>
                  <a:ext uri="{FF2B5EF4-FFF2-40B4-BE49-F238E27FC236}">
                    <a16:creationId xmlns:a16="http://schemas.microsoft.com/office/drawing/2014/main" id="{CF3276D0-9193-4734-88F5-A2FC20E56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2" y="0"/>
                <a:ext cx="477" cy="480"/>
                <a:chOff x="1862" y="0"/>
                <a:chExt cx="477" cy="480"/>
              </a:xfrm>
            </p:grpSpPr>
            <p:sp>
              <p:nvSpPr>
                <p:cNvPr id="55" name="Rectangle 17">
                  <a:extLst>
                    <a:ext uri="{FF2B5EF4-FFF2-40B4-BE49-F238E27FC236}">
                      <a16:creationId xmlns:a16="http://schemas.microsoft.com/office/drawing/2014/main" id="{20D6B27D-4E4F-41B3-B807-1BC57F2278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6" name="Rectangle 18">
                  <a:extLst>
                    <a:ext uri="{FF2B5EF4-FFF2-40B4-BE49-F238E27FC236}">
                      <a16:creationId xmlns:a16="http://schemas.microsoft.com/office/drawing/2014/main" id="{CD344227-F8FD-42AD-B7AE-4F42F0C6F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62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3" name="Group 19">
                <a:extLst>
                  <a:ext uri="{FF2B5EF4-FFF2-40B4-BE49-F238E27FC236}">
                    <a16:creationId xmlns:a16="http://schemas.microsoft.com/office/drawing/2014/main" id="{218BA513-F0A6-4A6A-8606-570C57CCF5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9" y="0"/>
                <a:ext cx="477" cy="480"/>
                <a:chOff x="2339" y="0"/>
                <a:chExt cx="477" cy="480"/>
              </a:xfrm>
            </p:grpSpPr>
            <p:sp>
              <p:nvSpPr>
                <p:cNvPr id="53" name="Rectangle 20">
                  <a:extLst>
                    <a:ext uri="{FF2B5EF4-FFF2-40B4-BE49-F238E27FC236}">
                      <a16:creationId xmlns:a16="http://schemas.microsoft.com/office/drawing/2014/main" id="{563DAD14-34F7-472E-9E70-A4F79AA850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7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4" name="Rectangle 21">
                  <a:extLst>
                    <a:ext uri="{FF2B5EF4-FFF2-40B4-BE49-F238E27FC236}">
                      <a16:creationId xmlns:a16="http://schemas.microsoft.com/office/drawing/2014/main" id="{E9DB838E-717F-47D4-B611-988C3B75D8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4" name="Group 22">
                <a:extLst>
                  <a:ext uri="{FF2B5EF4-FFF2-40B4-BE49-F238E27FC236}">
                    <a16:creationId xmlns:a16="http://schemas.microsoft.com/office/drawing/2014/main" id="{56B72534-0445-4CF9-A68A-4BE5484BCF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6" y="0"/>
                <a:ext cx="477" cy="480"/>
                <a:chOff x="2816" y="0"/>
                <a:chExt cx="477" cy="480"/>
              </a:xfrm>
            </p:grpSpPr>
            <p:sp>
              <p:nvSpPr>
                <p:cNvPr id="51" name="Rectangle 23">
                  <a:extLst>
                    <a:ext uri="{FF2B5EF4-FFF2-40B4-BE49-F238E27FC236}">
                      <a16:creationId xmlns:a16="http://schemas.microsoft.com/office/drawing/2014/main" id="{B7689094-9EF2-4AAD-8F3D-7D107CA88E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4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2" name="Rectangle 24">
                  <a:extLst>
                    <a:ext uri="{FF2B5EF4-FFF2-40B4-BE49-F238E27FC236}">
                      <a16:creationId xmlns:a16="http://schemas.microsoft.com/office/drawing/2014/main" id="{7235B458-38B3-41B9-A62D-157BA3BBF2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6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5" name="Group 25">
                <a:extLst>
                  <a:ext uri="{FF2B5EF4-FFF2-40B4-BE49-F238E27FC236}">
                    <a16:creationId xmlns:a16="http://schemas.microsoft.com/office/drawing/2014/main" id="{6072AF79-75DA-4A77-AD52-A40D5D79C4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3" y="0"/>
                <a:ext cx="477" cy="480"/>
                <a:chOff x="3293" y="0"/>
                <a:chExt cx="477" cy="480"/>
              </a:xfrm>
            </p:grpSpPr>
            <p:sp>
              <p:nvSpPr>
                <p:cNvPr id="49" name="Rectangle 26">
                  <a:extLst>
                    <a:ext uri="{FF2B5EF4-FFF2-40B4-BE49-F238E27FC236}">
                      <a16:creationId xmlns:a16="http://schemas.microsoft.com/office/drawing/2014/main" id="{19ECCDB7-1756-492C-87CC-1027C15B35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1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0" name="Rectangle 27">
                  <a:extLst>
                    <a:ext uri="{FF2B5EF4-FFF2-40B4-BE49-F238E27FC236}">
                      <a16:creationId xmlns:a16="http://schemas.microsoft.com/office/drawing/2014/main" id="{AB535488-AF49-4D5D-BC78-95C6E1A6D8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3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6" name="Group 28">
                <a:extLst>
                  <a:ext uri="{FF2B5EF4-FFF2-40B4-BE49-F238E27FC236}">
                    <a16:creationId xmlns:a16="http://schemas.microsoft.com/office/drawing/2014/main" id="{5DF73A69-4199-49A3-830E-AA8193575F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0" y="0"/>
                <a:ext cx="477" cy="480"/>
                <a:chOff x="3770" y="0"/>
                <a:chExt cx="477" cy="480"/>
              </a:xfrm>
            </p:grpSpPr>
            <p:sp>
              <p:nvSpPr>
                <p:cNvPr id="47" name="Rectangle 29">
                  <a:extLst>
                    <a:ext uri="{FF2B5EF4-FFF2-40B4-BE49-F238E27FC236}">
                      <a16:creationId xmlns:a16="http://schemas.microsoft.com/office/drawing/2014/main" id="{B4805451-FECD-49C0-B08C-FF68CF7A5C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48" name="Rectangle 30">
                  <a:extLst>
                    <a:ext uri="{FF2B5EF4-FFF2-40B4-BE49-F238E27FC236}">
                      <a16:creationId xmlns:a16="http://schemas.microsoft.com/office/drawing/2014/main" id="{E0E11749-9BAF-431A-84C3-4295F1F929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0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</p:grpSp>
        <p:sp>
          <p:nvSpPr>
            <p:cNvPr id="38" name="Rectangle 31">
              <a:extLst>
                <a:ext uri="{FF2B5EF4-FFF2-40B4-BE49-F238E27FC236}">
                  <a16:creationId xmlns:a16="http://schemas.microsoft.com/office/drawing/2014/main" id="{19FBDFD3-A416-4E73-BF14-FB32CEA2F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4253" cy="48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PE" sz="1647"/>
            </a:p>
          </p:txBody>
        </p:sp>
      </p:grpSp>
      <p:graphicFrame>
        <p:nvGraphicFramePr>
          <p:cNvPr id="63" name="Object 32">
            <a:extLst>
              <a:ext uri="{FF2B5EF4-FFF2-40B4-BE49-F238E27FC236}">
                <a16:creationId xmlns:a16="http://schemas.microsoft.com/office/drawing/2014/main" id="{226498E8-FA84-45CE-8062-CEC9CE53B0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113958"/>
              </p:ext>
            </p:extLst>
          </p:nvPr>
        </p:nvGraphicFramePr>
        <p:xfrm>
          <a:off x="7386629" y="4572000"/>
          <a:ext cx="6902824" cy="408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Drawing" r:id="rId4" imgW="6724800" imgH="3981600" progId="AutoCAD.Drawing.15">
                  <p:embed/>
                </p:oleObj>
              </mc:Choice>
              <mc:Fallback>
                <p:oleObj name="Drawing" r:id="rId4" imgW="6724800" imgH="3981600" progId="AutoCAD.Drawing.15">
                  <p:embed/>
                  <p:pic>
                    <p:nvPicPr>
                      <p:cNvPr id="63" name="Object 32">
                        <a:extLst>
                          <a:ext uri="{FF2B5EF4-FFF2-40B4-BE49-F238E27FC236}">
                            <a16:creationId xmlns:a16="http://schemas.microsoft.com/office/drawing/2014/main" id="{226498E8-FA84-45CE-8062-CEC9CE53B0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6629" y="4572000"/>
                        <a:ext cx="6902824" cy="408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37974E69-05C9-8FF4-8210-668E0B169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50" y="3800459"/>
            <a:ext cx="5435367" cy="4454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PE" altLang="es-PE" sz="2400" dirty="0">
                <a:latin typeface="Tahoma" panose="020B0604030504040204" pitchFamily="34" charset="0"/>
              </a:rPr>
              <a:t>Mientras la Cola no sea vacía: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Sacar de la cola un Vértice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Colocarlo en el ordenamiento de salida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Decrementar en Uno el grado de entrada de sus vértices adyacentes y colocar en la Cola aquellos cuyos grados de entrada tomen valor Cero.</a:t>
            </a:r>
            <a:endParaRPr lang="es-PE" altLang="es-PE" sz="2400" dirty="0"/>
          </a:p>
        </p:txBody>
      </p:sp>
    </p:spTree>
    <p:extLst>
      <p:ext uri="{BB962C8B-B14F-4D97-AF65-F5344CB8AC3E}">
        <p14:creationId xmlns:p14="http://schemas.microsoft.com/office/powerpoint/2010/main" val="507612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ctr" anchorCtr="0">
            <a:noAutofit/>
          </a:bodyPr>
          <a:lstStyle/>
          <a:p>
            <a:pPr algn="l"/>
            <a:r>
              <a:rPr lang="es-PE" sz="5400" b="1" dirty="0"/>
              <a:t>Ordenamiento Topológico </a:t>
            </a:r>
            <a:endParaRPr sz="5177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68" name="Group 5">
            <a:extLst>
              <a:ext uri="{FF2B5EF4-FFF2-40B4-BE49-F238E27FC236}">
                <a16:creationId xmlns:a16="http://schemas.microsoft.com/office/drawing/2014/main" id="{E1D05D84-6521-44F9-9481-936A751D2400}"/>
              </a:ext>
            </a:extLst>
          </p:cNvPr>
          <p:cNvGrpSpPr>
            <a:grpSpLocks/>
          </p:cNvGrpSpPr>
          <p:nvPr/>
        </p:nvGrpSpPr>
        <p:grpSpPr bwMode="auto">
          <a:xfrm>
            <a:off x="6058421" y="3879564"/>
            <a:ext cx="7943104" cy="453839"/>
            <a:chOff x="-3" y="-3"/>
            <a:chExt cx="4253" cy="486"/>
          </a:xfrm>
        </p:grpSpPr>
        <p:grpSp>
          <p:nvGrpSpPr>
            <p:cNvPr id="69" name="Group 6">
              <a:extLst>
                <a:ext uri="{FF2B5EF4-FFF2-40B4-BE49-F238E27FC236}">
                  <a16:creationId xmlns:a16="http://schemas.microsoft.com/office/drawing/2014/main" id="{1319E6A6-8138-4089-BD7E-32A42AC633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247" cy="480"/>
              <a:chOff x="0" y="0"/>
              <a:chExt cx="4247" cy="480"/>
            </a:xfrm>
          </p:grpSpPr>
          <p:grpSp>
            <p:nvGrpSpPr>
              <p:cNvPr id="71" name="Group 7">
                <a:extLst>
                  <a:ext uri="{FF2B5EF4-FFF2-40B4-BE49-F238E27FC236}">
                    <a16:creationId xmlns:a16="http://schemas.microsoft.com/office/drawing/2014/main" id="{C8D5466B-88E3-4AC9-A8D7-09A60D5945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859" cy="480"/>
                <a:chOff x="0" y="0"/>
                <a:chExt cx="859" cy="480"/>
              </a:xfrm>
            </p:grpSpPr>
            <p:sp>
              <p:nvSpPr>
                <p:cNvPr id="94" name="Rectangle 8">
                  <a:extLst>
                    <a:ext uri="{FF2B5EF4-FFF2-40B4-BE49-F238E27FC236}">
                      <a16:creationId xmlns:a16="http://schemas.microsoft.com/office/drawing/2014/main" id="{424E1261-99EE-49EA-857B-ACBEA1BA8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803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2353">
                      <a:latin typeface="Tahoma" panose="020B0604030504040204" pitchFamily="34" charset="0"/>
                    </a:rPr>
                    <a:t>COLA:</a:t>
                  </a:r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95" name="Rectangle 9">
                  <a:extLst>
                    <a:ext uri="{FF2B5EF4-FFF2-40B4-BE49-F238E27FC236}">
                      <a16:creationId xmlns:a16="http://schemas.microsoft.com/office/drawing/2014/main" id="{077F1AD8-4F16-4C48-9623-F50E3868B5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72" name="Group 10">
                <a:extLst>
                  <a:ext uri="{FF2B5EF4-FFF2-40B4-BE49-F238E27FC236}">
                    <a16:creationId xmlns:a16="http://schemas.microsoft.com/office/drawing/2014/main" id="{9F3A2BCF-F4C2-46EE-B407-DDC85E5764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9" y="0"/>
                <a:ext cx="526" cy="480"/>
                <a:chOff x="859" y="0"/>
                <a:chExt cx="526" cy="480"/>
              </a:xfrm>
            </p:grpSpPr>
            <p:sp>
              <p:nvSpPr>
                <p:cNvPr id="92" name="Rectangle 11">
                  <a:extLst>
                    <a:ext uri="{FF2B5EF4-FFF2-40B4-BE49-F238E27FC236}">
                      <a16:creationId xmlns:a16="http://schemas.microsoft.com/office/drawing/2014/main" id="{D6F869C0-50C3-498D-AF6D-BCE4DBA20A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7" y="0"/>
                  <a:ext cx="47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TEC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93" name="Rectangle 12">
                  <a:extLst>
                    <a:ext uri="{FF2B5EF4-FFF2-40B4-BE49-F238E27FC236}">
                      <a16:creationId xmlns:a16="http://schemas.microsoft.com/office/drawing/2014/main" id="{298A8B7E-8D6A-4F02-9FB8-77A9F4EAAA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9" y="0"/>
                  <a:ext cx="5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73" name="Group 13">
                <a:extLst>
                  <a:ext uri="{FF2B5EF4-FFF2-40B4-BE49-F238E27FC236}">
                    <a16:creationId xmlns:a16="http://schemas.microsoft.com/office/drawing/2014/main" id="{7B2216BE-9014-4673-8B52-13A4BBC486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5" y="0"/>
                <a:ext cx="477" cy="480"/>
                <a:chOff x="1385" y="0"/>
                <a:chExt cx="477" cy="480"/>
              </a:xfrm>
            </p:grpSpPr>
            <p:sp>
              <p:nvSpPr>
                <p:cNvPr id="90" name="Rectangle 14">
                  <a:extLst>
                    <a:ext uri="{FF2B5EF4-FFF2-40B4-BE49-F238E27FC236}">
                      <a16:creationId xmlns:a16="http://schemas.microsoft.com/office/drawing/2014/main" id="{F5947D57-A04D-454F-9EDE-EDF8F3A39C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3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ED</a:t>
                  </a:r>
                </a:p>
                <a:p>
                  <a:endParaRPr lang="es-PE" altLang="es-PE" sz="1882" b="1">
                    <a:latin typeface="Tahoma" panose="020B0604030504040204" pitchFamily="34" charset="0"/>
                  </a:endParaRPr>
                </a:p>
                <a:p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91" name="Rectangle 15">
                  <a:extLst>
                    <a:ext uri="{FF2B5EF4-FFF2-40B4-BE49-F238E27FC236}">
                      <a16:creationId xmlns:a16="http://schemas.microsoft.com/office/drawing/2014/main" id="{74278FB6-35DF-4BA1-B473-2F154D45FB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5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74" name="Group 16">
                <a:extLst>
                  <a:ext uri="{FF2B5EF4-FFF2-40B4-BE49-F238E27FC236}">
                    <a16:creationId xmlns:a16="http://schemas.microsoft.com/office/drawing/2014/main" id="{0A1DAFB0-635A-48DE-8F23-244815793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2" y="0"/>
                <a:ext cx="477" cy="480"/>
                <a:chOff x="1862" y="0"/>
                <a:chExt cx="477" cy="480"/>
              </a:xfrm>
            </p:grpSpPr>
            <p:sp>
              <p:nvSpPr>
                <p:cNvPr id="88" name="Rectangle 17">
                  <a:extLst>
                    <a:ext uri="{FF2B5EF4-FFF2-40B4-BE49-F238E27FC236}">
                      <a16:creationId xmlns:a16="http://schemas.microsoft.com/office/drawing/2014/main" id="{6644D67F-E4EC-4F8D-877A-765A6A1CB3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89" name="Rectangle 18">
                  <a:extLst>
                    <a:ext uri="{FF2B5EF4-FFF2-40B4-BE49-F238E27FC236}">
                      <a16:creationId xmlns:a16="http://schemas.microsoft.com/office/drawing/2014/main" id="{3E3D4EEB-604C-4BF8-8ECC-3CA2B61F9C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62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75" name="Group 19">
                <a:extLst>
                  <a:ext uri="{FF2B5EF4-FFF2-40B4-BE49-F238E27FC236}">
                    <a16:creationId xmlns:a16="http://schemas.microsoft.com/office/drawing/2014/main" id="{8A7AFE11-5FFD-40E7-BBD1-3F6AECCA5C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9" y="0"/>
                <a:ext cx="477" cy="480"/>
                <a:chOff x="2339" y="0"/>
                <a:chExt cx="477" cy="480"/>
              </a:xfrm>
            </p:grpSpPr>
            <p:sp>
              <p:nvSpPr>
                <p:cNvPr id="86" name="Rectangle 20">
                  <a:extLst>
                    <a:ext uri="{FF2B5EF4-FFF2-40B4-BE49-F238E27FC236}">
                      <a16:creationId xmlns:a16="http://schemas.microsoft.com/office/drawing/2014/main" id="{5879C4C5-FCB9-493B-BE9B-098E10B40C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7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87" name="Rectangle 21">
                  <a:extLst>
                    <a:ext uri="{FF2B5EF4-FFF2-40B4-BE49-F238E27FC236}">
                      <a16:creationId xmlns:a16="http://schemas.microsoft.com/office/drawing/2014/main" id="{10EC9B81-15F7-4D1B-9ABF-D5383FEB45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76" name="Group 22">
                <a:extLst>
                  <a:ext uri="{FF2B5EF4-FFF2-40B4-BE49-F238E27FC236}">
                    <a16:creationId xmlns:a16="http://schemas.microsoft.com/office/drawing/2014/main" id="{732D6CA5-12F8-4A0D-A9D7-3D18C5EAAA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6" y="0"/>
                <a:ext cx="477" cy="480"/>
                <a:chOff x="2816" y="0"/>
                <a:chExt cx="477" cy="480"/>
              </a:xfrm>
            </p:grpSpPr>
            <p:sp>
              <p:nvSpPr>
                <p:cNvPr id="84" name="Rectangle 23">
                  <a:extLst>
                    <a:ext uri="{FF2B5EF4-FFF2-40B4-BE49-F238E27FC236}">
                      <a16:creationId xmlns:a16="http://schemas.microsoft.com/office/drawing/2014/main" id="{214AF03A-2884-4921-B6AC-FBFC5B341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4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85" name="Rectangle 24">
                  <a:extLst>
                    <a:ext uri="{FF2B5EF4-FFF2-40B4-BE49-F238E27FC236}">
                      <a16:creationId xmlns:a16="http://schemas.microsoft.com/office/drawing/2014/main" id="{9FD006D0-4EEF-4459-B029-622449510C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6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77" name="Group 25">
                <a:extLst>
                  <a:ext uri="{FF2B5EF4-FFF2-40B4-BE49-F238E27FC236}">
                    <a16:creationId xmlns:a16="http://schemas.microsoft.com/office/drawing/2014/main" id="{A9ADD9AF-4403-4645-A560-50162A84D7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3" y="0"/>
                <a:ext cx="477" cy="480"/>
                <a:chOff x="3293" y="0"/>
                <a:chExt cx="477" cy="480"/>
              </a:xfrm>
            </p:grpSpPr>
            <p:sp>
              <p:nvSpPr>
                <p:cNvPr id="82" name="Rectangle 26">
                  <a:extLst>
                    <a:ext uri="{FF2B5EF4-FFF2-40B4-BE49-F238E27FC236}">
                      <a16:creationId xmlns:a16="http://schemas.microsoft.com/office/drawing/2014/main" id="{FB23609A-BE40-4BD5-856A-3C49CF7CF9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1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83" name="Rectangle 27">
                  <a:extLst>
                    <a:ext uri="{FF2B5EF4-FFF2-40B4-BE49-F238E27FC236}">
                      <a16:creationId xmlns:a16="http://schemas.microsoft.com/office/drawing/2014/main" id="{91653CBA-EF01-493B-9EEC-BF306F5C14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3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78" name="Group 28">
                <a:extLst>
                  <a:ext uri="{FF2B5EF4-FFF2-40B4-BE49-F238E27FC236}">
                    <a16:creationId xmlns:a16="http://schemas.microsoft.com/office/drawing/2014/main" id="{541CAC6D-59B5-4623-9B44-65A1B0F55E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0" y="0"/>
                <a:ext cx="477" cy="480"/>
                <a:chOff x="3770" y="0"/>
                <a:chExt cx="477" cy="480"/>
              </a:xfrm>
            </p:grpSpPr>
            <p:sp>
              <p:nvSpPr>
                <p:cNvPr id="80" name="Rectangle 29">
                  <a:extLst>
                    <a:ext uri="{FF2B5EF4-FFF2-40B4-BE49-F238E27FC236}">
                      <a16:creationId xmlns:a16="http://schemas.microsoft.com/office/drawing/2014/main" id="{76F5BE1E-8DE7-46C2-A4C3-1BA1B5A99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412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81" name="Rectangle 30">
                  <a:extLst>
                    <a:ext uri="{FF2B5EF4-FFF2-40B4-BE49-F238E27FC236}">
                      <a16:creationId xmlns:a16="http://schemas.microsoft.com/office/drawing/2014/main" id="{AC0D28F9-896B-47E8-A55A-594DFB8F8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0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</p:grpSp>
        <p:sp>
          <p:nvSpPr>
            <p:cNvPr id="70" name="Rectangle 31">
              <a:extLst>
                <a:ext uri="{FF2B5EF4-FFF2-40B4-BE49-F238E27FC236}">
                  <a16:creationId xmlns:a16="http://schemas.microsoft.com/office/drawing/2014/main" id="{603E6416-A5C8-4E05-94FE-F454B26B0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4253" cy="48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PE" sz="1647"/>
            </a:p>
          </p:txBody>
        </p:sp>
      </p:grpSp>
      <p:graphicFrame>
        <p:nvGraphicFramePr>
          <p:cNvPr id="96" name="Object 32">
            <a:extLst>
              <a:ext uri="{FF2B5EF4-FFF2-40B4-BE49-F238E27FC236}">
                <a16:creationId xmlns:a16="http://schemas.microsoft.com/office/drawing/2014/main" id="{63EAAEF4-7F3E-4FFF-B7F2-267094C20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881903"/>
              </p:ext>
            </p:extLst>
          </p:nvPr>
        </p:nvGraphicFramePr>
        <p:xfrm>
          <a:off x="6058421" y="4686387"/>
          <a:ext cx="6902824" cy="408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Drawing" r:id="rId4" imgW="6724800" imgH="3981600" progId="AutoCAD.Drawing.15">
                  <p:embed/>
                </p:oleObj>
              </mc:Choice>
              <mc:Fallback>
                <p:oleObj name="Drawing" r:id="rId4" imgW="6724800" imgH="3981600" progId="AutoCAD.Drawing.15">
                  <p:embed/>
                  <p:pic>
                    <p:nvPicPr>
                      <p:cNvPr id="96" name="Object 32">
                        <a:extLst>
                          <a:ext uri="{FF2B5EF4-FFF2-40B4-BE49-F238E27FC236}">
                            <a16:creationId xmlns:a16="http://schemas.microsoft.com/office/drawing/2014/main" id="{63EAAEF4-7F3E-4FFF-B7F2-267094C20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8421" y="4686387"/>
                        <a:ext cx="6902824" cy="408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Text Box 33">
            <a:extLst>
              <a:ext uri="{FF2B5EF4-FFF2-40B4-BE49-F238E27FC236}">
                <a16:creationId xmlns:a16="http://schemas.microsoft.com/office/drawing/2014/main" id="{F3720684-3F40-47FA-BCCA-3B4E75498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2304" y="4686387"/>
            <a:ext cx="2439147" cy="671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PE" sz="2118">
                <a:latin typeface="Tahoma" panose="020B0604030504040204" pitchFamily="34" charset="0"/>
              </a:rPr>
              <a:t>A la salida:</a:t>
            </a:r>
          </a:p>
          <a:p>
            <a:r>
              <a:rPr lang="en-US" altLang="es-PE" sz="1647">
                <a:latin typeface="Tahoma" panose="020B0604030504040204" pitchFamily="34" charset="0"/>
              </a:rPr>
              <a:t>ED</a:t>
            </a:r>
            <a:endParaRPr lang="es-ES" altLang="es-PE" sz="1647">
              <a:latin typeface="Tahoma" panose="020B0604030504040204" pitchFamily="34" charset="0"/>
            </a:endParaRPr>
          </a:p>
        </p:txBody>
      </p:sp>
      <p:sp>
        <p:nvSpPr>
          <p:cNvPr id="98" name="Text Box 34">
            <a:extLst>
              <a:ext uri="{FF2B5EF4-FFF2-40B4-BE49-F238E27FC236}">
                <a16:creationId xmlns:a16="http://schemas.microsoft.com/office/drawing/2014/main" id="{E8608956-CBC3-43A2-BD1A-AE9F69285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2304" y="5224269"/>
            <a:ext cx="2797735" cy="34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s-PE" sz="1647"/>
              <a:t>______________</a:t>
            </a:r>
            <a:endParaRPr lang="es-ES" altLang="es-PE" sz="1647"/>
          </a:p>
        </p:txBody>
      </p:sp>
      <p:sp>
        <p:nvSpPr>
          <p:cNvPr id="99" name="Text Box 35">
            <a:extLst>
              <a:ext uri="{FF2B5EF4-FFF2-40B4-BE49-F238E27FC236}">
                <a16:creationId xmlns:a16="http://schemas.microsoft.com/office/drawing/2014/main" id="{06358FD5-A571-4372-BEBA-A41EF31DA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92304" y="5851799"/>
            <a:ext cx="3278462" cy="1504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s-PE" sz="2118">
                <a:latin typeface="Tahoma" panose="020B0604030504040204" pitchFamily="34" charset="0"/>
              </a:rPr>
              <a:t>Decrementar en Uno</a:t>
            </a:r>
          </a:p>
          <a:p>
            <a:r>
              <a:rPr lang="en-US" altLang="es-PE" sz="2118">
                <a:latin typeface="Tahoma" panose="020B0604030504040204" pitchFamily="34" charset="0"/>
              </a:rPr>
              <a:t>los grados de Entrada de:</a:t>
            </a:r>
          </a:p>
          <a:p>
            <a:r>
              <a:rPr lang="en-US" altLang="es-PE" sz="1647">
                <a:latin typeface="Tahoma" panose="020B0604030504040204" pitchFamily="34" charset="0"/>
              </a:rPr>
              <a:t>BD</a:t>
            </a:r>
          </a:p>
          <a:p>
            <a:r>
              <a:rPr lang="en-US" altLang="es-PE" sz="1647">
                <a:latin typeface="Tahoma" panose="020B0604030504040204" pitchFamily="34" charset="0"/>
              </a:rPr>
              <a:t>TAL</a:t>
            </a:r>
          </a:p>
          <a:p>
            <a:r>
              <a:rPr lang="en-US" altLang="es-PE" sz="1647">
                <a:latin typeface="Tahoma" panose="020B0604030504040204" pitchFamily="34" charset="0"/>
              </a:rPr>
              <a:t>ADES</a:t>
            </a:r>
            <a:endParaRPr lang="es-ES" altLang="es-PE" sz="1647">
              <a:latin typeface="Tahoma" panose="020B060403050404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CB597C-F5FA-1451-B1C0-BBE9B38D4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50" y="3800459"/>
            <a:ext cx="5435367" cy="4454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PE" altLang="es-PE" sz="2400" dirty="0">
                <a:latin typeface="Tahoma" panose="020B0604030504040204" pitchFamily="34" charset="0"/>
              </a:rPr>
              <a:t>Mientras la Cola no sea vacía: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Sacar de la cola un Vértice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Colocarlo en el ordenamiento de salida</a:t>
            </a:r>
            <a:endParaRPr lang="es-PE" altLang="es-PE" sz="2400" dirty="0"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buFontTx/>
              <a:buChar char="•"/>
            </a:pPr>
            <a:r>
              <a:rPr lang="es-PE" altLang="es-PE" sz="2400" dirty="0">
                <a:latin typeface="Tahoma" panose="020B0604030504040204" pitchFamily="34" charset="0"/>
              </a:rPr>
              <a:t>  Decrementar en Uno el grado de entrada de sus vértices adyacentes y colocar en la Cola aquellos cuyos grados de entrada tomen valor Cero.</a:t>
            </a:r>
            <a:endParaRPr lang="es-PE" altLang="es-PE" sz="2400" dirty="0"/>
          </a:p>
        </p:txBody>
      </p:sp>
    </p:spTree>
    <p:extLst>
      <p:ext uri="{BB962C8B-B14F-4D97-AF65-F5344CB8AC3E}">
        <p14:creationId xmlns:p14="http://schemas.microsoft.com/office/powerpoint/2010/main" val="2694078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07559" tIns="53765" rIns="107559" bIns="53765" anchor="ctr" anchorCtr="0">
            <a:noAutofit/>
          </a:bodyPr>
          <a:lstStyle/>
          <a:p>
            <a:pPr algn="l"/>
            <a:r>
              <a:rPr lang="es-PE" sz="4800" b="1" dirty="0"/>
              <a:t>Ordenamiento Topológico </a:t>
            </a:r>
            <a:endParaRPr sz="5177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A0DCD005-856E-44C1-B886-78D357F4B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934" y="3931674"/>
            <a:ext cx="3688462" cy="563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PE" altLang="es-PE" sz="2824" u="sng" dirty="0">
                <a:latin typeface="Tahoma" panose="020B0604030504040204" pitchFamily="34" charset="0"/>
              </a:rPr>
              <a:t>Configuración</a:t>
            </a:r>
            <a:r>
              <a:rPr lang="es-PE" altLang="es-PE" sz="3059" u="sng" dirty="0">
                <a:latin typeface="Tahoma" panose="020B0604030504040204" pitchFamily="34" charset="0"/>
              </a:rPr>
              <a:t> Final</a:t>
            </a:r>
            <a:endParaRPr lang="es-PE" altLang="es-PE" sz="1647" u="sng" dirty="0"/>
          </a:p>
        </p:txBody>
      </p:sp>
      <p:grpSp>
        <p:nvGrpSpPr>
          <p:cNvPr id="33" name="Group 5">
            <a:extLst>
              <a:ext uri="{FF2B5EF4-FFF2-40B4-BE49-F238E27FC236}">
                <a16:creationId xmlns:a16="http://schemas.microsoft.com/office/drawing/2014/main" id="{147FC2E3-9181-45D2-9DFC-AEF3377547EB}"/>
              </a:ext>
            </a:extLst>
          </p:cNvPr>
          <p:cNvGrpSpPr>
            <a:grpSpLocks/>
          </p:cNvGrpSpPr>
          <p:nvPr/>
        </p:nvGrpSpPr>
        <p:grpSpPr bwMode="auto">
          <a:xfrm>
            <a:off x="4314117" y="3161341"/>
            <a:ext cx="9771529" cy="453839"/>
            <a:chOff x="-3" y="-3"/>
            <a:chExt cx="4253" cy="486"/>
          </a:xfrm>
        </p:grpSpPr>
        <p:grpSp>
          <p:nvGrpSpPr>
            <p:cNvPr id="34" name="Group 6">
              <a:extLst>
                <a:ext uri="{FF2B5EF4-FFF2-40B4-BE49-F238E27FC236}">
                  <a16:creationId xmlns:a16="http://schemas.microsoft.com/office/drawing/2014/main" id="{80129F48-3794-4C1C-8E3A-029220E5DC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247" cy="480"/>
              <a:chOff x="0" y="0"/>
              <a:chExt cx="4247" cy="480"/>
            </a:xfrm>
          </p:grpSpPr>
          <p:grpSp>
            <p:nvGrpSpPr>
              <p:cNvPr id="36" name="Group 7">
                <a:extLst>
                  <a:ext uri="{FF2B5EF4-FFF2-40B4-BE49-F238E27FC236}">
                    <a16:creationId xmlns:a16="http://schemas.microsoft.com/office/drawing/2014/main" id="{FFA35050-CA89-4E2B-8E6C-1831C7DEC1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859" cy="480"/>
                <a:chOff x="0" y="0"/>
                <a:chExt cx="859" cy="480"/>
              </a:xfrm>
            </p:grpSpPr>
            <p:sp>
              <p:nvSpPr>
                <p:cNvPr id="58" name="Rectangle 8">
                  <a:extLst>
                    <a:ext uri="{FF2B5EF4-FFF2-40B4-BE49-F238E27FC236}">
                      <a16:creationId xmlns:a16="http://schemas.microsoft.com/office/drawing/2014/main" id="{3B6E6AA4-DF25-46D7-8907-751DE707E8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" y="0"/>
                  <a:ext cx="803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2353">
                      <a:latin typeface="Tahoma" panose="020B0604030504040204" pitchFamily="34" charset="0"/>
                    </a:rPr>
                    <a:t>COLA</a:t>
                  </a:r>
                  <a:r>
                    <a:rPr lang="en-US" altLang="es-PE" sz="2353">
                      <a:latin typeface="Tahoma" panose="020B0604030504040204" pitchFamily="34" charset="0"/>
                    </a:rPr>
                    <a:t>(vac</a:t>
                  </a:r>
                  <a:r>
                    <a:rPr lang="es-PE" altLang="es-PE" sz="2353">
                      <a:latin typeface="Tahoma" panose="020B0604030504040204" pitchFamily="34" charset="0"/>
                    </a:rPr>
                    <a:t>ía</a:t>
                  </a:r>
                  <a:r>
                    <a:rPr lang="en-US" altLang="es-PE" sz="2353">
                      <a:latin typeface="Tahoma" panose="020B0604030504040204" pitchFamily="34" charset="0"/>
                    </a:rPr>
                    <a:t>)</a:t>
                  </a:r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9" name="Rectangle 9">
                  <a:extLst>
                    <a:ext uri="{FF2B5EF4-FFF2-40B4-BE49-F238E27FC236}">
                      <a16:creationId xmlns:a16="http://schemas.microsoft.com/office/drawing/2014/main" id="{14A18B2A-E73E-4B35-B54F-E5247D1A18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9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37" name="Group 10">
                <a:extLst>
                  <a:ext uri="{FF2B5EF4-FFF2-40B4-BE49-F238E27FC236}">
                    <a16:creationId xmlns:a16="http://schemas.microsoft.com/office/drawing/2014/main" id="{5E4E7764-97B5-4B2D-9797-D3C696A55A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9" y="0"/>
                <a:ext cx="526" cy="480"/>
                <a:chOff x="859" y="0"/>
                <a:chExt cx="526" cy="480"/>
              </a:xfrm>
            </p:grpSpPr>
            <p:sp>
              <p:nvSpPr>
                <p:cNvPr id="56" name="Rectangle 11">
                  <a:extLst>
                    <a:ext uri="{FF2B5EF4-FFF2-40B4-BE49-F238E27FC236}">
                      <a16:creationId xmlns:a16="http://schemas.microsoft.com/office/drawing/2014/main" id="{528D2234-720B-4DD2-B548-6C8827457D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87" y="0"/>
                  <a:ext cx="47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bIns="0"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TEC</a:t>
                  </a: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7" name="Rectangle 12">
                  <a:extLst>
                    <a:ext uri="{FF2B5EF4-FFF2-40B4-BE49-F238E27FC236}">
                      <a16:creationId xmlns:a16="http://schemas.microsoft.com/office/drawing/2014/main" id="{C9A80217-78EB-485C-9F8A-63294E5EA4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9" y="0"/>
                  <a:ext cx="526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38" name="Group 13">
                <a:extLst>
                  <a:ext uri="{FF2B5EF4-FFF2-40B4-BE49-F238E27FC236}">
                    <a16:creationId xmlns:a16="http://schemas.microsoft.com/office/drawing/2014/main" id="{091B9342-2E48-4095-9FB1-B68CC5052C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5" y="0"/>
                <a:ext cx="477" cy="480"/>
                <a:chOff x="1385" y="0"/>
                <a:chExt cx="477" cy="480"/>
              </a:xfrm>
            </p:grpSpPr>
            <p:sp>
              <p:nvSpPr>
                <p:cNvPr id="54" name="Rectangle 14">
                  <a:extLst>
                    <a:ext uri="{FF2B5EF4-FFF2-40B4-BE49-F238E27FC236}">
                      <a16:creationId xmlns:a16="http://schemas.microsoft.com/office/drawing/2014/main" id="{536D803F-076D-409C-AE10-7A11D53212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3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ED</a:t>
                  </a:r>
                </a:p>
                <a:p>
                  <a:endParaRPr lang="es-PE" altLang="es-PE" sz="1882" b="1">
                    <a:latin typeface="Tahoma" panose="020B0604030504040204" pitchFamily="34" charset="0"/>
                  </a:endParaRPr>
                </a:p>
                <a:p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5" name="Rectangle 15">
                  <a:extLst>
                    <a:ext uri="{FF2B5EF4-FFF2-40B4-BE49-F238E27FC236}">
                      <a16:creationId xmlns:a16="http://schemas.microsoft.com/office/drawing/2014/main" id="{DE323C5A-E233-4FD1-AECC-A3FB84B74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85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39" name="Group 16">
                <a:extLst>
                  <a:ext uri="{FF2B5EF4-FFF2-40B4-BE49-F238E27FC236}">
                    <a16:creationId xmlns:a16="http://schemas.microsoft.com/office/drawing/2014/main" id="{64838521-324D-419C-9AFD-31E8FCC999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2" y="0"/>
                <a:ext cx="477" cy="480"/>
                <a:chOff x="1862" y="0"/>
                <a:chExt cx="477" cy="480"/>
              </a:xfrm>
            </p:grpSpPr>
            <p:sp>
              <p:nvSpPr>
                <p:cNvPr id="52" name="Rectangle 17">
                  <a:extLst>
                    <a:ext uri="{FF2B5EF4-FFF2-40B4-BE49-F238E27FC236}">
                      <a16:creationId xmlns:a16="http://schemas.microsoft.com/office/drawing/2014/main" id="{376C2CE5-D5BD-4EF8-B79B-C3C4CA9EE0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90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BD</a:t>
                  </a:r>
                  <a:r>
                    <a:rPr lang="es-PE" altLang="es-PE" sz="1412" i="1">
                      <a:cs typeface="Times New Roman" panose="02020603050405020304" pitchFamily="18" charset="0"/>
                    </a:rPr>
                    <a:t> </a:t>
                  </a:r>
                </a:p>
                <a:p>
                  <a:pPr eaLnBrk="0" hangingPunct="0"/>
                  <a:endParaRPr lang="es-PE" altLang="es-PE" sz="1647" i="1"/>
                </a:p>
              </p:txBody>
            </p:sp>
            <p:sp>
              <p:nvSpPr>
                <p:cNvPr id="53" name="Rectangle 18">
                  <a:extLst>
                    <a:ext uri="{FF2B5EF4-FFF2-40B4-BE49-F238E27FC236}">
                      <a16:creationId xmlns:a16="http://schemas.microsoft.com/office/drawing/2014/main" id="{0F8922E0-4A54-43DC-A02E-396430F279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62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0" name="Group 19">
                <a:extLst>
                  <a:ext uri="{FF2B5EF4-FFF2-40B4-BE49-F238E27FC236}">
                    <a16:creationId xmlns:a16="http://schemas.microsoft.com/office/drawing/2014/main" id="{84911B69-6DBC-448C-8563-FD1FC6FF3B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9" y="0"/>
                <a:ext cx="477" cy="480"/>
                <a:chOff x="2339" y="0"/>
                <a:chExt cx="477" cy="480"/>
              </a:xfrm>
            </p:grpSpPr>
            <p:sp>
              <p:nvSpPr>
                <p:cNvPr id="50" name="Rectangle 20">
                  <a:extLst>
                    <a:ext uri="{FF2B5EF4-FFF2-40B4-BE49-F238E27FC236}">
                      <a16:creationId xmlns:a16="http://schemas.microsoft.com/office/drawing/2014/main" id="{19C5CAD3-839A-4D53-886B-2B92572BF9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7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TAL</a:t>
                  </a:r>
                </a:p>
                <a:p>
                  <a:endParaRPr lang="es-PE" altLang="es-PE" sz="1412" i="1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51" name="Rectangle 21">
                  <a:extLst>
                    <a:ext uri="{FF2B5EF4-FFF2-40B4-BE49-F238E27FC236}">
                      <a16:creationId xmlns:a16="http://schemas.microsoft.com/office/drawing/2014/main" id="{5C561898-765E-413C-A6AB-334C62353B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39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1" name="Group 22">
                <a:extLst>
                  <a:ext uri="{FF2B5EF4-FFF2-40B4-BE49-F238E27FC236}">
                    <a16:creationId xmlns:a16="http://schemas.microsoft.com/office/drawing/2014/main" id="{6B6DC410-EBC7-4EE1-8744-1351E21CC5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6" y="0"/>
                <a:ext cx="477" cy="480"/>
                <a:chOff x="2816" y="0"/>
                <a:chExt cx="477" cy="480"/>
              </a:xfrm>
            </p:grpSpPr>
            <p:sp>
              <p:nvSpPr>
                <p:cNvPr id="48" name="Rectangle 23">
                  <a:extLst>
                    <a:ext uri="{FF2B5EF4-FFF2-40B4-BE49-F238E27FC236}">
                      <a16:creationId xmlns:a16="http://schemas.microsoft.com/office/drawing/2014/main" id="{0C052E4A-3D14-44C5-88B5-EACDC08A01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44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ADES</a:t>
                  </a:r>
                </a:p>
                <a:p>
                  <a:endParaRPr lang="es-PE" altLang="es-PE" sz="1412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s-PE" altLang="es-PE" sz="1647"/>
                </a:p>
              </p:txBody>
            </p:sp>
            <p:sp>
              <p:nvSpPr>
                <p:cNvPr id="49" name="Rectangle 24">
                  <a:extLst>
                    <a:ext uri="{FF2B5EF4-FFF2-40B4-BE49-F238E27FC236}">
                      <a16:creationId xmlns:a16="http://schemas.microsoft.com/office/drawing/2014/main" id="{0D99541C-4441-4F5F-8BFA-34E1553F3F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6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2" name="Group 25">
                <a:extLst>
                  <a:ext uri="{FF2B5EF4-FFF2-40B4-BE49-F238E27FC236}">
                    <a16:creationId xmlns:a16="http://schemas.microsoft.com/office/drawing/2014/main" id="{468370FB-68D8-47E5-BEE5-1B07ED47EE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3" y="0"/>
                <a:ext cx="477" cy="480"/>
                <a:chOff x="3293" y="0"/>
                <a:chExt cx="477" cy="480"/>
              </a:xfrm>
            </p:grpSpPr>
            <p:sp>
              <p:nvSpPr>
                <p:cNvPr id="46" name="Rectangle 26">
                  <a:extLst>
                    <a:ext uri="{FF2B5EF4-FFF2-40B4-BE49-F238E27FC236}">
                      <a16:creationId xmlns:a16="http://schemas.microsoft.com/office/drawing/2014/main" id="{1CC44EDA-EFE0-4D36-BEDC-BF5B66F7DD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21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s-PE" altLang="es-PE" sz="1882" i="1">
                      <a:latin typeface="Tahoma" panose="020B0604030504040204" pitchFamily="34" charset="0"/>
                    </a:rPr>
                    <a:t>ABD</a:t>
                  </a:r>
                </a:p>
              </p:txBody>
            </p:sp>
            <p:sp>
              <p:nvSpPr>
                <p:cNvPr id="47" name="Rectangle 27">
                  <a:extLst>
                    <a:ext uri="{FF2B5EF4-FFF2-40B4-BE49-F238E27FC236}">
                      <a16:creationId xmlns:a16="http://schemas.microsoft.com/office/drawing/2014/main" id="{F2ED6C76-BF42-4D88-953F-A0E71E9A5A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3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  <p:grpSp>
            <p:nvGrpSpPr>
              <p:cNvPr id="43" name="Group 28">
                <a:extLst>
                  <a:ext uri="{FF2B5EF4-FFF2-40B4-BE49-F238E27FC236}">
                    <a16:creationId xmlns:a16="http://schemas.microsoft.com/office/drawing/2014/main" id="{424F55C8-0370-4799-A17C-18B19DF7F0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0" y="0"/>
                <a:ext cx="477" cy="480"/>
                <a:chOff x="3770" y="0"/>
                <a:chExt cx="477" cy="480"/>
              </a:xfrm>
            </p:grpSpPr>
            <p:sp>
              <p:nvSpPr>
                <p:cNvPr id="44" name="Rectangle 29">
                  <a:extLst>
                    <a:ext uri="{FF2B5EF4-FFF2-40B4-BE49-F238E27FC236}">
                      <a16:creationId xmlns:a16="http://schemas.microsoft.com/office/drawing/2014/main" id="{9F798FF3-3355-4DD5-8F92-AB70335E4A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8" y="0"/>
                  <a:ext cx="421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hangingPunct="0"/>
                  <a:r>
                    <a:rPr lang="es-PE" altLang="es-PE" sz="1882" i="1">
                      <a:latin typeface="Tahoma" panose="020B0604030504040204" pitchFamily="34" charset="0"/>
                    </a:rPr>
                    <a:t>COMP</a:t>
                  </a:r>
                </a:p>
              </p:txBody>
            </p:sp>
            <p:sp>
              <p:nvSpPr>
                <p:cNvPr id="45" name="Rectangle 30">
                  <a:extLst>
                    <a:ext uri="{FF2B5EF4-FFF2-40B4-BE49-F238E27FC236}">
                      <a16:creationId xmlns:a16="http://schemas.microsoft.com/office/drawing/2014/main" id="{5678CCF7-9BE6-4924-8006-9E244A5A8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0" y="0"/>
                  <a:ext cx="477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PE" sz="1647"/>
                </a:p>
              </p:txBody>
            </p:sp>
          </p:grpSp>
        </p:grpSp>
        <p:sp>
          <p:nvSpPr>
            <p:cNvPr id="35" name="Rectangle 31">
              <a:extLst>
                <a:ext uri="{FF2B5EF4-FFF2-40B4-BE49-F238E27FC236}">
                  <a16:creationId xmlns:a16="http://schemas.microsoft.com/office/drawing/2014/main" id="{86D41687-9EDD-4AAB-9F7A-98E01AE7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4253" cy="48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PE" sz="1647"/>
            </a:p>
          </p:txBody>
        </p:sp>
      </p:grpSp>
      <p:sp>
        <p:nvSpPr>
          <p:cNvPr id="60" name="Rectangle 32">
            <a:extLst>
              <a:ext uri="{FF2B5EF4-FFF2-40B4-BE49-F238E27FC236}">
                <a16:creationId xmlns:a16="http://schemas.microsoft.com/office/drawing/2014/main" id="{508A44B0-FAFB-4910-B595-C84764751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1389" y="3032608"/>
            <a:ext cx="184731" cy="381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s-PE" altLang="es-PE" sz="1882" b="1">
              <a:latin typeface="Tahoma" panose="020B0604030504040204" pitchFamily="34" charset="0"/>
            </a:endParaRPr>
          </a:p>
        </p:txBody>
      </p:sp>
      <p:graphicFrame>
        <p:nvGraphicFramePr>
          <p:cNvPr id="61" name="Object 33">
            <a:extLst>
              <a:ext uri="{FF2B5EF4-FFF2-40B4-BE49-F238E27FC236}">
                <a16:creationId xmlns:a16="http://schemas.microsoft.com/office/drawing/2014/main" id="{18CF40F0-4340-4078-97C6-536909B3AD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31561"/>
              </p:ext>
            </p:extLst>
          </p:nvPr>
        </p:nvGraphicFramePr>
        <p:xfrm>
          <a:off x="5055452" y="3879104"/>
          <a:ext cx="9323294" cy="5264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Drawing" r:id="rId4" imgW="6305400" imgH="3562200" progId="AutoCAD.Drawing.15">
                  <p:embed/>
                </p:oleObj>
              </mc:Choice>
              <mc:Fallback>
                <p:oleObj name="Drawing" r:id="rId4" imgW="6305400" imgH="3562200" progId="AutoCAD.Drawing.15">
                  <p:embed/>
                  <p:pic>
                    <p:nvPicPr>
                      <p:cNvPr id="61" name="Object 33">
                        <a:extLst>
                          <a:ext uri="{FF2B5EF4-FFF2-40B4-BE49-F238E27FC236}">
                            <a16:creationId xmlns:a16="http://schemas.microsoft.com/office/drawing/2014/main" id="{18CF40F0-4340-4078-97C6-536909B3AD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5452" y="3879104"/>
                        <a:ext cx="9323294" cy="5264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">
            <a:extLst>
              <a:ext uri="{FF2B5EF4-FFF2-40B4-BE49-F238E27FC236}">
                <a16:creationId xmlns:a16="http://schemas.microsoft.com/office/drawing/2014/main" id="{8E62FB50-A6CB-4F13-9DB2-2F11A0EB05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976142"/>
              </p:ext>
            </p:extLst>
          </p:nvPr>
        </p:nvGraphicFramePr>
        <p:xfrm>
          <a:off x="11525156" y="5913587"/>
          <a:ext cx="4735491" cy="323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Drawing" r:id="rId6" imgW="7543800" imgH="4800600" progId="AutoCAD.Drawing.15">
                  <p:embed/>
                </p:oleObj>
              </mc:Choice>
              <mc:Fallback>
                <p:oleObj name="Drawing" r:id="rId6" imgW="7543800" imgH="4800600" progId="AutoCAD.Drawing.15">
                  <p:embed/>
                  <p:pic>
                    <p:nvPicPr>
                      <p:cNvPr id="62" name="Object 6">
                        <a:extLst>
                          <a:ext uri="{FF2B5EF4-FFF2-40B4-BE49-F238E27FC236}">
                            <a16:creationId xmlns:a16="http://schemas.microsoft.com/office/drawing/2014/main" id="{8E62FB50-A6CB-4F13-9DB2-2F11A0EB05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156" y="5913587"/>
                        <a:ext cx="4735491" cy="323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737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4"/>
          <p:cNvSpPr txBox="1"/>
          <p:nvPr/>
        </p:nvSpPr>
        <p:spPr>
          <a:xfrm>
            <a:off x="884050" y="3070950"/>
            <a:ext cx="14487900" cy="30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s-PE" sz="6800" b="1" i="0" u="none" strike="noStrike" cap="none">
                <a:solidFill>
                  <a:srgbClr val="FFFFFF"/>
                </a:solidFill>
              </a:rPr>
              <a:t>Welcome to </a:t>
            </a:r>
            <a:br>
              <a:rPr lang="es-PE" sz="6800" b="1" i="0" u="none" strike="noStrike" cap="none">
                <a:solidFill>
                  <a:srgbClr val="FFFFFF"/>
                </a:solidFill>
              </a:rPr>
            </a:br>
            <a:r>
              <a:rPr lang="es-PE" sz="6800" b="1">
                <a:solidFill>
                  <a:srgbClr val="FFFFFF"/>
                </a:solidFill>
              </a:rPr>
              <a:t>Algorithms and Data Structures</a:t>
            </a:r>
            <a:r>
              <a:rPr lang="es-PE" sz="6800" b="1" i="0" u="none" strike="noStrike" cap="none">
                <a:solidFill>
                  <a:srgbClr val="FFFFFF"/>
                </a:solidFill>
              </a:rPr>
              <a:t>! - CS</a:t>
            </a:r>
            <a:r>
              <a:rPr lang="es-PE" sz="6800" b="1">
                <a:solidFill>
                  <a:srgbClr val="FFFFFF"/>
                </a:solidFill>
              </a:rPr>
              <a:t>2100</a:t>
            </a:r>
            <a:r>
              <a:rPr lang="es-PE" sz="6800" b="1" i="0" u="none" strike="noStrike" cap="none">
                <a:solidFill>
                  <a:srgbClr val="FFFFFF"/>
                </a:solidFill>
              </a:rPr>
              <a:t> </a:t>
            </a:r>
            <a:endParaRPr sz="7200" b="1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5" name="Google Shape;515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1313" y="0"/>
            <a:ext cx="3114600" cy="14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2634</TotalTime>
  <Words>436</Words>
  <Application>Microsoft Office PowerPoint</Application>
  <PresentationFormat>Personalizado</PresentationFormat>
  <Paragraphs>110</Paragraphs>
  <Slides>12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Material</vt:lpstr>
      <vt:lpstr>Presentación de PowerPoint</vt:lpstr>
      <vt:lpstr>Ordenamiento Topológico </vt:lpstr>
      <vt:lpstr>Ordenamiento Topológico </vt:lpstr>
      <vt:lpstr>Ordenamiento Topológico </vt:lpstr>
      <vt:lpstr>Ordenamiento Topológico </vt:lpstr>
      <vt:lpstr>Ordenamiento Topológico </vt:lpstr>
      <vt:lpstr>Ordenamiento Topológico </vt:lpstr>
      <vt:lpstr>Ordenamiento Topológico </vt:lpstr>
      <vt:lpstr>Ordenamiento Topológico </vt:lpstr>
      <vt:lpstr>Ordenamiento Topológico </vt:lpstr>
      <vt:lpstr>Ordenamiento Topológico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heider sanchez</cp:lastModifiedBy>
  <cp:revision>68</cp:revision>
  <dcterms:modified xsi:type="dcterms:W3CDTF">2022-10-10T15:34:07Z</dcterms:modified>
</cp:coreProperties>
</file>