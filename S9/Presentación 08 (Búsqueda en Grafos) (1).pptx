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9144000" cx="16256000"/>
  <p:notesSz cx="16256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Tahoma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hAHquPrleLA0L4fOprgZgYdamS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D1A475-AE43-4F53-9FEE-A8AB8CC612C3}">
  <a:tblStyle styleId="{C6D1A475-AE43-4F53-9FEE-A8AB8CC612C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Tahoma-bold.fntdata"/><Relationship Id="rId50" Type="http://schemas.openxmlformats.org/officeDocument/2006/relationships/font" Target="fonts/Tahoma-regular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9207500" y="0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9207500" y="8685213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ackoverflow.com/questions/6799172/negative-weights-using-dijkstras-algorithm" TargetMode="External"/><Relationship Id="rId3" Type="http://schemas.openxmlformats.org/officeDocument/2006/relationships/hyperlink" Target="https://cs.stackexchange.com/questions/19771/why-does-dijkstras-algorithm-fail-on-a-negative-weighted-graphs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ackoverflow.com/questions/6799172/negative-weights-using-dijkstras-algorithm" TargetMode="External"/><Relationship Id="rId3" Type="http://schemas.openxmlformats.org/officeDocument/2006/relationships/hyperlink" Target="https://cs.stackexchange.com/questions/19771/why-does-dijkstras-algorithm-fail-on-a-negative-weighted-graphs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7" name="Google Shape;257;p15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4" name="Google Shape;264;p16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 u="sng">
                <a:solidFill>
                  <a:schemeClr val="hlink"/>
                </a:solidFill>
                <a:hlinkClick r:id="rId2"/>
              </a:rPr>
              <a:t>Negative weights using Dijkstra's Algorithm - Stack Overflow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 u="sng">
                <a:solidFill>
                  <a:schemeClr val="hlink"/>
                </a:solidFill>
                <a:hlinkClick r:id="rId3"/>
              </a:rPr>
              <a:t>https://cs.stackexchange.com/questions/19771/why-does-dijkstras-algorithm-fail-on-a-negative-weighted-graphs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9" name="Google Shape;279;p1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8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 u="sng">
                <a:solidFill>
                  <a:schemeClr val="hlink"/>
                </a:solidFill>
                <a:hlinkClick r:id="rId2"/>
              </a:rPr>
              <a:t>https://stackoverflow.com/questions/6799172/negative-weights-using-dijkstras-algorithm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PE" u="sng">
                <a:solidFill>
                  <a:schemeClr val="hlink"/>
                </a:solidFill>
                <a:hlinkClick r:id="rId3"/>
              </a:rPr>
              <a:t>https://cs.stackexchange.com/questions/19771/why-does-dijkstras-algorithm-fail-on-a-negative-weighted-graphs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16" name="Google Shape;316;p18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2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4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12" name="Google Shape;412;p24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5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0" name="Google Shape;420;p25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7" name="Google Shape;42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36" name="Google Shape;436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44" name="Google Shape;44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2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4" name="Google Shape;454;p2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0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63" name="Google Shape;463;p30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31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8" name="Google Shape;478;p31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6" name="Google Shape;486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6" name="Google Shape;49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05" name="Google Shape;505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15" name="Google Shape;51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24" name="Google Shape;524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7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37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32" name="Google Shape;532;p37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38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48" name="Google Shape;548;p38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9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39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8" name="Google Shape;568;p39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0:notes"/>
          <p:cNvSpPr/>
          <p:nvPr>
            <p:ph idx="2" type="sldImg"/>
          </p:nvPr>
        </p:nvSpPr>
        <p:spPr>
          <a:xfrm>
            <a:off x="5080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40:notes"/>
          <p:cNvSpPr txBox="1"/>
          <p:nvPr>
            <p:ph idx="1" type="body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90" name="Google Shape;590;p40:notes"/>
          <p:cNvSpPr txBox="1"/>
          <p:nvPr>
            <p:ph idx="12" type="sldNum"/>
          </p:nvPr>
        </p:nvSpPr>
        <p:spPr>
          <a:xfrm>
            <a:off x="9207500" y="8685213"/>
            <a:ext cx="704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2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42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2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3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43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4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4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4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5"/>
          <p:cNvSpPr txBox="1"/>
          <p:nvPr>
            <p:ph type="title"/>
          </p:nvPr>
        </p:nvSpPr>
        <p:spPr>
          <a:xfrm>
            <a:off x="812800" y="0"/>
            <a:ext cx="15172201" cy="10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2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2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" type="body"/>
          </p:nvPr>
        </p:nvSpPr>
        <p:spPr>
          <a:xfrm>
            <a:off x="2102554" y="2690282"/>
            <a:ext cx="13795200" cy="5469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558800" lvl="0" marL="457200" marR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520700" lvl="1" marL="914400" marR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Roboto"/>
              <a:buChar char="○"/>
              <a:defRPr b="0" i="0" sz="4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476250" lvl="2" marL="13716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Roboto"/>
              <a:buChar char="■"/>
              <a:defRPr b="0" i="0" sz="3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4381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●"/>
              <a:defRPr b="0" i="0" sz="3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43815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Roboto"/>
              <a:buChar char="○"/>
              <a:defRPr b="0" i="0" sz="3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5588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5588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●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5588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○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5588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oboto"/>
              <a:buChar char="■"/>
              <a:defRPr b="0" i="0" sz="5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1" name="Google Shape;31;p45"/>
          <p:cNvSpPr txBox="1"/>
          <p:nvPr>
            <p:ph idx="10" type="dt"/>
          </p:nvPr>
        </p:nvSpPr>
        <p:spPr>
          <a:xfrm>
            <a:off x="2065866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5"/>
          <p:cNvSpPr txBox="1"/>
          <p:nvPr>
            <p:ph idx="11" type="ftr"/>
          </p:nvPr>
        </p:nvSpPr>
        <p:spPr>
          <a:xfrm>
            <a:off x="6502400" y="8322733"/>
            <a:ext cx="5125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5"/>
          <p:cNvSpPr txBox="1"/>
          <p:nvPr>
            <p:ph idx="12" type="sldNum"/>
          </p:nvPr>
        </p:nvSpPr>
        <p:spPr>
          <a:xfrm>
            <a:off x="12519377" y="8322733"/>
            <a:ext cx="3364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6"/>
          <p:cNvSpPr txBox="1"/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" name="Google Shape;36;p46"/>
          <p:cNvSpPr txBox="1"/>
          <p:nvPr>
            <p:ph idx="1" type="subTitle"/>
          </p:nvPr>
        </p:nvSpPr>
        <p:spPr>
          <a:xfrm>
            <a:off x="2438400" y="5120639"/>
            <a:ext cx="11379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46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46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47"/>
          <p:cNvSpPr txBox="1"/>
          <p:nvPr>
            <p:ph idx="11" type="ftr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47"/>
          <p:cNvSpPr txBox="1"/>
          <p:nvPr>
            <p:ph idx="10" type="dt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47"/>
          <p:cNvSpPr txBox="1"/>
          <p:nvPr>
            <p:ph idx="12" type="sldNum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 txBox="1"/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7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/>
          <p:nvPr/>
        </p:nvSpPr>
        <p:spPr>
          <a:xfrm flipH="1" rot="10800000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9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9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49"/>
          <p:cNvSpPr txBox="1"/>
          <p:nvPr>
            <p:ph idx="1" type="body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49"/>
          <p:cNvSpPr txBox="1"/>
          <p:nvPr>
            <p:ph idx="2" type="body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49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0"/>
          <p:cNvSpPr txBox="1"/>
          <p:nvPr/>
        </p:nvSpPr>
        <p:spPr>
          <a:xfrm flipH="1" rot="10800000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/>
          <p:nvPr/>
        </p:nvSpPr>
        <p:spPr>
          <a:xfrm rot="-5400000">
            <a:off x="1349666" y="4475400"/>
            <a:ext cx="91440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0"/>
          <p:cNvSpPr txBox="1"/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50"/>
          <p:cNvSpPr txBox="1"/>
          <p:nvPr>
            <p:ph idx="1" type="body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619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619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619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619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619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619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619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50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1"/>
          <p:cNvSpPr txBox="1"/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0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51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 txBox="1"/>
          <p:nvPr/>
        </p:nvSpPr>
        <p:spPr>
          <a:xfrm flipH="1" rot="10800000">
            <a:off x="0" y="-133"/>
            <a:ext cx="16256101" cy="834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2"/>
          <p:cNvSpPr/>
          <p:nvPr/>
        </p:nvSpPr>
        <p:spPr>
          <a:xfrm flipH="1" rot="10800000">
            <a:off x="0" y="8218211"/>
            <a:ext cx="16256101" cy="131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2"/>
          <p:cNvSpPr txBox="1"/>
          <p:nvPr>
            <p:ph idx="1" type="body"/>
          </p:nvPr>
        </p:nvSpPr>
        <p:spPr>
          <a:xfrm>
            <a:off x="101600" y="8349911"/>
            <a:ext cx="14901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52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3"/>
          <p:cNvSpPr txBox="1"/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b="0" i="0" sz="2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53"/>
          <p:cNvSpPr txBox="1"/>
          <p:nvPr>
            <p:ph idx="1" type="body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algn="ctr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algn="ctr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3" name="Google Shape;73;p53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4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5"/>
          <p:cNvSpPr txBox="1"/>
          <p:nvPr>
            <p:ph idx="1" type="body"/>
          </p:nvPr>
        </p:nvSpPr>
        <p:spPr>
          <a:xfrm>
            <a:off x="745067" y="1811995"/>
            <a:ext cx="14698132" cy="653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5"/>
          <p:cNvSpPr txBox="1"/>
          <p:nvPr>
            <p:ph type="title"/>
          </p:nvPr>
        </p:nvSpPr>
        <p:spPr>
          <a:xfrm>
            <a:off x="745068" y="287995"/>
            <a:ext cx="13810960" cy="947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5"/>
          <p:cNvSpPr txBox="1"/>
          <p:nvPr>
            <p:ph idx="12" type="sldNum"/>
          </p:nvPr>
        </p:nvSpPr>
        <p:spPr>
          <a:xfrm>
            <a:off x="14556026" y="8475134"/>
            <a:ext cx="887173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b="0" i="0" sz="3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marR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marR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b="0" i="0" sz="2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cs.usfca.edu/~galles/visualization/DFS.html" TargetMode="External"/><Relationship Id="rId5" Type="http://schemas.openxmlformats.org/officeDocument/2006/relationships/hyperlink" Target="https://visualgo.net/es/dfsbf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www.cs.usfca.edu/~galles/visualization/BFS.html" TargetMode="External"/><Relationship Id="rId5" Type="http://schemas.openxmlformats.org/officeDocument/2006/relationships/hyperlink" Target="https://visualgo.net/es/dfsbf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84050" y="3070950"/>
            <a:ext cx="14487900" cy="30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Welcome to </a:t>
            </a:r>
            <a:b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PE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 and Data Structures! - CS2100 </a:t>
            </a:r>
            <a:endParaRPr b="1" i="0" sz="72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en grafos</a:t>
            </a:r>
            <a:endParaRPr b="1"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refiere a la exploración en un grafo.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Cada manera de explorar un grafo puede utilizar una estructura de apoyo diferente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El peor de los casos es O(|V|²)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Para cada caso se utilizará memoria como ayuda. Recordando los vértices que ya han sido visitados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tiene varias aplicaciones: encontrar los vértices conexos, encontrar ciclos, caminos más cortos, etc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8338" y="3577563"/>
            <a:ext cx="5057775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en grafos</a:t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8338" y="3577563"/>
            <a:ext cx="5057775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838928" y="3411700"/>
            <a:ext cx="8695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La idea básica es ir expandiendo un árbol de estados al generar sucesores (estados) de un vértice ya visitado.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Cada estado es evaluado para saber si ya cumplimos con nuestro objetivo.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debe usar alguna heurística para generar sucesores, como el siguiente vértice al que se llega con menor peso, o uno aleatorio.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en profundidad (DFS)</a:t>
            </a:r>
            <a:endParaRPr b="1"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928" y="3411700"/>
            <a:ext cx="84051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Para explorar un grafo de esta manera vamos a necesitar una pila (stack) 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DFS puede ser implementado de manera recursiva o iterativa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es-PE" sz="2200">
                <a:solidFill>
                  <a:srgbClr val="000000"/>
                </a:solidFill>
              </a:rPr>
              <a:t>Elige cualquier vértice u, y agrégalo al stack marcándolo como visitado</a:t>
            </a:r>
            <a:endParaRPr sz="22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r>
              <a:rPr lang="es-PE" sz="1800">
                <a:solidFill>
                  <a:srgbClr val="000000"/>
                </a:solidFill>
              </a:rPr>
              <a:t>Desde u, si hay algún vértice v que no haya sido visitado agrégalo al stack y continúa la búsqueda desde v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r>
              <a:rPr lang="es-PE" sz="1800">
                <a:solidFill>
                  <a:srgbClr val="000000"/>
                </a:solidFill>
              </a:rPr>
              <a:t>De otra forma, remueve el vértice u del stack y continúa desde el siguiente en la pila</a:t>
            </a:r>
            <a:endParaRPr sz="18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es-PE" sz="2200">
                <a:solidFill>
                  <a:srgbClr val="000000"/>
                </a:solidFill>
              </a:rPr>
              <a:t>Continúa el proceso hasta que no hayan más vértices que visitar</a:t>
            </a:r>
            <a:endParaRPr sz="2200">
              <a:solidFill>
                <a:srgbClr val="000000"/>
              </a:solidFill>
            </a:endParaRPr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4028" y="4010313"/>
            <a:ext cx="6707173" cy="36207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4"/>
          <p:cNvCxnSpPr/>
          <p:nvPr/>
        </p:nvCxnSpPr>
        <p:spPr>
          <a:xfrm flipH="1" rot="10800000">
            <a:off x="9635200" y="5264600"/>
            <a:ext cx="554100" cy="1095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4"/>
          <p:cNvCxnSpPr/>
          <p:nvPr/>
        </p:nvCxnSpPr>
        <p:spPr>
          <a:xfrm flipH="1" rot="10800000">
            <a:off x="10516850" y="4710425"/>
            <a:ext cx="1070700" cy="3024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4"/>
          <p:cNvCxnSpPr/>
          <p:nvPr/>
        </p:nvCxnSpPr>
        <p:spPr>
          <a:xfrm flipH="1">
            <a:off x="11171875" y="4886875"/>
            <a:ext cx="579300" cy="2241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4"/>
          <p:cNvCxnSpPr/>
          <p:nvPr/>
        </p:nvCxnSpPr>
        <p:spPr>
          <a:xfrm flipH="1" rot="10800000">
            <a:off x="11297750" y="5869375"/>
            <a:ext cx="1435800" cy="13098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4"/>
          <p:cNvCxnSpPr/>
          <p:nvPr/>
        </p:nvCxnSpPr>
        <p:spPr>
          <a:xfrm flipH="1" rot="10800000">
            <a:off x="13136625" y="4408400"/>
            <a:ext cx="1650000" cy="11964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4"/>
          <p:cNvCxnSpPr/>
          <p:nvPr/>
        </p:nvCxnSpPr>
        <p:spPr>
          <a:xfrm>
            <a:off x="15063675" y="4521625"/>
            <a:ext cx="516300" cy="11085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4"/>
          <p:cNvCxnSpPr/>
          <p:nvPr/>
        </p:nvCxnSpPr>
        <p:spPr>
          <a:xfrm flipH="1">
            <a:off x="14635425" y="5957450"/>
            <a:ext cx="818700" cy="5037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1373325" y="7330325"/>
            <a:ext cx="1776000" cy="126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en profundidad (DFS)</a:t>
            </a:r>
            <a:endParaRPr b="1"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4028" y="4010313"/>
            <a:ext cx="6707173" cy="36207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5"/>
          <p:cNvCxnSpPr/>
          <p:nvPr/>
        </p:nvCxnSpPr>
        <p:spPr>
          <a:xfrm flipH="1" rot="10800000">
            <a:off x="9635200" y="5264600"/>
            <a:ext cx="554100" cy="1095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5"/>
          <p:cNvCxnSpPr/>
          <p:nvPr/>
        </p:nvCxnSpPr>
        <p:spPr>
          <a:xfrm flipH="1" rot="10800000">
            <a:off x="10516850" y="4710425"/>
            <a:ext cx="1070700" cy="3024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5"/>
          <p:cNvCxnSpPr/>
          <p:nvPr/>
        </p:nvCxnSpPr>
        <p:spPr>
          <a:xfrm flipH="1">
            <a:off x="11171875" y="4886875"/>
            <a:ext cx="579300" cy="2241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5"/>
          <p:cNvCxnSpPr/>
          <p:nvPr/>
        </p:nvCxnSpPr>
        <p:spPr>
          <a:xfrm flipH="1" rot="10800000">
            <a:off x="11297750" y="5869375"/>
            <a:ext cx="1435800" cy="13098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5"/>
          <p:cNvCxnSpPr/>
          <p:nvPr/>
        </p:nvCxnSpPr>
        <p:spPr>
          <a:xfrm flipH="1" rot="10800000">
            <a:off x="13136625" y="4408400"/>
            <a:ext cx="1650000" cy="11964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5"/>
          <p:cNvCxnSpPr/>
          <p:nvPr/>
        </p:nvCxnSpPr>
        <p:spPr>
          <a:xfrm>
            <a:off x="15063675" y="4521625"/>
            <a:ext cx="516300" cy="11085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5"/>
          <p:cNvCxnSpPr/>
          <p:nvPr/>
        </p:nvCxnSpPr>
        <p:spPr>
          <a:xfrm flipH="1">
            <a:off x="14635425" y="5957450"/>
            <a:ext cx="818700" cy="5037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5"/>
          <p:cNvCxnSpPr/>
          <p:nvPr/>
        </p:nvCxnSpPr>
        <p:spPr>
          <a:xfrm>
            <a:off x="11373325" y="7330325"/>
            <a:ext cx="1776000" cy="126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 txBox="1"/>
          <p:nvPr/>
        </p:nvSpPr>
        <p:spPr>
          <a:xfrm>
            <a:off x="921112" y="3721868"/>
            <a:ext cx="812733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PE" sz="18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Graph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1" lang="es-PE" sz="18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CE33C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PE" sz="18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visited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1" lang="es-PE" sz="18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1" lang="es-PE" sz="18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CE33C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PE" sz="18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1" lang="es-PE" sz="18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0" lang="es-PE" sz="18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PE" sz="18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Graph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s-PE" sz="18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visited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1" lang="es-PE" sz="18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1" lang="es-PE" sz="1800" u="none" cap="none" strike="noStrike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//add to solution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18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adjacent to v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1" lang="es-PE" sz="18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0" lang="es-PE" sz="18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8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PE" sz="18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j</a:t>
            </a: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7421414" y="7328886"/>
            <a:ext cx="19248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O(|V|+|E|) 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4680763" y="8372056"/>
            <a:ext cx="8128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https://www.cs.usfca.edu/~galles/visualization/DFS.html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https://visualgo.net/es/dfsbfs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en amplitud (BFS)</a:t>
            </a:r>
            <a:endParaRPr b="1"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838928" y="3411700"/>
            <a:ext cx="84051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Para explorar un grafo de esta manera vamos a necesitar una cola (queue)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El tamaño de la queue puede llegar a ser O(|V|)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es-PE" sz="2200">
                <a:solidFill>
                  <a:srgbClr val="000000"/>
                </a:solidFill>
              </a:rPr>
              <a:t>Elige cualquier vértice u, y agrégalo a la queue marcándolo como visitado</a:t>
            </a:r>
            <a:endParaRPr sz="22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r>
              <a:rPr lang="es-PE" sz="1800">
                <a:solidFill>
                  <a:srgbClr val="000000"/>
                </a:solidFill>
              </a:rPr>
              <a:t>Pop el vértice v en la cima de la queue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r>
              <a:rPr lang="es-PE" sz="1800">
                <a:solidFill>
                  <a:srgbClr val="000000"/>
                </a:solidFill>
              </a:rPr>
              <a:t>Agrega todos los vértices adyacentes a v que no hayan sido visitados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r>
              <a:rPr lang="es-PE" sz="1800">
                <a:solidFill>
                  <a:srgbClr val="000000"/>
                </a:solidFill>
              </a:rPr>
              <a:t>Marca como visitados todos los vértices agregados a la queue</a:t>
            </a:r>
            <a:endParaRPr sz="18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es-PE" sz="2200">
                <a:solidFill>
                  <a:srgbClr val="000000"/>
                </a:solidFill>
              </a:rPr>
              <a:t>Continúa el proceso hasta que no hayan más vértices que visitar</a:t>
            </a:r>
            <a:endParaRPr sz="2200">
              <a:solidFill>
                <a:srgbClr val="000000"/>
              </a:solidFill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4028" y="4010313"/>
            <a:ext cx="6707173" cy="36207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6"/>
          <p:cNvCxnSpPr/>
          <p:nvPr/>
        </p:nvCxnSpPr>
        <p:spPr>
          <a:xfrm flipH="1" rot="10800000">
            <a:off x="9660400" y="5289800"/>
            <a:ext cx="528900" cy="10707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6"/>
          <p:cNvCxnSpPr/>
          <p:nvPr/>
        </p:nvCxnSpPr>
        <p:spPr>
          <a:xfrm>
            <a:off x="9761150" y="6675375"/>
            <a:ext cx="1133700" cy="5541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6"/>
          <p:cNvCxnSpPr/>
          <p:nvPr/>
        </p:nvCxnSpPr>
        <p:spPr>
          <a:xfrm flipH="1" rot="10800000">
            <a:off x="9761150" y="5781150"/>
            <a:ext cx="2947200" cy="717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6"/>
          <p:cNvCxnSpPr/>
          <p:nvPr/>
        </p:nvCxnSpPr>
        <p:spPr>
          <a:xfrm flipH="1" rot="10800000">
            <a:off x="10529450" y="4697825"/>
            <a:ext cx="1070700" cy="3024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 flipH="1" rot="10800000">
            <a:off x="13136625" y="4433300"/>
            <a:ext cx="1662600" cy="1158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13136625" y="5844100"/>
            <a:ext cx="1108500" cy="6423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6"/>
          <p:cNvCxnSpPr/>
          <p:nvPr/>
        </p:nvCxnSpPr>
        <p:spPr>
          <a:xfrm flipH="1" rot="10800000">
            <a:off x="11373325" y="7305125"/>
            <a:ext cx="1776000" cy="126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6"/>
          <p:cNvCxnSpPr/>
          <p:nvPr/>
        </p:nvCxnSpPr>
        <p:spPr>
          <a:xfrm>
            <a:off x="15063675" y="4509025"/>
            <a:ext cx="491100" cy="11211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en amplitud (BFS)</a:t>
            </a:r>
            <a:endParaRPr b="1"/>
          </a:p>
        </p:txBody>
      </p:sp>
      <p:pic>
        <p:nvPicPr>
          <p:cNvPr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4028" y="4010313"/>
            <a:ext cx="6707173" cy="36207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7"/>
          <p:cNvCxnSpPr/>
          <p:nvPr/>
        </p:nvCxnSpPr>
        <p:spPr>
          <a:xfrm flipH="1" rot="10800000">
            <a:off x="9660400" y="5289800"/>
            <a:ext cx="528900" cy="10707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7"/>
          <p:cNvCxnSpPr/>
          <p:nvPr/>
        </p:nvCxnSpPr>
        <p:spPr>
          <a:xfrm>
            <a:off x="9761150" y="6675375"/>
            <a:ext cx="1133700" cy="5541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7"/>
          <p:cNvCxnSpPr/>
          <p:nvPr/>
        </p:nvCxnSpPr>
        <p:spPr>
          <a:xfrm flipH="1" rot="10800000">
            <a:off x="9761150" y="5781150"/>
            <a:ext cx="2947200" cy="717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7"/>
          <p:cNvCxnSpPr/>
          <p:nvPr/>
        </p:nvCxnSpPr>
        <p:spPr>
          <a:xfrm flipH="1" rot="10800000">
            <a:off x="10529450" y="4697825"/>
            <a:ext cx="1070700" cy="3024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7"/>
          <p:cNvCxnSpPr/>
          <p:nvPr/>
        </p:nvCxnSpPr>
        <p:spPr>
          <a:xfrm flipH="1" rot="10800000">
            <a:off x="13136625" y="4433300"/>
            <a:ext cx="1662600" cy="1158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7"/>
          <p:cNvCxnSpPr/>
          <p:nvPr/>
        </p:nvCxnSpPr>
        <p:spPr>
          <a:xfrm>
            <a:off x="13136625" y="5844100"/>
            <a:ext cx="1108500" cy="6423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7"/>
          <p:cNvCxnSpPr/>
          <p:nvPr/>
        </p:nvCxnSpPr>
        <p:spPr>
          <a:xfrm flipH="1" rot="10800000">
            <a:off x="11373325" y="7305125"/>
            <a:ext cx="1776000" cy="126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7"/>
          <p:cNvCxnSpPr/>
          <p:nvPr/>
        </p:nvCxnSpPr>
        <p:spPr>
          <a:xfrm>
            <a:off x="15063675" y="4509025"/>
            <a:ext cx="491100" cy="11211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7"/>
          <p:cNvSpPr txBox="1"/>
          <p:nvPr/>
        </p:nvSpPr>
        <p:spPr>
          <a:xfrm>
            <a:off x="808808" y="3139278"/>
            <a:ext cx="8127330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BFS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Graph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CE33C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PE" sz="16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visited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CE33C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PE" sz="16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BFS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i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Grafo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Queue </a:t>
            </a:r>
            <a:r>
              <a:rPr b="0" i="0" lang="es-PE" sz="16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visited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1" lang="es-PE" sz="1600" u="none" cap="none" strike="noStrike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add to solution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16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b="0" i="0" lang="es-PE" sz="16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x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extract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adjacent to v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(!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visited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1" lang="es-PE" sz="16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1" lang="es-PE" sz="1600" u="none" cap="none" strike="noStrike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 // add to solution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i="0" lang="es-PE" sz="1600" u="none" cap="none" strike="noStrike">
                <a:solidFill>
                  <a:srgbClr val="823FF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PE" sz="16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7815897" y="7430602"/>
            <a:ext cx="1552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O(|V|+|E|) 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4680763" y="8372056"/>
            <a:ext cx="8128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https://www.cs.usfca.edu/~galles/visualization/BFS.html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https://visualgo.net/es/dfsbfs</a:t>
            </a:r>
            <a:r>
              <a:rPr b="0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838925" y="3411700"/>
            <a:ext cx="80028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¿Cómo harían para obtener el camino de un vértice inicial al final?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Se tendría que guardar (quizás en un map) el padre del nodo actual para poder iterar hacia atrás. Por ejemplo: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P(B) = A, P(E) = A, P(C) = A, P(D) = B, P(H) = E, P(G) = E, P(I) = H, y P(C) = F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 sz="2400"/>
          </a:p>
        </p:txBody>
      </p:sp>
      <p:sp>
        <p:nvSpPr>
          <p:cNvPr id="176" name="Google Shape;176;p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en amplitud (BFS)</a:t>
            </a:r>
            <a:endParaRPr b="1"/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4028" y="4010313"/>
            <a:ext cx="6707173" cy="36207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8"/>
          <p:cNvCxnSpPr/>
          <p:nvPr/>
        </p:nvCxnSpPr>
        <p:spPr>
          <a:xfrm flipH="1" rot="10800000">
            <a:off x="9660400" y="5289800"/>
            <a:ext cx="528900" cy="10707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8"/>
          <p:cNvCxnSpPr/>
          <p:nvPr/>
        </p:nvCxnSpPr>
        <p:spPr>
          <a:xfrm>
            <a:off x="9761150" y="6675375"/>
            <a:ext cx="1133700" cy="5541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8"/>
          <p:cNvCxnSpPr/>
          <p:nvPr/>
        </p:nvCxnSpPr>
        <p:spPr>
          <a:xfrm flipH="1" rot="10800000">
            <a:off x="9761150" y="5781150"/>
            <a:ext cx="2947200" cy="717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8"/>
          <p:cNvCxnSpPr/>
          <p:nvPr/>
        </p:nvCxnSpPr>
        <p:spPr>
          <a:xfrm flipH="1" rot="10800000">
            <a:off x="10529450" y="4697825"/>
            <a:ext cx="1070700" cy="3024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8"/>
          <p:cNvCxnSpPr/>
          <p:nvPr/>
        </p:nvCxnSpPr>
        <p:spPr>
          <a:xfrm flipH="1" rot="10800000">
            <a:off x="13136625" y="4433300"/>
            <a:ext cx="1662600" cy="11589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8"/>
          <p:cNvCxnSpPr/>
          <p:nvPr/>
        </p:nvCxnSpPr>
        <p:spPr>
          <a:xfrm>
            <a:off x="13136625" y="5844100"/>
            <a:ext cx="1108500" cy="6423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8"/>
          <p:cNvCxnSpPr/>
          <p:nvPr/>
        </p:nvCxnSpPr>
        <p:spPr>
          <a:xfrm flipH="1" rot="10800000">
            <a:off x="11373325" y="7305125"/>
            <a:ext cx="1776000" cy="126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8"/>
          <p:cNvCxnSpPr/>
          <p:nvPr/>
        </p:nvCxnSpPr>
        <p:spPr>
          <a:xfrm>
            <a:off x="15063675" y="4509025"/>
            <a:ext cx="491100" cy="11211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Comparación</a:t>
            </a:r>
            <a:endParaRPr b="1"/>
          </a:p>
        </p:txBody>
      </p:sp>
      <p:grpSp>
        <p:nvGrpSpPr>
          <p:cNvPr id="192" name="Google Shape;192;p9"/>
          <p:cNvGrpSpPr/>
          <p:nvPr/>
        </p:nvGrpSpPr>
        <p:grpSpPr>
          <a:xfrm>
            <a:off x="11294316" y="6133602"/>
            <a:ext cx="4177898" cy="2280715"/>
            <a:chOff x="9244028" y="4010313"/>
            <a:chExt cx="6707173" cy="3620757"/>
          </a:xfrm>
        </p:grpSpPr>
        <p:pic>
          <p:nvPicPr>
            <p:cNvPr id="193" name="Google Shape;1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44028" y="4010313"/>
              <a:ext cx="6707173" cy="362075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4" name="Google Shape;194;p9"/>
            <p:cNvCxnSpPr/>
            <p:nvPr/>
          </p:nvCxnSpPr>
          <p:spPr>
            <a:xfrm flipH="1" rot="10800000">
              <a:off x="9660400" y="5289800"/>
              <a:ext cx="528900" cy="10707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9761150" y="6675375"/>
              <a:ext cx="1133700" cy="5541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 flipH="1" rot="10800000">
              <a:off x="9761150" y="5781150"/>
              <a:ext cx="2947200" cy="7179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 flipH="1" rot="10800000">
              <a:off x="10529450" y="4697825"/>
              <a:ext cx="1070700" cy="3024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 flipH="1" rot="10800000">
              <a:off x="13136625" y="4433300"/>
              <a:ext cx="1662600" cy="11589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3136625" y="5844100"/>
              <a:ext cx="1108500" cy="6423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 flipH="1" rot="10800000">
              <a:off x="11373325" y="7305125"/>
              <a:ext cx="1776000" cy="126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15063675" y="4509025"/>
              <a:ext cx="491100" cy="11211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2" name="Google Shape;202;p9"/>
          <p:cNvGrpSpPr/>
          <p:nvPr/>
        </p:nvGrpSpPr>
        <p:grpSpPr>
          <a:xfrm>
            <a:off x="11310412" y="3493917"/>
            <a:ext cx="4145703" cy="2156161"/>
            <a:chOff x="931303" y="4224438"/>
            <a:chExt cx="6707173" cy="3620757"/>
          </a:xfrm>
        </p:grpSpPr>
        <p:pic>
          <p:nvPicPr>
            <p:cNvPr id="203" name="Google Shape;20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31303" y="4224438"/>
              <a:ext cx="6707173" cy="362075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4" name="Google Shape;204;p9"/>
            <p:cNvCxnSpPr/>
            <p:nvPr/>
          </p:nvCxnSpPr>
          <p:spPr>
            <a:xfrm flipH="1" rot="10800000">
              <a:off x="1322475" y="5478725"/>
              <a:ext cx="554100" cy="10959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 flipH="1" rot="10800000">
              <a:off x="2204125" y="4924550"/>
              <a:ext cx="1070700" cy="3024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9"/>
            <p:cNvCxnSpPr/>
            <p:nvPr/>
          </p:nvCxnSpPr>
          <p:spPr>
            <a:xfrm flipH="1">
              <a:off x="2859150" y="5101000"/>
              <a:ext cx="579300" cy="22419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9"/>
            <p:cNvCxnSpPr/>
            <p:nvPr/>
          </p:nvCxnSpPr>
          <p:spPr>
            <a:xfrm flipH="1" rot="10800000">
              <a:off x="2985025" y="6083500"/>
              <a:ext cx="1435800" cy="13098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9"/>
            <p:cNvCxnSpPr/>
            <p:nvPr/>
          </p:nvCxnSpPr>
          <p:spPr>
            <a:xfrm flipH="1" rot="10800000">
              <a:off x="4823900" y="4622525"/>
              <a:ext cx="1650000" cy="11964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9"/>
            <p:cNvCxnSpPr/>
            <p:nvPr/>
          </p:nvCxnSpPr>
          <p:spPr>
            <a:xfrm>
              <a:off x="6750950" y="4735750"/>
              <a:ext cx="516300" cy="11085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9"/>
            <p:cNvCxnSpPr/>
            <p:nvPr/>
          </p:nvCxnSpPr>
          <p:spPr>
            <a:xfrm flipH="1">
              <a:off x="6322700" y="6171575"/>
              <a:ext cx="818700" cy="5037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3060600" y="7544450"/>
              <a:ext cx="1776000" cy="126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2" name="Google Shape;212;p9"/>
          <p:cNvSpPr txBox="1"/>
          <p:nvPr/>
        </p:nvSpPr>
        <p:spPr>
          <a:xfrm>
            <a:off x="705325" y="3493925"/>
            <a:ext cx="101391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DFS es un algoritmo basado en vértices, mientras que BFS es basado en aristas. Utilizan estructuras de apoyo diferentes.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uso de memoria en BFS es ineficiente 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BFS puede encontrar el camino más corto en grafos con aristas del mismo peso, grafos bipartitos, etc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DFS se utiliza para obtener el ordenamiento topológico, saber si un grafo es fuertemente conexo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Cómo serán los árboles que generan?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DSF son árboles profundos y estrechos mientras que BFS produce árboles pequeños y amplios 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2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Aplicaciones</a:t>
            </a:r>
            <a:endParaRPr b="1"/>
          </a:p>
        </p:txBody>
      </p:sp>
      <p:sp>
        <p:nvSpPr>
          <p:cNvPr id="219" name="Google Shape;219;p10"/>
          <p:cNvSpPr txBox="1"/>
          <p:nvPr>
            <p:ph idx="1" type="body"/>
          </p:nvPr>
        </p:nvSpPr>
        <p:spPr>
          <a:xfrm>
            <a:off x="838929" y="3411700"/>
            <a:ext cx="79635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Determinar la conectividad de un grafo.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Encontrar el camino de un vértice a todos los demás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Probar si un grafo es bipartito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Análisis de una red y sus relaciones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Detección de ciclos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Ordenamiento topológico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s-PE" sz="2400">
                <a:solidFill>
                  <a:srgbClr val="000000"/>
                </a:solidFill>
              </a:rPr>
              <a:t>Detección de árboles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220" name="Google Shape;2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7500" y="4134113"/>
            <a:ext cx="6872676" cy="33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Árboles</a:t>
            </a:r>
            <a:endParaRPr/>
          </a:p>
        </p:txBody>
      </p:sp>
      <p:sp>
        <p:nvSpPr>
          <p:cNvPr id="227" name="Google Shape;227;p11"/>
          <p:cNvSpPr txBox="1"/>
          <p:nvPr>
            <p:ph idx="1" type="body"/>
          </p:nvPr>
        </p:nvSpPr>
        <p:spPr>
          <a:xfrm>
            <a:off x="838925" y="3411700"/>
            <a:ext cx="149427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80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Entonces, cómo sería la búsqueda en profundidad y amplitud en un árbol? </a:t>
            </a:r>
            <a:endParaRPr/>
          </a:p>
        </p:txBody>
      </p:sp>
      <p:pic>
        <p:nvPicPr>
          <p:cNvPr id="228" name="Google Shape;2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4550" y="4143700"/>
            <a:ext cx="5534025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9575" y="4143700"/>
            <a:ext cx="5971566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Componentes fuertemente conexo</a:t>
            </a:r>
            <a:r>
              <a:rPr lang="es-PE"/>
              <a:t>s</a:t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705325" y="3493925"/>
            <a:ext cx="101391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algoritmo sería: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Aplicar búsqueda en profundidad sobre el grafo G (se debe ir anotando los tiempos para cada caso de descubierta y cerrado del vértice)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Encontrar el grafo traspuesto G’ (básicamente cambiar la dirección de las aristas de G)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 ordena los vértices de mayor a menor tiempo de finalización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Aplicar búsqueda en profundidad sobre el grafo traspuesto G’. La búsqueda va sobre los vértices ordenados en el paso anterior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resultado será un conjunto de componentes fuertemente conexo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2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0175" y="4861238"/>
            <a:ext cx="47625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Camino más corto</a:t>
            </a:r>
            <a:endParaRPr b="1"/>
          </a:p>
        </p:txBody>
      </p:sp>
      <p:sp>
        <p:nvSpPr>
          <p:cNvPr id="244" name="Google Shape;244;p13"/>
          <p:cNvSpPr txBox="1"/>
          <p:nvPr>
            <p:ph idx="1" type="body"/>
          </p:nvPr>
        </p:nvSpPr>
        <p:spPr>
          <a:xfrm>
            <a:off x="838928" y="3411700"/>
            <a:ext cx="94638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>
                <a:solidFill>
                  <a:srgbClr val="000000"/>
                </a:solidFill>
              </a:rPr>
              <a:t>Estos algoritmos buscan encontrar el camino entre dos vértices, tal que la suma de los pesos de las aristas sea el mínimo posible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>
                <a:solidFill>
                  <a:srgbClr val="000000"/>
                </a:solidFill>
              </a:rPr>
              <a:t>BFS puede resolver este problema en un grafo no ponderado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rPr lang="es-PE">
                <a:solidFill>
                  <a:srgbClr val="000000"/>
                </a:solidFill>
              </a:rPr>
              <a:t>El problema del camino más corto puede existir en grafos dirigidos o no dirigidos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45" name="Google Shape;2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9400" y="4383047"/>
            <a:ext cx="4596725" cy="251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Dijkstra</a:t>
            </a:r>
            <a:endParaRPr b="1"/>
          </a:p>
        </p:txBody>
      </p:sp>
      <p:sp>
        <p:nvSpPr>
          <p:cNvPr id="252" name="Google Shape;252;p14"/>
          <p:cNvSpPr txBox="1"/>
          <p:nvPr>
            <p:ph idx="1" type="body"/>
          </p:nvPr>
        </p:nvSpPr>
        <p:spPr>
          <a:xfrm>
            <a:off x="838925" y="3411700"/>
            <a:ext cx="84687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Es un algoritmo para obtener el camino mínimo en un grafo de un vértice a otro.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Este algoritmo solo funciona con aristas de valores positivos, ya que asume que agregar una arista sólo incrementará el peso total del camino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Básicamente construye un árbol de los caminos más cortos de un vértice fuente a todos los demás nodos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El algoritmo termina cuando se visitan todos los vértices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rPr lang="es-PE" sz="2200">
                <a:solidFill>
                  <a:srgbClr val="000000"/>
                </a:solidFill>
              </a:rPr>
              <a:t>Se utiliza una tabla para mantener las distancias, las cuales serán inicialmente infinito excepto para el vértice fuente</a:t>
            </a:r>
            <a:endParaRPr sz="2200">
              <a:solidFill>
                <a:srgbClr val="000000"/>
              </a:solidFill>
            </a:endParaRPr>
          </a:p>
        </p:txBody>
      </p:sp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225" y="4394613"/>
            <a:ext cx="5954875" cy="28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"/>
          <p:cNvSpPr txBox="1"/>
          <p:nvPr>
            <p:ph idx="1" type="body"/>
          </p:nvPr>
        </p:nvSpPr>
        <p:spPr>
          <a:xfrm>
            <a:off x="838933" y="3411688"/>
            <a:ext cx="146172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222222"/>
                </a:solidFill>
              </a:rPr>
              <a:t>Con un grafo conexo dirigido o no dirigido ponderado, se debe seleccionar un vértice inicial </a:t>
            </a:r>
            <a:r>
              <a:rPr i="1" lang="es-PE" sz="2000">
                <a:solidFill>
                  <a:srgbClr val="222222"/>
                </a:solidFill>
              </a:rPr>
              <a:t>u</a:t>
            </a:r>
            <a:r>
              <a:rPr lang="es-PE" sz="2000">
                <a:solidFill>
                  <a:srgbClr val="222222"/>
                </a:solidFill>
              </a:rPr>
              <a:t>. Se usará un arreglo de vértices visitados, y un arreglo para las distancias de un vértice </a:t>
            </a:r>
            <a:r>
              <a:rPr i="1" lang="es-PE" sz="2000">
                <a:solidFill>
                  <a:srgbClr val="222222"/>
                </a:solidFill>
              </a:rPr>
              <a:t>x </a:t>
            </a:r>
            <a:r>
              <a:rPr lang="es-PE" sz="2000">
                <a:solidFill>
                  <a:srgbClr val="222222"/>
                </a:solidFill>
              </a:rPr>
              <a:t>a uno </a:t>
            </a:r>
            <a:r>
              <a:rPr i="1" lang="es-PE" sz="2000">
                <a:solidFill>
                  <a:srgbClr val="222222"/>
                </a:solidFill>
              </a:rPr>
              <a:t>y.</a:t>
            </a:r>
            <a:endParaRPr i="1"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i="1" sz="2000">
              <a:solidFill>
                <a:srgbClr val="222222"/>
              </a:solidFill>
            </a:endParaRPr>
          </a:p>
          <a:p>
            <a:pPr indent="-355600" lvl="0" marL="901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AutoNum type="arabicPeriod"/>
            </a:pPr>
            <a:r>
              <a:rPr lang="es-PE" sz="2000">
                <a:solidFill>
                  <a:srgbClr val="222222"/>
                </a:solidFill>
              </a:rPr>
              <a:t>Todas las distancias entre todos los vértices empiezan con infinito, excepto el vértice </a:t>
            </a:r>
            <a:r>
              <a:rPr i="1" lang="es-PE" sz="2000">
                <a:solidFill>
                  <a:srgbClr val="222222"/>
                </a:solidFill>
              </a:rPr>
              <a:t>u</a:t>
            </a:r>
            <a:r>
              <a:rPr lang="es-PE" sz="2000">
                <a:solidFill>
                  <a:srgbClr val="222222"/>
                </a:solidFill>
              </a:rPr>
              <a:t> que iniciará con 0</a:t>
            </a:r>
            <a:endParaRPr sz="2000">
              <a:solidFill>
                <a:srgbClr val="222222"/>
              </a:solidFill>
            </a:endParaRPr>
          </a:p>
          <a:p>
            <a:pPr indent="-3556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AutoNum type="arabicPeriod"/>
            </a:pPr>
            <a:r>
              <a:rPr lang="es-PE" sz="2000">
                <a:solidFill>
                  <a:srgbClr val="222222"/>
                </a:solidFill>
              </a:rPr>
              <a:t>Tomamos como </a:t>
            </a:r>
            <a:r>
              <a:rPr i="1" lang="es-PE" sz="2000">
                <a:solidFill>
                  <a:srgbClr val="222222"/>
                </a:solidFill>
              </a:rPr>
              <a:t>actual,</a:t>
            </a:r>
            <a:r>
              <a:rPr lang="es-PE" sz="2000">
                <a:solidFill>
                  <a:srgbClr val="222222"/>
                </a:solidFill>
              </a:rPr>
              <a:t> a nuestro vértice inicial </a:t>
            </a:r>
            <a:r>
              <a:rPr i="1" lang="es-PE" sz="2000">
                <a:solidFill>
                  <a:srgbClr val="222222"/>
                </a:solidFill>
              </a:rPr>
              <a:t>u</a:t>
            </a:r>
            <a:endParaRPr i="1" sz="2000">
              <a:solidFill>
                <a:srgbClr val="222222"/>
              </a:solidFill>
            </a:endParaRPr>
          </a:p>
          <a:p>
            <a:pPr indent="-3556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AutoNum type="arabicPeriod"/>
            </a:pPr>
            <a:r>
              <a:rPr lang="es-PE" sz="2000">
                <a:solidFill>
                  <a:srgbClr val="222222"/>
                </a:solidFill>
              </a:rPr>
              <a:t>Se recorren todos los vértices adyacentes a </a:t>
            </a:r>
            <a:r>
              <a:rPr i="1" lang="es-PE" sz="2000">
                <a:solidFill>
                  <a:srgbClr val="222222"/>
                </a:solidFill>
              </a:rPr>
              <a:t>actual,</a:t>
            </a:r>
            <a:r>
              <a:rPr lang="es-PE" sz="2000">
                <a:solidFill>
                  <a:srgbClr val="222222"/>
                </a:solidFill>
              </a:rPr>
              <a:t> excepto por los ya visitados y se calcula la distancia tentativa. Si la distancia tentativa es menor que la distancia almacenada, esta se actualiza.</a:t>
            </a:r>
            <a:endParaRPr sz="2000">
              <a:solidFill>
                <a:srgbClr val="222222"/>
              </a:solidFill>
            </a:endParaRPr>
          </a:p>
          <a:p>
            <a:pPr indent="-3556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AutoNum type="arabicPeriod"/>
            </a:pPr>
            <a:r>
              <a:rPr lang="es-PE" sz="2000">
                <a:solidFill>
                  <a:srgbClr val="222222"/>
                </a:solidFill>
              </a:rPr>
              <a:t>Una vez se hayan completado todos los vértices adyacentes, </a:t>
            </a:r>
            <a:r>
              <a:rPr i="1" lang="es-PE" sz="2000">
                <a:solidFill>
                  <a:srgbClr val="222222"/>
                </a:solidFill>
              </a:rPr>
              <a:t>actual</a:t>
            </a:r>
            <a:r>
              <a:rPr lang="es-PE" sz="2000">
                <a:solidFill>
                  <a:srgbClr val="222222"/>
                </a:solidFill>
              </a:rPr>
              <a:t> se marca como visitado (un vértice visitado jamás será visto de nuevo).</a:t>
            </a:r>
            <a:endParaRPr sz="2000">
              <a:solidFill>
                <a:srgbClr val="222222"/>
              </a:solidFill>
            </a:endParaRPr>
          </a:p>
          <a:p>
            <a:pPr indent="-355600" lvl="0" marL="901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Roboto"/>
              <a:buAutoNum type="arabicPeriod"/>
            </a:pPr>
            <a:r>
              <a:rPr lang="es-PE" sz="2000">
                <a:solidFill>
                  <a:srgbClr val="222222"/>
                </a:solidFill>
              </a:rPr>
              <a:t>Se toma como próximo </a:t>
            </a:r>
            <a:r>
              <a:rPr i="1" lang="es-PE" sz="2000">
                <a:solidFill>
                  <a:srgbClr val="222222"/>
                </a:solidFill>
              </a:rPr>
              <a:t>actual</a:t>
            </a:r>
            <a:r>
              <a:rPr lang="es-PE" sz="2000">
                <a:solidFill>
                  <a:srgbClr val="222222"/>
                </a:solidFill>
              </a:rPr>
              <a:t> el de menor distancia (se puede usar una cola de prioridad o un vector) y se regresa al paso 3, mientras existan vértices no visitados.</a:t>
            </a:r>
            <a:endParaRPr sz="2000">
              <a:solidFill>
                <a:srgbClr val="22222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lang="es-PE" sz="2000">
                <a:solidFill>
                  <a:srgbClr val="222222"/>
                </a:solidFill>
              </a:rPr>
              <a:t>Una vez terminado al algoritmo, tendremos todas las distancias más cortas desde el vértice inicial </a:t>
            </a:r>
            <a:r>
              <a:rPr i="1" lang="es-PE" sz="2000">
                <a:solidFill>
                  <a:srgbClr val="222222"/>
                </a:solidFill>
              </a:rPr>
              <a:t>u</a:t>
            </a:r>
            <a:r>
              <a:rPr lang="es-PE" sz="2000">
                <a:solidFill>
                  <a:srgbClr val="222222"/>
                </a:solidFill>
              </a:rPr>
              <a:t>, a todos los demás vértices.</a:t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80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60" name="Google Shape;260;p1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Dijkstra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Dijkstra (A)</a:t>
            </a:r>
            <a:endParaRPr b="1"/>
          </a:p>
        </p:txBody>
      </p:sp>
      <p:pic>
        <p:nvPicPr>
          <p:cNvPr id="267" name="Google Shape;2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825" y="4060074"/>
            <a:ext cx="7868899" cy="3575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8" name="Google Shape;268;p16"/>
          <p:cNvGraphicFramePr/>
          <p:nvPr/>
        </p:nvGraphicFramePr>
        <p:xfrm>
          <a:off x="8998175" y="3780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pSp>
        <p:nvGrpSpPr>
          <p:cNvPr id="269" name="Google Shape;269;p16"/>
          <p:cNvGrpSpPr/>
          <p:nvPr/>
        </p:nvGrpSpPr>
        <p:grpSpPr>
          <a:xfrm>
            <a:off x="1420300" y="4815500"/>
            <a:ext cx="946800" cy="2042375"/>
            <a:chOff x="1420300" y="4815500"/>
            <a:chExt cx="946800" cy="2042375"/>
          </a:xfrm>
        </p:grpSpPr>
        <p:cxnSp>
          <p:nvCxnSpPr>
            <p:cNvPr id="270" name="Google Shape;270;p16"/>
            <p:cNvCxnSpPr/>
            <p:nvPr/>
          </p:nvCxnSpPr>
          <p:spPr>
            <a:xfrm flipH="1" rot="10800000">
              <a:off x="1420300" y="4815500"/>
              <a:ext cx="946800" cy="7710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16"/>
            <p:cNvCxnSpPr/>
            <p:nvPr/>
          </p:nvCxnSpPr>
          <p:spPr>
            <a:xfrm>
              <a:off x="1420300" y="6181675"/>
              <a:ext cx="852300" cy="6762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2" name="Google Shape;272;p16"/>
          <p:cNvSpPr txBox="1"/>
          <p:nvPr/>
        </p:nvSpPr>
        <p:spPr>
          <a:xfrm>
            <a:off x="8941123" y="3104474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11835447" y="3104474"/>
            <a:ext cx="19511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Distancia desde A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p16"/>
          <p:cNvCxnSpPr/>
          <p:nvPr/>
        </p:nvCxnSpPr>
        <p:spPr>
          <a:xfrm flipH="1">
            <a:off x="9348282" y="3406354"/>
            <a:ext cx="1" cy="34697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" name="Google Shape;275;p16"/>
          <p:cNvSpPr/>
          <p:nvPr/>
        </p:nvSpPr>
        <p:spPr>
          <a:xfrm rot="-5400000">
            <a:off x="12622359" y="582583"/>
            <a:ext cx="377353" cy="596413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Dijkstra (A)</a:t>
            </a:r>
            <a:endParaRPr b="1"/>
          </a:p>
        </p:txBody>
      </p:sp>
      <p:graphicFrame>
        <p:nvGraphicFramePr>
          <p:cNvPr id="282" name="Google Shape;282;p17"/>
          <p:cNvGraphicFramePr/>
          <p:nvPr/>
        </p:nvGraphicFramePr>
        <p:xfrm>
          <a:off x="9015625" y="379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83" name="Google Shape;2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825" y="4060074"/>
            <a:ext cx="7868899" cy="3575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17"/>
          <p:cNvGrpSpPr/>
          <p:nvPr/>
        </p:nvGrpSpPr>
        <p:grpSpPr>
          <a:xfrm>
            <a:off x="1420300" y="4815500"/>
            <a:ext cx="946800" cy="2042375"/>
            <a:chOff x="1420300" y="4815500"/>
            <a:chExt cx="946800" cy="2042375"/>
          </a:xfrm>
        </p:grpSpPr>
        <p:cxnSp>
          <p:nvCxnSpPr>
            <p:cNvPr id="285" name="Google Shape;285;p17"/>
            <p:cNvCxnSpPr/>
            <p:nvPr/>
          </p:nvCxnSpPr>
          <p:spPr>
            <a:xfrm flipH="1" rot="10800000">
              <a:off x="1420300" y="4815500"/>
              <a:ext cx="946800" cy="7710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" name="Google Shape;286;p17"/>
            <p:cNvCxnSpPr/>
            <p:nvPr/>
          </p:nvCxnSpPr>
          <p:spPr>
            <a:xfrm>
              <a:off x="1420300" y="6181675"/>
              <a:ext cx="852300" cy="6762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287" name="Google Shape;287;p17"/>
          <p:cNvGraphicFramePr/>
          <p:nvPr/>
        </p:nvGraphicFramePr>
        <p:xfrm>
          <a:off x="9015625" y="4950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pSp>
        <p:nvGrpSpPr>
          <p:cNvPr id="288" name="Google Shape;288;p17"/>
          <p:cNvGrpSpPr/>
          <p:nvPr/>
        </p:nvGrpSpPr>
        <p:grpSpPr>
          <a:xfrm>
            <a:off x="2570050" y="4653150"/>
            <a:ext cx="1609800" cy="2083000"/>
            <a:chOff x="2570050" y="4653150"/>
            <a:chExt cx="1609800" cy="2083000"/>
          </a:xfrm>
        </p:grpSpPr>
        <p:cxnSp>
          <p:nvCxnSpPr>
            <p:cNvPr id="289" name="Google Shape;289;p17"/>
            <p:cNvCxnSpPr/>
            <p:nvPr/>
          </p:nvCxnSpPr>
          <p:spPr>
            <a:xfrm>
              <a:off x="2989375" y="4653150"/>
              <a:ext cx="1190400" cy="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17"/>
            <p:cNvCxnSpPr/>
            <p:nvPr/>
          </p:nvCxnSpPr>
          <p:spPr>
            <a:xfrm>
              <a:off x="2570050" y="4950750"/>
              <a:ext cx="0" cy="16773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17"/>
            <p:cNvCxnSpPr/>
            <p:nvPr/>
          </p:nvCxnSpPr>
          <p:spPr>
            <a:xfrm>
              <a:off x="2867650" y="4856050"/>
              <a:ext cx="1312200" cy="18801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292" name="Google Shape;292;p17"/>
          <p:cNvGraphicFramePr/>
          <p:nvPr/>
        </p:nvGraphicFramePr>
        <p:xfrm>
          <a:off x="9015625" y="553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293" name="Google Shape;293;p17"/>
          <p:cNvCxnSpPr/>
          <p:nvPr/>
        </p:nvCxnSpPr>
        <p:spPr>
          <a:xfrm>
            <a:off x="2881175" y="6966225"/>
            <a:ext cx="1203900" cy="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4" name="Google Shape;294;p17"/>
          <p:cNvGrpSpPr/>
          <p:nvPr/>
        </p:nvGrpSpPr>
        <p:grpSpPr>
          <a:xfrm>
            <a:off x="4463775" y="4572000"/>
            <a:ext cx="1569075" cy="2096625"/>
            <a:chOff x="4463775" y="4572000"/>
            <a:chExt cx="1569075" cy="2096625"/>
          </a:xfrm>
        </p:grpSpPr>
        <p:cxnSp>
          <p:nvCxnSpPr>
            <p:cNvPr id="295" name="Google Shape;295;p17"/>
            <p:cNvCxnSpPr/>
            <p:nvPr/>
          </p:nvCxnSpPr>
          <p:spPr>
            <a:xfrm>
              <a:off x="4801950" y="4572000"/>
              <a:ext cx="1230900" cy="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17"/>
            <p:cNvCxnSpPr/>
            <p:nvPr/>
          </p:nvCxnSpPr>
          <p:spPr>
            <a:xfrm>
              <a:off x="4463775" y="4991325"/>
              <a:ext cx="0" cy="16773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297" name="Google Shape;297;p17"/>
          <p:cNvGraphicFramePr/>
          <p:nvPr/>
        </p:nvGraphicFramePr>
        <p:xfrm>
          <a:off x="9015625" y="611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pSp>
        <p:nvGrpSpPr>
          <p:cNvPr id="298" name="Google Shape;298;p17"/>
          <p:cNvGrpSpPr/>
          <p:nvPr/>
        </p:nvGrpSpPr>
        <p:grpSpPr>
          <a:xfrm>
            <a:off x="4572025" y="4788425"/>
            <a:ext cx="2908350" cy="1893825"/>
            <a:chOff x="4572025" y="4788425"/>
            <a:chExt cx="2908350" cy="1893825"/>
          </a:xfrm>
        </p:grpSpPr>
        <p:cxnSp>
          <p:nvCxnSpPr>
            <p:cNvPr id="299" name="Google Shape;299;p17"/>
            <p:cNvCxnSpPr/>
            <p:nvPr/>
          </p:nvCxnSpPr>
          <p:spPr>
            <a:xfrm flipH="1">
              <a:off x="4572025" y="4896650"/>
              <a:ext cx="1542000" cy="17856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" name="Google Shape;300;p17"/>
            <p:cNvCxnSpPr/>
            <p:nvPr/>
          </p:nvCxnSpPr>
          <p:spPr>
            <a:xfrm>
              <a:off x="6330450" y="4950750"/>
              <a:ext cx="0" cy="16908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17"/>
            <p:cNvCxnSpPr/>
            <p:nvPr/>
          </p:nvCxnSpPr>
          <p:spPr>
            <a:xfrm>
              <a:off x="6641575" y="4788425"/>
              <a:ext cx="838800" cy="9468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302" name="Google Shape;302;p17"/>
          <p:cNvGraphicFramePr/>
          <p:nvPr/>
        </p:nvGraphicFramePr>
        <p:xfrm>
          <a:off x="9015625" y="669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03" name="Google Shape;303;p17"/>
          <p:cNvCxnSpPr/>
          <p:nvPr/>
        </p:nvCxnSpPr>
        <p:spPr>
          <a:xfrm flipH="1" rot="10800000">
            <a:off x="4720800" y="6966275"/>
            <a:ext cx="1190400" cy="270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04" name="Google Shape;304;p17"/>
          <p:cNvGraphicFramePr/>
          <p:nvPr/>
        </p:nvGraphicFramePr>
        <p:xfrm>
          <a:off x="9015625" y="727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05" name="Google Shape;305;p17"/>
          <p:cNvCxnSpPr/>
          <p:nvPr/>
        </p:nvCxnSpPr>
        <p:spPr>
          <a:xfrm flipH="1" rot="10800000">
            <a:off x="6560425" y="6168000"/>
            <a:ext cx="919800" cy="6900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06" name="Google Shape;306;p17"/>
          <p:cNvGraphicFramePr/>
          <p:nvPr/>
        </p:nvGraphicFramePr>
        <p:xfrm>
          <a:off x="9015625" y="78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07" name="Google Shape;307;p17"/>
          <p:cNvGraphicFramePr/>
          <p:nvPr/>
        </p:nvGraphicFramePr>
        <p:xfrm>
          <a:off x="9015625" y="843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8" name="Google Shape;308;p17"/>
          <p:cNvSpPr txBox="1"/>
          <p:nvPr/>
        </p:nvSpPr>
        <p:spPr>
          <a:xfrm>
            <a:off x="8941123" y="3104474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17"/>
          <p:cNvCxnSpPr/>
          <p:nvPr/>
        </p:nvCxnSpPr>
        <p:spPr>
          <a:xfrm flipH="1">
            <a:off x="9347461" y="3440808"/>
            <a:ext cx="1" cy="34697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17"/>
          <p:cNvSpPr/>
          <p:nvPr/>
        </p:nvSpPr>
        <p:spPr>
          <a:xfrm rot="-5400000">
            <a:off x="12622359" y="582583"/>
            <a:ext cx="377353" cy="596413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11835447" y="3104474"/>
            <a:ext cx="19511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Distancia desde A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7713" y="3090863"/>
            <a:ext cx="4600575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Dijkstra (A)</a:t>
            </a:r>
            <a:endParaRPr b="1"/>
          </a:p>
        </p:txBody>
      </p:sp>
      <p:graphicFrame>
        <p:nvGraphicFramePr>
          <p:cNvPr id="319" name="Google Shape;319;p18"/>
          <p:cNvGraphicFramePr/>
          <p:nvPr/>
        </p:nvGraphicFramePr>
        <p:xfrm>
          <a:off x="8941123" y="379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320" name="Google Shape;3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825" y="4060074"/>
            <a:ext cx="7868899" cy="3575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18"/>
          <p:cNvCxnSpPr/>
          <p:nvPr/>
        </p:nvCxnSpPr>
        <p:spPr>
          <a:xfrm flipH="1" rot="10800000">
            <a:off x="1420300" y="4815500"/>
            <a:ext cx="946800" cy="7710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322" name="Google Shape;322;p18"/>
          <p:cNvGraphicFramePr/>
          <p:nvPr/>
        </p:nvGraphicFramePr>
        <p:xfrm>
          <a:off x="8941123" y="4950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pSp>
        <p:nvGrpSpPr>
          <p:cNvPr id="323" name="Google Shape;323;p18"/>
          <p:cNvGrpSpPr/>
          <p:nvPr/>
        </p:nvGrpSpPr>
        <p:grpSpPr>
          <a:xfrm>
            <a:off x="2570050" y="4653150"/>
            <a:ext cx="1609725" cy="1974900"/>
            <a:chOff x="2570050" y="4653150"/>
            <a:chExt cx="1609725" cy="1974900"/>
          </a:xfrm>
        </p:grpSpPr>
        <p:cxnSp>
          <p:nvCxnSpPr>
            <p:cNvPr id="324" name="Google Shape;324;p18"/>
            <p:cNvCxnSpPr/>
            <p:nvPr/>
          </p:nvCxnSpPr>
          <p:spPr>
            <a:xfrm>
              <a:off x="2989375" y="4653150"/>
              <a:ext cx="1190400" cy="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25" name="Google Shape;325;p18"/>
            <p:cNvCxnSpPr/>
            <p:nvPr/>
          </p:nvCxnSpPr>
          <p:spPr>
            <a:xfrm>
              <a:off x="2570050" y="4950750"/>
              <a:ext cx="0" cy="1677300"/>
            </a:xfrm>
            <a:prstGeom prst="straightConnector1">
              <a:avLst/>
            </a:prstGeom>
            <a:noFill/>
            <a:ln cap="flat" cmpd="sng" w="76200">
              <a:solidFill>
                <a:srgbClr val="98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aphicFrame>
        <p:nvGraphicFramePr>
          <p:cNvPr id="326" name="Google Shape;326;p18"/>
          <p:cNvGraphicFramePr/>
          <p:nvPr/>
        </p:nvGraphicFramePr>
        <p:xfrm>
          <a:off x="8941123" y="553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27" name="Google Shape;327;p18"/>
          <p:cNvCxnSpPr/>
          <p:nvPr/>
        </p:nvCxnSpPr>
        <p:spPr>
          <a:xfrm>
            <a:off x="4801950" y="4572000"/>
            <a:ext cx="1230900" cy="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328" name="Google Shape;328;p18"/>
          <p:cNvGraphicFramePr/>
          <p:nvPr/>
        </p:nvGraphicFramePr>
        <p:xfrm>
          <a:off x="8941123" y="611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INF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29" name="Google Shape;329;p18"/>
          <p:cNvCxnSpPr/>
          <p:nvPr/>
        </p:nvCxnSpPr>
        <p:spPr>
          <a:xfrm flipH="1">
            <a:off x="4572025" y="4896650"/>
            <a:ext cx="1542000" cy="17856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330" name="Google Shape;330;p18"/>
          <p:cNvGraphicFramePr/>
          <p:nvPr/>
        </p:nvGraphicFramePr>
        <p:xfrm>
          <a:off x="8941123" y="669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31" name="Google Shape;331;p18"/>
          <p:cNvCxnSpPr/>
          <p:nvPr/>
        </p:nvCxnSpPr>
        <p:spPr>
          <a:xfrm flipH="1" rot="10800000">
            <a:off x="4720800" y="6966275"/>
            <a:ext cx="1190400" cy="270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332" name="Google Shape;332;p18"/>
          <p:cNvGraphicFramePr/>
          <p:nvPr/>
        </p:nvGraphicFramePr>
        <p:xfrm>
          <a:off x="8941123" y="727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33" name="Google Shape;333;p18"/>
          <p:cNvCxnSpPr/>
          <p:nvPr/>
        </p:nvCxnSpPr>
        <p:spPr>
          <a:xfrm flipH="1" rot="10800000">
            <a:off x="6560425" y="6168000"/>
            <a:ext cx="919800" cy="6900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334" name="Google Shape;334;p18"/>
          <p:cNvGraphicFramePr/>
          <p:nvPr/>
        </p:nvGraphicFramePr>
        <p:xfrm>
          <a:off x="8941123" y="78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35" name="Google Shape;335;p18"/>
          <p:cNvGraphicFramePr/>
          <p:nvPr/>
        </p:nvGraphicFramePr>
        <p:xfrm>
          <a:off x="8941123" y="843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36" name="Google Shape;336;p18"/>
          <p:cNvSpPr txBox="1"/>
          <p:nvPr/>
        </p:nvSpPr>
        <p:spPr>
          <a:xfrm>
            <a:off x="8941123" y="3104474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18"/>
          <p:cNvCxnSpPr>
            <a:stCxn id="336" idx="2"/>
          </p:cNvCxnSpPr>
          <p:nvPr/>
        </p:nvCxnSpPr>
        <p:spPr>
          <a:xfrm flipH="1">
            <a:off x="9330044" y="3443028"/>
            <a:ext cx="16800" cy="347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8" name="Google Shape;338;p18"/>
          <p:cNvSpPr/>
          <p:nvPr/>
        </p:nvSpPr>
        <p:spPr>
          <a:xfrm rot="-5400000">
            <a:off x="12604909" y="584803"/>
            <a:ext cx="377353" cy="596413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11835447" y="3104474"/>
            <a:ext cx="19511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Distancia desde A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Dijkstra (Algoritmo)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913684" y="3157155"/>
            <a:ext cx="9766461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Dijkstra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20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Graph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20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s-PE" sz="20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), 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(i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6D86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; i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V.length; i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distances[i]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INF;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visited[i]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E885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;     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2000" u="none" cap="none" strike="noStrike">
              <a:solidFill>
                <a:srgbClr val="35353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distances[u]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6D86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anyFalse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(visited))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V[i]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minDistance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(distances, visited);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visited[i]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E885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(V[j] adjacent to V[i])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(distances[i]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G.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weight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(i, j)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distances[j])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distances[j]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distances[i]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G.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weight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(i, j);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Dijkstra (Algoritmo, </a:t>
            </a:r>
            <a:r>
              <a:rPr b="1" lang="es-PE" sz="4400"/>
              <a:t>guardando padre</a:t>
            </a:r>
            <a:r>
              <a:rPr b="1" lang="es-PE"/>
              <a:t>)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944857" y="3270429"/>
            <a:ext cx="9766461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Dijkstra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20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Graph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20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s-PE" sz="20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), 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(i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6D86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; i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V.length; i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distances[i]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INF; 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visited[i]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E885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2000" u="none" cap="none" strike="noStrike">
              <a:solidFill>
                <a:srgbClr val="35353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distances[u]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6D86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anyFalse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(visited))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V[i]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 minDistance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(distances, visited);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visited[i]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2000" u="none" cap="none" strike="noStrike">
                <a:solidFill>
                  <a:srgbClr val="E885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(V[j] adjacent to V[i])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(distances[i]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G.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weight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(i, j)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distances[j]){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distances[j]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distances[i] </a:t>
            </a:r>
            <a:r>
              <a:rPr b="0" i="0" lang="es-PE" sz="2000" u="none" cap="none" strike="noStrike">
                <a:solidFill>
                  <a:srgbClr val="386AC3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G.</a:t>
            </a:r>
            <a:r>
              <a:rPr b="1" i="0" lang="es-PE" sz="2000" u="none" cap="none" strike="noStrike">
                <a:solidFill>
                  <a:srgbClr val="8431C5"/>
                </a:solidFill>
                <a:latin typeface="Consolas"/>
                <a:ea typeface="Consolas"/>
                <a:cs typeface="Consolas"/>
                <a:sym typeface="Consolas"/>
              </a:rPr>
              <a:t>weight</a:t>
            </a: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(i, j);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		   parent[j] = i;</a:t>
            </a:r>
            <a:endParaRPr b="0" i="0" sz="2000" u="none" cap="none" strike="noStrike">
              <a:solidFill>
                <a:srgbClr val="35353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	      }</a:t>
            </a:r>
            <a:endParaRPr b="0" i="0" sz="2000" u="none" cap="none" strike="noStrike">
              <a:solidFill>
                <a:srgbClr val="35353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000" u="none" cap="none" strike="noStrike">
                <a:solidFill>
                  <a:srgbClr val="353535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1"/>
          <p:cNvPicPr preferRelativeResize="0"/>
          <p:nvPr/>
        </p:nvPicPr>
        <p:blipFill rotWithShape="1">
          <a:blip r:embed="rId3">
            <a:alphaModFix/>
          </a:blip>
          <a:srcRect b="0" l="2153" r="0" t="0"/>
          <a:stretch/>
        </p:blipFill>
        <p:spPr>
          <a:xfrm>
            <a:off x="429656" y="3644976"/>
            <a:ext cx="6934047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1"/>
          <p:cNvSpPr txBox="1"/>
          <p:nvPr/>
        </p:nvSpPr>
        <p:spPr>
          <a:xfrm>
            <a:off x="991333" y="14656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i="0" lang="es-PE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Dijkstra (Ejercicio, H)</a:t>
            </a:r>
            <a:endParaRPr b="0" i="0" sz="5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58" name="Google Shape;358;p21"/>
          <p:cNvGraphicFramePr/>
          <p:nvPr/>
        </p:nvGraphicFramePr>
        <p:xfrm>
          <a:off x="8467397" y="495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59" name="Google Shape;359;p21"/>
          <p:cNvSpPr txBox="1"/>
          <p:nvPr/>
        </p:nvSpPr>
        <p:spPr>
          <a:xfrm>
            <a:off x="8335195" y="4111825"/>
            <a:ext cx="9829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Visitado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21"/>
          <p:cNvCxnSpPr/>
          <p:nvPr/>
        </p:nvCxnSpPr>
        <p:spPr>
          <a:xfrm flipH="1">
            <a:off x="8741533" y="4448159"/>
            <a:ext cx="1" cy="34697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1" name="Google Shape;361;p21"/>
          <p:cNvSpPr/>
          <p:nvPr/>
        </p:nvSpPr>
        <p:spPr>
          <a:xfrm rot="-5400000">
            <a:off x="12016431" y="1589934"/>
            <a:ext cx="377353" cy="596413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11229519" y="4111825"/>
            <a:ext cx="19511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Distancia desde H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8393604" y="6837816"/>
            <a:ext cx="99738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P(A)=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P(D)=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P(B)=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P(C)=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11698396" y="6912646"/>
            <a:ext cx="101341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P(F)=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P(E)=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P(G)=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8381681" y="6499262"/>
            <a:ext cx="9364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Padres: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2"/>
          <p:cNvPicPr preferRelativeResize="0"/>
          <p:nvPr/>
        </p:nvPicPr>
        <p:blipFill rotWithShape="1">
          <a:blip r:embed="rId3">
            <a:alphaModFix/>
          </a:blip>
          <a:srcRect b="0" l="2153" r="0" t="0"/>
          <a:stretch/>
        </p:blipFill>
        <p:spPr>
          <a:xfrm>
            <a:off x="429656" y="3644976"/>
            <a:ext cx="6934047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2"/>
          <p:cNvSpPr txBox="1"/>
          <p:nvPr/>
        </p:nvSpPr>
        <p:spPr>
          <a:xfrm>
            <a:off x="991333" y="14656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i="0" lang="es-PE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Dijkstra (Ejercicio, H)</a:t>
            </a:r>
            <a:endParaRPr b="0" i="0" sz="5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72" name="Google Shape;372;p22"/>
          <p:cNvGraphicFramePr/>
          <p:nvPr/>
        </p:nvGraphicFramePr>
        <p:xfrm>
          <a:off x="8457872" y="43389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73" name="Google Shape;373;p22"/>
          <p:cNvSpPr txBox="1"/>
          <p:nvPr/>
        </p:nvSpPr>
        <p:spPr>
          <a:xfrm>
            <a:off x="8325670" y="3492948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22"/>
          <p:cNvCxnSpPr/>
          <p:nvPr/>
        </p:nvCxnSpPr>
        <p:spPr>
          <a:xfrm flipH="1">
            <a:off x="8732008" y="3829282"/>
            <a:ext cx="1" cy="34697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5" name="Google Shape;375;p22"/>
          <p:cNvSpPr/>
          <p:nvPr/>
        </p:nvSpPr>
        <p:spPr>
          <a:xfrm rot="-5400000">
            <a:off x="12006906" y="971057"/>
            <a:ext cx="377353" cy="596413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11219992" y="3435180"/>
            <a:ext cx="19511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Distancia desde H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9060354" y="7154466"/>
            <a:ext cx="123623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P(A)=B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P(D)=A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P(B)=H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P(C)=B</a:t>
            </a:r>
            <a:endParaRPr b="0" i="0" sz="2400" u="none" cap="none" strike="noStrike">
              <a:solidFill>
                <a:srgbClr val="083C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12365146" y="7229296"/>
            <a:ext cx="12362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P(F)=H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P(E)=B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83C92"/>
                </a:solidFill>
                <a:latin typeface="Arial"/>
                <a:ea typeface="Arial"/>
                <a:cs typeface="Arial"/>
                <a:sym typeface="Arial"/>
              </a:rPr>
              <a:t>P(G)=H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11219992" y="5688495"/>
            <a:ext cx="12234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Visitados: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0" name="Google Shape;380;p22"/>
          <p:cNvGraphicFramePr/>
          <p:nvPr/>
        </p:nvGraphicFramePr>
        <p:xfrm>
          <a:off x="9221122" y="60368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083C9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>
                        <a:solidFill>
                          <a:srgbClr val="083C9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381" name="Google Shape;381;p22"/>
          <p:cNvCxnSpPr/>
          <p:nvPr/>
        </p:nvCxnSpPr>
        <p:spPr>
          <a:xfrm>
            <a:off x="2771775" y="4572000"/>
            <a:ext cx="657225" cy="927661"/>
          </a:xfrm>
          <a:prstGeom prst="straightConnector1">
            <a:avLst/>
          </a:prstGeom>
          <a:noFill/>
          <a:ln cap="flat" cmpd="sng" w="38100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22"/>
          <p:cNvCxnSpPr/>
          <p:nvPr/>
        </p:nvCxnSpPr>
        <p:spPr>
          <a:xfrm flipH="1">
            <a:off x="2276475" y="4572000"/>
            <a:ext cx="409575" cy="2895600"/>
          </a:xfrm>
          <a:prstGeom prst="straightConnector1">
            <a:avLst/>
          </a:prstGeom>
          <a:noFill/>
          <a:ln cap="flat" cmpd="sng" w="38100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22"/>
          <p:cNvCxnSpPr/>
          <p:nvPr/>
        </p:nvCxnSpPr>
        <p:spPr>
          <a:xfrm rot="10800000">
            <a:off x="1514475" y="5838825"/>
            <a:ext cx="1806893" cy="0"/>
          </a:xfrm>
          <a:prstGeom prst="straightConnector1">
            <a:avLst/>
          </a:prstGeom>
          <a:noFill/>
          <a:ln cap="flat" cmpd="sng" w="38100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22"/>
          <p:cNvCxnSpPr/>
          <p:nvPr/>
        </p:nvCxnSpPr>
        <p:spPr>
          <a:xfrm flipH="1">
            <a:off x="3812596" y="4505325"/>
            <a:ext cx="664154" cy="994336"/>
          </a:xfrm>
          <a:prstGeom prst="straightConnector1">
            <a:avLst/>
          </a:prstGeom>
          <a:noFill/>
          <a:ln cap="flat" cmpd="sng" w="38100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22"/>
          <p:cNvCxnSpPr/>
          <p:nvPr/>
        </p:nvCxnSpPr>
        <p:spPr>
          <a:xfrm flipH="1">
            <a:off x="1771650" y="4476750"/>
            <a:ext cx="4533901" cy="1333500"/>
          </a:xfrm>
          <a:prstGeom prst="straightConnector1">
            <a:avLst/>
          </a:prstGeom>
          <a:noFill/>
          <a:ln cap="flat" cmpd="sng" w="38100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22"/>
          <p:cNvCxnSpPr/>
          <p:nvPr/>
        </p:nvCxnSpPr>
        <p:spPr>
          <a:xfrm flipH="1">
            <a:off x="3812596" y="5810250"/>
            <a:ext cx="2197679" cy="28575"/>
          </a:xfrm>
          <a:prstGeom prst="straightConnector1">
            <a:avLst/>
          </a:prstGeom>
          <a:noFill/>
          <a:ln cap="flat" cmpd="sng" w="38100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22"/>
          <p:cNvCxnSpPr/>
          <p:nvPr/>
        </p:nvCxnSpPr>
        <p:spPr>
          <a:xfrm rot="10800000">
            <a:off x="1514475" y="6036876"/>
            <a:ext cx="3314700" cy="1535499"/>
          </a:xfrm>
          <a:prstGeom prst="straightConnector1">
            <a:avLst/>
          </a:prstGeom>
          <a:noFill/>
          <a:ln cap="flat" cmpd="sng" w="38100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23"/>
          <p:cNvPicPr preferRelativeResize="0"/>
          <p:nvPr/>
        </p:nvPicPr>
        <p:blipFill rotWithShape="1">
          <a:blip r:embed="rId3">
            <a:alphaModFix/>
          </a:blip>
          <a:srcRect b="0" l="2153" r="0" t="0"/>
          <a:stretch/>
        </p:blipFill>
        <p:spPr>
          <a:xfrm>
            <a:off x="-78882" y="3295698"/>
            <a:ext cx="8126634" cy="558160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3"/>
          <p:cNvSpPr txBox="1"/>
          <p:nvPr/>
        </p:nvSpPr>
        <p:spPr>
          <a:xfrm>
            <a:off x="991333" y="14656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i="0" lang="es-PE" sz="5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Dijkstra (Ejercicio, H)</a:t>
            </a:r>
            <a:endParaRPr b="0" i="0" sz="5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94" name="Google Shape;394;p23"/>
          <p:cNvGraphicFramePr/>
          <p:nvPr/>
        </p:nvGraphicFramePr>
        <p:xfrm>
          <a:off x="8467397" y="495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  <a:gridCol w="763250"/>
              </a:tblGrid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58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7EC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95" name="Google Shape;395;p23"/>
          <p:cNvSpPr txBox="1"/>
          <p:nvPr/>
        </p:nvSpPr>
        <p:spPr>
          <a:xfrm>
            <a:off x="8335195" y="4111825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23"/>
          <p:cNvCxnSpPr/>
          <p:nvPr/>
        </p:nvCxnSpPr>
        <p:spPr>
          <a:xfrm flipH="1">
            <a:off x="8741533" y="4448159"/>
            <a:ext cx="1" cy="34697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7" name="Google Shape;397;p23"/>
          <p:cNvSpPr/>
          <p:nvPr/>
        </p:nvSpPr>
        <p:spPr>
          <a:xfrm rot="-5400000">
            <a:off x="12016431" y="1589934"/>
            <a:ext cx="377353" cy="596413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11229519" y="4111825"/>
            <a:ext cx="19511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Distancia desde H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 txBox="1"/>
          <p:nvPr/>
        </p:nvSpPr>
        <p:spPr>
          <a:xfrm>
            <a:off x="9131734" y="925547"/>
            <a:ext cx="132119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P(A)=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P(D)=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P(B)= 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P(C)= B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 txBox="1"/>
          <p:nvPr/>
        </p:nvSpPr>
        <p:spPr>
          <a:xfrm>
            <a:off x="12436526" y="1000377"/>
            <a:ext cx="132119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P(F)= 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P(E)=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P(G)= H</a:t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8467397" y="6634723"/>
            <a:ext cx="31902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Visitados: H, G, B, A, F, E, C, D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23"/>
          <p:cNvCxnSpPr/>
          <p:nvPr/>
        </p:nvCxnSpPr>
        <p:spPr>
          <a:xfrm>
            <a:off x="2665731" y="4380367"/>
            <a:ext cx="819150" cy="1154841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23"/>
          <p:cNvCxnSpPr/>
          <p:nvPr/>
        </p:nvCxnSpPr>
        <p:spPr>
          <a:xfrm flipH="1">
            <a:off x="2047876" y="4448159"/>
            <a:ext cx="541449" cy="3230153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23"/>
          <p:cNvCxnSpPr/>
          <p:nvPr/>
        </p:nvCxnSpPr>
        <p:spPr>
          <a:xfrm>
            <a:off x="1162050" y="5905500"/>
            <a:ext cx="2162175" cy="0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23"/>
          <p:cNvCxnSpPr/>
          <p:nvPr/>
        </p:nvCxnSpPr>
        <p:spPr>
          <a:xfrm flipH="1" rot="10800000">
            <a:off x="3805733" y="4281102"/>
            <a:ext cx="928192" cy="1254106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3"/>
          <p:cNvCxnSpPr/>
          <p:nvPr/>
        </p:nvCxnSpPr>
        <p:spPr>
          <a:xfrm flipH="1" rot="10800000">
            <a:off x="1117919" y="4191000"/>
            <a:ext cx="5454331" cy="1590675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23"/>
          <p:cNvCxnSpPr/>
          <p:nvPr/>
        </p:nvCxnSpPr>
        <p:spPr>
          <a:xfrm flipH="1" rot="10800000">
            <a:off x="4070082" y="5781675"/>
            <a:ext cx="2384963" cy="76200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23"/>
          <p:cNvCxnSpPr/>
          <p:nvPr/>
        </p:nvCxnSpPr>
        <p:spPr>
          <a:xfrm>
            <a:off x="1208114" y="6086499"/>
            <a:ext cx="3763936" cy="1838301"/>
          </a:xfrm>
          <a:prstGeom prst="straightConnector1">
            <a:avLst/>
          </a:prstGeom>
          <a:noFill/>
          <a:ln cap="flat" cmpd="sng" w="28575">
            <a:solidFill>
              <a:srgbClr val="D93E3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codiciosa (Greedy BFS)</a:t>
            </a:r>
            <a:endParaRPr b="1"/>
          </a:p>
        </p:txBody>
      </p:sp>
      <p:sp>
        <p:nvSpPr>
          <p:cNvPr id="415" name="Google Shape;415;p24"/>
          <p:cNvSpPr txBox="1"/>
          <p:nvPr>
            <p:ph idx="1" type="body"/>
          </p:nvPr>
        </p:nvSpPr>
        <p:spPr>
          <a:xfrm>
            <a:off x="838924" y="3502204"/>
            <a:ext cx="13235891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Dijkstra nos puede servir para encontrar el camino más corto entre dos vértices, el problema está en que desperdicia tiempo explorando vértices que pueden no interesarnos.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Greedy Best First Search (Greedy BFS) es un algoritmo de búsqueda que se expande solamente por los estados más prometedores.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Estos estados prometedores se suelen escoger a través de una regla (heurística).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Típicamente se implementa utilizando una cola de prioridad.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838924" y="7950872"/>
            <a:ext cx="81254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https://www.youtube.com/watch?v=A8pmud1Uh0Q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Búsqueda codiciosa (Greedy BFS)</a:t>
            </a:r>
            <a:endParaRPr b="1"/>
          </a:p>
        </p:txBody>
      </p:sp>
      <p:pic>
        <p:nvPicPr>
          <p:cNvPr id="423" name="Google Shape;4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8799" y="4061479"/>
            <a:ext cx="11057467" cy="499220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5"/>
          <p:cNvSpPr txBox="1"/>
          <p:nvPr/>
        </p:nvSpPr>
        <p:spPr>
          <a:xfrm>
            <a:off x="2599267" y="3053597"/>
            <a:ext cx="11057466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Veamos el siguiente ejemplo para hallar el mejor camino entre Arad y Bucharest </a:t>
            </a: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una regla heurística: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Búsqueda codiciosa (Greedy BFS)</a:t>
            </a:r>
            <a:endParaRPr/>
          </a:p>
        </p:txBody>
      </p:sp>
      <p:pic>
        <p:nvPicPr>
          <p:cNvPr id="430" name="Google Shape;4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0092" y="4133850"/>
            <a:ext cx="2145953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5851" y="6227181"/>
            <a:ext cx="9416044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86" y="3051206"/>
            <a:ext cx="6335765" cy="321180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6"/>
          <p:cNvSpPr txBox="1"/>
          <p:nvPr/>
        </p:nvSpPr>
        <p:spPr>
          <a:xfrm>
            <a:off x="6945682" y="3132614"/>
            <a:ext cx="8129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Desde Arad a Bucharest </a:t>
            </a:r>
            <a:r>
              <a:rPr b="1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regla heurística: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Búsqueda codiciosa (Greedy BFS)</a:t>
            </a:r>
            <a:endParaRPr/>
          </a:p>
        </p:txBody>
      </p:sp>
      <p:pic>
        <p:nvPicPr>
          <p:cNvPr id="439" name="Google Shape;4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301" y="5073075"/>
            <a:ext cx="10967613" cy="3126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86" y="3051206"/>
            <a:ext cx="6335765" cy="321180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7"/>
          <p:cNvSpPr txBox="1"/>
          <p:nvPr/>
        </p:nvSpPr>
        <p:spPr>
          <a:xfrm>
            <a:off x="6945682" y="3132614"/>
            <a:ext cx="8129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Desde Arad a Bucharest </a:t>
            </a:r>
            <a:r>
              <a:rPr b="1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regla heurística: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Búsqueda codiciosa (Greedy BFS)</a:t>
            </a:r>
            <a:endParaRPr/>
          </a:p>
        </p:txBody>
      </p:sp>
      <p:pic>
        <p:nvPicPr>
          <p:cNvPr id="447" name="Google Shape;4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1373" y="4447307"/>
            <a:ext cx="11499851" cy="4250267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8"/>
          <p:cNvSpPr txBox="1"/>
          <p:nvPr/>
        </p:nvSpPr>
        <p:spPr>
          <a:xfrm>
            <a:off x="11330286" y="7215186"/>
            <a:ext cx="4402404" cy="123105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¿El camino obtenido es el mejor?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86" y="3051206"/>
            <a:ext cx="6335765" cy="321180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8"/>
          <p:cNvSpPr txBox="1"/>
          <p:nvPr/>
        </p:nvSpPr>
        <p:spPr>
          <a:xfrm>
            <a:off x="6945682" y="3132614"/>
            <a:ext cx="8129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Desde Arad a Bucharest </a:t>
            </a:r>
            <a:r>
              <a:rPr b="1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regla heurística: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Algoritmo A*</a:t>
            </a:r>
            <a:endParaRPr b="1"/>
          </a:p>
        </p:txBody>
      </p:sp>
      <p:sp>
        <p:nvSpPr>
          <p:cNvPr id="457" name="Google Shape;457;p29"/>
          <p:cNvSpPr txBox="1"/>
          <p:nvPr>
            <p:ph idx="1" type="body"/>
          </p:nvPr>
        </p:nvSpPr>
        <p:spPr>
          <a:xfrm>
            <a:off x="707332" y="3214931"/>
            <a:ext cx="8386096" cy="44190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A* utiliza la distancia actual y una distancia estimada (heurística).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En caso de que exista una solución, este algoritmo la encontrará. Su complejidad va a depender de su heurística.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Es uno de los algoritmos más utilizados en distintas aplicaciones como videojuegos.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458" name="Google Shape;45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8380" y="7185401"/>
            <a:ext cx="4397336" cy="195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3428" y="3837300"/>
            <a:ext cx="6824750" cy="334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Algoritmo A*</a:t>
            </a:r>
            <a:endParaRPr b="1"/>
          </a:p>
        </p:txBody>
      </p:sp>
      <p:sp>
        <p:nvSpPr>
          <p:cNvPr id="466" name="Google Shape;466;p30"/>
          <p:cNvSpPr txBox="1"/>
          <p:nvPr>
            <p:ph idx="1" type="body"/>
          </p:nvPr>
        </p:nvSpPr>
        <p:spPr>
          <a:xfrm>
            <a:off x="838927" y="3411700"/>
            <a:ext cx="10087573" cy="3622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Es un algoritmo que se extiende dependiendo del costo, ese costo es calculado utilizando una heurística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b="1" lang="es-PE" sz="2400">
                <a:solidFill>
                  <a:srgbClr val="000000"/>
                </a:solidFill>
              </a:rPr>
              <a:t>f(n)= g(n) + h(n)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rPr lang="es-PE" sz="2400">
                <a:solidFill>
                  <a:srgbClr val="000000"/>
                </a:solidFill>
              </a:rPr>
              <a:t>g(n) es la distancia desde el origen al vértice </a:t>
            </a:r>
            <a:r>
              <a:rPr i="1" lang="es-PE" sz="2400">
                <a:solidFill>
                  <a:srgbClr val="000000"/>
                </a:solidFill>
              </a:rPr>
              <a:t>n</a:t>
            </a:r>
            <a:r>
              <a:rPr lang="es-PE" sz="2400">
                <a:solidFill>
                  <a:srgbClr val="000000"/>
                </a:solidFill>
              </a:rPr>
              <a:t>, y h(n) es la distancia estimada hacia el destino (heurística)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467" name="Google Shape;46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0041" y="4205937"/>
            <a:ext cx="4246558" cy="25999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p30"/>
          <p:cNvCxnSpPr>
            <a:stCxn id="469" idx="6"/>
            <a:endCxn id="470" idx="2"/>
          </p:cNvCxnSpPr>
          <p:nvPr/>
        </p:nvCxnSpPr>
        <p:spPr>
          <a:xfrm flipH="1" rot="10800000">
            <a:off x="2130136" y="7746287"/>
            <a:ext cx="2365800" cy="11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9" name="Google Shape;469;p30"/>
          <p:cNvSpPr/>
          <p:nvPr/>
        </p:nvSpPr>
        <p:spPr>
          <a:xfrm>
            <a:off x="1275644" y="7534566"/>
            <a:ext cx="854492" cy="445642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rgbClr val="9F3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7606144" y="7534566"/>
            <a:ext cx="770211" cy="467581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rgbClr val="0A7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4495799" y="7512627"/>
            <a:ext cx="644236" cy="46758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30"/>
          <p:cNvCxnSpPr>
            <a:stCxn id="470" idx="6"/>
            <a:endCxn id="471" idx="2"/>
          </p:cNvCxnSpPr>
          <p:nvPr/>
        </p:nvCxnSpPr>
        <p:spPr>
          <a:xfrm>
            <a:off x="5140035" y="7746418"/>
            <a:ext cx="2466000" cy="21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3" name="Google Shape;473;p30"/>
          <p:cNvSpPr txBox="1"/>
          <p:nvPr/>
        </p:nvSpPr>
        <p:spPr>
          <a:xfrm>
            <a:off x="2994312" y="7358738"/>
            <a:ext cx="568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g(n)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0"/>
          <p:cNvSpPr txBox="1"/>
          <p:nvPr/>
        </p:nvSpPr>
        <p:spPr>
          <a:xfrm>
            <a:off x="6073484" y="7358737"/>
            <a:ext cx="644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h(n)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1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Algoritmo A*</a:t>
            </a:r>
            <a:endParaRPr b="1"/>
          </a:p>
        </p:txBody>
      </p:sp>
      <p:sp>
        <p:nvSpPr>
          <p:cNvPr id="481" name="Google Shape;481;p31"/>
          <p:cNvSpPr txBox="1"/>
          <p:nvPr>
            <p:ph idx="1" type="body"/>
          </p:nvPr>
        </p:nvSpPr>
        <p:spPr>
          <a:xfrm>
            <a:off x="838928" y="3411700"/>
            <a:ext cx="86433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444444"/>
                </a:solidFill>
              </a:rPr>
              <a:t>Es un Dijkstra modificado que solo busca llegar a un destino</a:t>
            </a:r>
            <a:endParaRPr sz="2400">
              <a:solidFill>
                <a:srgbClr val="4444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SzPts val="3200"/>
              <a:buNone/>
            </a:pPr>
            <a:r>
              <a:rPr lang="es-PE" sz="2400">
                <a:solidFill>
                  <a:srgbClr val="444444"/>
                </a:solidFill>
              </a:rPr>
              <a:t>Siempre se busca evitar expandirse a vértices (estados) que suponemos son caros</a:t>
            </a:r>
            <a:endParaRPr sz="2400">
              <a:solidFill>
                <a:srgbClr val="4444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SzPts val="3200"/>
              <a:buNone/>
            </a:pPr>
            <a:r>
              <a:rPr lang="es-PE" sz="2400">
                <a:solidFill>
                  <a:srgbClr val="444444"/>
                </a:solidFill>
              </a:rPr>
              <a:t>La heurística podría ser por ejemplo la distancia de manhattan o la euclidiana </a:t>
            </a:r>
            <a:endParaRPr sz="2400">
              <a:solidFill>
                <a:srgbClr val="444444"/>
              </a:solidFill>
            </a:endParaRPr>
          </a:p>
        </p:txBody>
      </p:sp>
      <p:pic>
        <p:nvPicPr>
          <p:cNvPr id="482" name="Google Shape;4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2225" y="4205937"/>
            <a:ext cx="6084374" cy="322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2250" y="6410413"/>
            <a:ext cx="3676650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2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Algoritmo A* (Ejemplo 1)</a:t>
            </a:r>
            <a:endParaRPr/>
          </a:p>
        </p:txBody>
      </p:sp>
      <p:pic>
        <p:nvPicPr>
          <p:cNvPr id="489" name="Google Shape;48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6286" y="3803607"/>
            <a:ext cx="1739900" cy="9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932" y="6065412"/>
            <a:ext cx="9855200" cy="17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2"/>
          <p:cNvSpPr txBox="1"/>
          <p:nvPr/>
        </p:nvSpPr>
        <p:spPr>
          <a:xfrm>
            <a:off x="8659398" y="8567519"/>
            <a:ext cx="37382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f(n) = g(n) + h(n)</a:t>
            </a:r>
            <a:endParaRPr/>
          </a:p>
        </p:txBody>
      </p:sp>
      <p:pic>
        <p:nvPicPr>
          <p:cNvPr id="492" name="Google Shape;49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86" y="3051206"/>
            <a:ext cx="6335765" cy="321180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2"/>
          <p:cNvSpPr txBox="1"/>
          <p:nvPr/>
        </p:nvSpPr>
        <p:spPr>
          <a:xfrm>
            <a:off x="6945682" y="3132614"/>
            <a:ext cx="8129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Desde Arad a Bucharest </a:t>
            </a:r>
            <a:r>
              <a:rPr b="1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regla heurística: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3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Algoritmo A* (Ejemplo 1)</a:t>
            </a:r>
            <a:endParaRPr/>
          </a:p>
        </p:txBody>
      </p:sp>
      <p:pic>
        <p:nvPicPr>
          <p:cNvPr id="499" name="Google Shape;4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5812" y="4913639"/>
            <a:ext cx="11645900" cy="26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86" y="3051206"/>
            <a:ext cx="6335765" cy="3211808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3"/>
          <p:cNvSpPr txBox="1"/>
          <p:nvPr/>
        </p:nvSpPr>
        <p:spPr>
          <a:xfrm>
            <a:off x="6945682" y="3132614"/>
            <a:ext cx="8129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Desde Arad a Bucharest </a:t>
            </a:r>
            <a:r>
              <a:rPr b="1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regla heurística: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3"/>
          <p:cNvSpPr txBox="1"/>
          <p:nvPr/>
        </p:nvSpPr>
        <p:spPr>
          <a:xfrm>
            <a:off x="8659398" y="8567519"/>
            <a:ext cx="37382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f(n) = g(n) + h(n)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4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Algoritmo A* (Ejemplo 1)</a:t>
            </a:r>
            <a:endParaRPr/>
          </a:p>
        </p:txBody>
      </p:sp>
      <p:sp>
        <p:nvSpPr>
          <p:cNvPr id="508" name="Google Shape;508;p34"/>
          <p:cNvSpPr txBox="1"/>
          <p:nvPr>
            <p:ph idx="12" type="sldNum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  <p:pic>
        <p:nvPicPr>
          <p:cNvPr id="509" name="Google Shape;5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614" y="4572000"/>
            <a:ext cx="11544300" cy="3763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86" y="3051206"/>
            <a:ext cx="6335765" cy="321180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4"/>
          <p:cNvSpPr txBox="1"/>
          <p:nvPr/>
        </p:nvSpPr>
        <p:spPr>
          <a:xfrm>
            <a:off x="6945682" y="3132614"/>
            <a:ext cx="8129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Desde Arad a Bucharest </a:t>
            </a:r>
            <a:r>
              <a:rPr b="1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regla heurística: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4"/>
          <p:cNvSpPr txBox="1"/>
          <p:nvPr/>
        </p:nvSpPr>
        <p:spPr>
          <a:xfrm>
            <a:off x="8659398" y="8567519"/>
            <a:ext cx="37382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f(n) = g(n) + h(n)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Algoritmo A* (Ejemplo 1)</a:t>
            </a:r>
            <a:endParaRPr/>
          </a:p>
        </p:txBody>
      </p:sp>
      <p:pic>
        <p:nvPicPr>
          <p:cNvPr id="518" name="Google Shape;518;p35"/>
          <p:cNvPicPr preferRelativeResize="0"/>
          <p:nvPr/>
        </p:nvPicPr>
        <p:blipFill rotWithShape="1">
          <a:blip r:embed="rId3">
            <a:alphaModFix/>
          </a:blip>
          <a:srcRect b="0" l="0" r="1883" t="0"/>
          <a:stretch/>
        </p:blipFill>
        <p:spPr>
          <a:xfrm>
            <a:off x="4864102" y="4572000"/>
            <a:ext cx="11301812" cy="362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86" y="3051206"/>
            <a:ext cx="6335765" cy="3211808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5"/>
          <p:cNvSpPr txBox="1"/>
          <p:nvPr/>
        </p:nvSpPr>
        <p:spPr>
          <a:xfrm>
            <a:off x="6945682" y="3132614"/>
            <a:ext cx="8129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Desde Arad a Bucharest </a:t>
            </a:r>
            <a:r>
              <a:rPr b="1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regla heurística: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8659398" y="8567519"/>
            <a:ext cx="37382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f(n) = g(n) + h(n)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"/>
          <p:cNvSpPr txBox="1"/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b="1" lang="es-PE"/>
              <a:t>Algoritmo A* (Ejemplo 1)</a:t>
            </a:r>
            <a:endParaRPr/>
          </a:p>
        </p:txBody>
      </p:sp>
      <p:pic>
        <p:nvPicPr>
          <p:cNvPr id="527" name="Google Shape;527;p36"/>
          <p:cNvPicPr preferRelativeResize="0"/>
          <p:nvPr/>
        </p:nvPicPr>
        <p:blipFill rotWithShape="1">
          <a:blip r:embed="rId3">
            <a:alphaModFix/>
          </a:blip>
          <a:srcRect b="5109" l="0" r="0" t="0"/>
          <a:stretch/>
        </p:blipFill>
        <p:spPr>
          <a:xfrm>
            <a:off x="2321407" y="3795949"/>
            <a:ext cx="11652249" cy="465379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6"/>
          <p:cNvSpPr txBox="1"/>
          <p:nvPr/>
        </p:nvSpPr>
        <p:spPr>
          <a:xfrm>
            <a:off x="5280796" y="3133721"/>
            <a:ext cx="81293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Desde Arad a Bucharest </a:t>
            </a:r>
            <a:r>
              <a:rPr b="1" i="0" lang="es-PE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usando regla heurística: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7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Algoritmo A* (Ejemplo 2, de A a I)</a:t>
            </a:r>
            <a:endParaRPr b="1"/>
          </a:p>
        </p:txBody>
      </p:sp>
      <p:graphicFrame>
        <p:nvGraphicFramePr>
          <p:cNvPr id="535" name="Google Shape;535;p37"/>
          <p:cNvGraphicFramePr/>
          <p:nvPr/>
        </p:nvGraphicFramePr>
        <p:xfrm>
          <a:off x="7925825" y="335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36" name="Google Shape;536;p37"/>
          <p:cNvGraphicFramePr/>
          <p:nvPr/>
        </p:nvGraphicFramePr>
        <p:xfrm>
          <a:off x="7925838" y="45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1978000"/>
                <a:gridCol w="1978000"/>
                <a:gridCol w="1978000"/>
                <a:gridCol w="1978000"/>
              </a:tblGrid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37" name="Google Shape;537;p37"/>
          <p:cNvSpPr txBox="1"/>
          <p:nvPr/>
        </p:nvSpPr>
        <p:spPr>
          <a:xfrm>
            <a:off x="987450" y="8129500"/>
            <a:ext cx="77913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Heurística:</a:t>
            </a: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Distancia euclideana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8" name="Google Shape;53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25" y="4017850"/>
            <a:ext cx="6696075" cy="353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9" name="Google Shape;539;p37"/>
          <p:cNvGrpSpPr/>
          <p:nvPr/>
        </p:nvGrpSpPr>
        <p:grpSpPr>
          <a:xfrm>
            <a:off x="825125" y="4423325"/>
            <a:ext cx="1596300" cy="2745800"/>
            <a:chOff x="825125" y="4423325"/>
            <a:chExt cx="1596300" cy="2745800"/>
          </a:xfrm>
        </p:grpSpPr>
        <p:cxnSp>
          <p:nvCxnSpPr>
            <p:cNvPr id="540" name="Google Shape;540;p37"/>
            <p:cNvCxnSpPr/>
            <p:nvPr/>
          </p:nvCxnSpPr>
          <p:spPr>
            <a:xfrm flipH="1" rot="10800000">
              <a:off x="933325" y="4423325"/>
              <a:ext cx="1461000" cy="973800"/>
            </a:xfrm>
            <a:prstGeom prst="straightConnector1">
              <a:avLst/>
            </a:prstGeom>
            <a:noFill/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37"/>
            <p:cNvCxnSpPr/>
            <p:nvPr/>
          </p:nvCxnSpPr>
          <p:spPr>
            <a:xfrm>
              <a:off x="825125" y="5654125"/>
              <a:ext cx="1596300" cy="1515000"/>
            </a:xfrm>
            <a:prstGeom prst="straightConnector1">
              <a:avLst/>
            </a:prstGeom>
            <a:noFill/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37"/>
            <p:cNvCxnSpPr/>
            <p:nvPr/>
          </p:nvCxnSpPr>
          <p:spPr>
            <a:xfrm>
              <a:off x="960400" y="5532400"/>
              <a:ext cx="1461000" cy="0"/>
            </a:xfrm>
            <a:prstGeom prst="straightConnector1">
              <a:avLst/>
            </a:prstGeom>
            <a:noFill/>
            <a:ln cap="flat" cmpd="sng" w="3810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3" name="Google Shape;543;p37"/>
          <p:cNvSpPr txBox="1"/>
          <p:nvPr/>
        </p:nvSpPr>
        <p:spPr>
          <a:xfrm>
            <a:off x="10532962" y="4207823"/>
            <a:ext cx="49231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G(n)                                F(n)                        Parent   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7"/>
          <p:cNvSpPr txBox="1"/>
          <p:nvPr/>
        </p:nvSpPr>
        <p:spPr>
          <a:xfrm>
            <a:off x="7330705" y="3741380"/>
            <a:ext cx="595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H(n)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Algoritmo A* (Ejemplo 2, de A a I)</a:t>
            </a:r>
            <a:endParaRPr b="1"/>
          </a:p>
        </p:txBody>
      </p:sp>
      <p:graphicFrame>
        <p:nvGraphicFramePr>
          <p:cNvPr id="551" name="Google Shape;551;p38"/>
          <p:cNvGraphicFramePr/>
          <p:nvPr/>
        </p:nvGraphicFramePr>
        <p:xfrm>
          <a:off x="7925825" y="335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52" name="Google Shape;552;p38"/>
          <p:cNvGraphicFramePr/>
          <p:nvPr/>
        </p:nvGraphicFramePr>
        <p:xfrm>
          <a:off x="7925838" y="45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1978000"/>
                <a:gridCol w="1978000"/>
                <a:gridCol w="1978000"/>
                <a:gridCol w="1978000"/>
              </a:tblGrid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108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53" name="Google Shape;553;p38"/>
          <p:cNvSpPr txBox="1"/>
          <p:nvPr/>
        </p:nvSpPr>
        <p:spPr>
          <a:xfrm>
            <a:off x="987450" y="8129500"/>
            <a:ext cx="77913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Heurística:</a:t>
            </a: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Distancia euclideana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4" name="Google Shape;55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25" y="4017850"/>
            <a:ext cx="6696075" cy="353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5" name="Google Shape;555;p38"/>
          <p:cNvCxnSpPr/>
          <p:nvPr/>
        </p:nvCxnSpPr>
        <p:spPr>
          <a:xfrm flipH="1" rot="10800000">
            <a:off x="933325" y="4423325"/>
            <a:ext cx="1461000" cy="9738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38"/>
          <p:cNvCxnSpPr/>
          <p:nvPr/>
        </p:nvCxnSpPr>
        <p:spPr>
          <a:xfrm>
            <a:off x="825125" y="5654125"/>
            <a:ext cx="1596300" cy="15150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38"/>
          <p:cNvCxnSpPr/>
          <p:nvPr/>
        </p:nvCxnSpPr>
        <p:spPr>
          <a:xfrm>
            <a:off x="960400" y="5532400"/>
            <a:ext cx="14610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8" name="Google Shape;558;p38"/>
          <p:cNvCxnSpPr/>
          <p:nvPr/>
        </p:nvCxnSpPr>
        <p:spPr>
          <a:xfrm rot="10800000">
            <a:off x="2515975" y="4517850"/>
            <a:ext cx="13500" cy="8928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38"/>
          <p:cNvCxnSpPr/>
          <p:nvPr/>
        </p:nvCxnSpPr>
        <p:spPr>
          <a:xfrm>
            <a:off x="2543000" y="5654125"/>
            <a:ext cx="0" cy="14880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38"/>
          <p:cNvCxnSpPr/>
          <p:nvPr/>
        </p:nvCxnSpPr>
        <p:spPr>
          <a:xfrm flipH="1" rot="10800000">
            <a:off x="2664750" y="5153725"/>
            <a:ext cx="2069700" cy="3516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38"/>
          <p:cNvCxnSpPr/>
          <p:nvPr/>
        </p:nvCxnSpPr>
        <p:spPr>
          <a:xfrm>
            <a:off x="2610650" y="5613550"/>
            <a:ext cx="1244400" cy="554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38"/>
          <p:cNvCxnSpPr/>
          <p:nvPr/>
        </p:nvCxnSpPr>
        <p:spPr>
          <a:xfrm rot="10800000">
            <a:off x="960250" y="5518875"/>
            <a:ext cx="1447500" cy="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3" name="Google Shape;563;p38"/>
          <p:cNvSpPr txBox="1"/>
          <p:nvPr/>
        </p:nvSpPr>
        <p:spPr>
          <a:xfrm>
            <a:off x="7330705" y="3741380"/>
            <a:ext cx="595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H(n)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8"/>
          <p:cNvSpPr txBox="1"/>
          <p:nvPr/>
        </p:nvSpPr>
        <p:spPr>
          <a:xfrm>
            <a:off x="10532962" y="4207823"/>
            <a:ext cx="49231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G(n)                                F(n)                        Parent   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Algoritmo A* (Ejemplo 2, de A a I)</a:t>
            </a:r>
            <a:endParaRPr b="1"/>
          </a:p>
        </p:txBody>
      </p:sp>
      <p:graphicFrame>
        <p:nvGraphicFramePr>
          <p:cNvPr id="571" name="Google Shape;571;p39"/>
          <p:cNvGraphicFramePr/>
          <p:nvPr/>
        </p:nvGraphicFramePr>
        <p:xfrm>
          <a:off x="7925825" y="335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72" name="Google Shape;572;p39"/>
          <p:cNvGraphicFramePr/>
          <p:nvPr/>
        </p:nvGraphicFramePr>
        <p:xfrm>
          <a:off x="7925838" y="45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1978000"/>
                <a:gridCol w="1978000"/>
                <a:gridCol w="1978000"/>
                <a:gridCol w="1978000"/>
              </a:tblGrid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42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73" name="Google Shape;573;p39"/>
          <p:cNvSpPr txBox="1"/>
          <p:nvPr/>
        </p:nvSpPr>
        <p:spPr>
          <a:xfrm>
            <a:off x="987450" y="8129500"/>
            <a:ext cx="77913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Heurística:</a:t>
            </a: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Distancia euclideana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4" name="Google Shape;57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25" y="4017850"/>
            <a:ext cx="6696075" cy="353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5" name="Google Shape;575;p39"/>
          <p:cNvCxnSpPr/>
          <p:nvPr/>
        </p:nvCxnSpPr>
        <p:spPr>
          <a:xfrm flipH="1" rot="10800000">
            <a:off x="933325" y="4423325"/>
            <a:ext cx="1461000" cy="9738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39"/>
          <p:cNvCxnSpPr/>
          <p:nvPr/>
        </p:nvCxnSpPr>
        <p:spPr>
          <a:xfrm>
            <a:off x="825125" y="5654125"/>
            <a:ext cx="1596300" cy="15150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39"/>
          <p:cNvCxnSpPr/>
          <p:nvPr/>
        </p:nvCxnSpPr>
        <p:spPr>
          <a:xfrm>
            <a:off x="960400" y="5532400"/>
            <a:ext cx="1461000" cy="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39"/>
          <p:cNvCxnSpPr/>
          <p:nvPr/>
        </p:nvCxnSpPr>
        <p:spPr>
          <a:xfrm rot="10800000">
            <a:off x="2515975" y="4517850"/>
            <a:ext cx="13500" cy="8928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39"/>
          <p:cNvCxnSpPr/>
          <p:nvPr/>
        </p:nvCxnSpPr>
        <p:spPr>
          <a:xfrm>
            <a:off x="2543000" y="5654125"/>
            <a:ext cx="0" cy="1488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39"/>
          <p:cNvCxnSpPr/>
          <p:nvPr/>
        </p:nvCxnSpPr>
        <p:spPr>
          <a:xfrm flipH="1" rot="10800000">
            <a:off x="2664750" y="5153725"/>
            <a:ext cx="2069700" cy="3516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39"/>
          <p:cNvCxnSpPr/>
          <p:nvPr/>
        </p:nvCxnSpPr>
        <p:spPr>
          <a:xfrm>
            <a:off x="2610650" y="5613550"/>
            <a:ext cx="1244400" cy="5547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39"/>
          <p:cNvCxnSpPr/>
          <p:nvPr/>
        </p:nvCxnSpPr>
        <p:spPr>
          <a:xfrm>
            <a:off x="2678275" y="7263800"/>
            <a:ext cx="3841500" cy="135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39"/>
          <p:cNvCxnSpPr/>
          <p:nvPr/>
        </p:nvCxnSpPr>
        <p:spPr>
          <a:xfrm rot="10800000">
            <a:off x="2543000" y="5627025"/>
            <a:ext cx="0" cy="15015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39"/>
          <p:cNvCxnSpPr/>
          <p:nvPr/>
        </p:nvCxnSpPr>
        <p:spPr>
          <a:xfrm flipH="1" rot="10800000">
            <a:off x="2651225" y="6235725"/>
            <a:ext cx="1271400" cy="8928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39"/>
          <p:cNvSpPr txBox="1"/>
          <p:nvPr/>
        </p:nvSpPr>
        <p:spPr>
          <a:xfrm>
            <a:off x="7330705" y="3741380"/>
            <a:ext cx="595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H(n)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9"/>
          <p:cNvSpPr txBox="1"/>
          <p:nvPr/>
        </p:nvSpPr>
        <p:spPr>
          <a:xfrm>
            <a:off x="10532962" y="4207823"/>
            <a:ext cx="49231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G(n)                                F(n)                        Parent   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0"/>
          <p:cNvSpPr txBox="1"/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Algoritmo A* (Ejemplo 2, de A a I)</a:t>
            </a:r>
            <a:endParaRPr b="1"/>
          </a:p>
        </p:txBody>
      </p:sp>
      <p:graphicFrame>
        <p:nvGraphicFramePr>
          <p:cNvPr id="593" name="Google Shape;593;p40"/>
          <p:cNvGraphicFramePr/>
          <p:nvPr/>
        </p:nvGraphicFramePr>
        <p:xfrm>
          <a:off x="7925825" y="335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  <a:gridCol w="865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594" name="Google Shape;594;p40"/>
          <p:cNvGraphicFramePr/>
          <p:nvPr/>
        </p:nvGraphicFramePr>
        <p:xfrm>
          <a:off x="7925838" y="45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{C6D1A475-AE43-4F53-9FEE-A8AB8CC612C3}</a:tableStyleId>
              </a:tblPr>
              <a:tblGrid>
                <a:gridCol w="1978000"/>
                <a:gridCol w="1978000"/>
                <a:gridCol w="1978000"/>
                <a:gridCol w="1978000"/>
              </a:tblGrid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42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solidFill>
                            <a:srgbClr val="9999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400" u="none" cap="none" strike="noStrike">
                        <a:solidFill>
                          <a:srgbClr val="99999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45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79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51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42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PE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95" name="Google Shape;595;p40"/>
          <p:cNvSpPr txBox="1"/>
          <p:nvPr/>
        </p:nvSpPr>
        <p:spPr>
          <a:xfrm>
            <a:off x="987450" y="8129500"/>
            <a:ext cx="77913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Heurística:</a:t>
            </a:r>
            <a:r>
              <a:rPr b="0" i="0" lang="es-PE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Distancia euclideana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6" name="Google Shape;59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25" y="4017850"/>
            <a:ext cx="6696075" cy="353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7" name="Google Shape;597;p40"/>
          <p:cNvCxnSpPr/>
          <p:nvPr/>
        </p:nvCxnSpPr>
        <p:spPr>
          <a:xfrm flipH="1" rot="10800000">
            <a:off x="933325" y="4423325"/>
            <a:ext cx="1461000" cy="9738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40"/>
          <p:cNvCxnSpPr/>
          <p:nvPr/>
        </p:nvCxnSpPr>
        <p:spPr>
          <a:xfrm>
            <a:off x="825125" y="5654125"/>
            <a:ext cx="1596300" cy="15150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40"/>
          <p:cNvCxnSpPr/>
          <p:nvPr/>
        </p:nvCxnSpPr>
        <p:spPr>
          <a:xfrm>
            <a:off x="960400" y="5532400"/>
            <a:ext cx="1461000" cy="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40"/>
          <p:cNvCxnSpPr/>
          <p:nvPr/>
        </p:nvCxnSpPr>
        <p:spPr>
          <a:xfrm rot="10800000">
            <a:off x="2515975" y="4517850"/>
            <a:ext cx="13500" cy="8928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40"/>
          <p:cNvCxnSpPr/>
          <p:nvPr/>
        </p:nvCxnSpPr>
        <p:spPr>
          <a:xfrm>
            <a:off x="2543000" y="5654125"/>
            <a:ext cx="0" cy="1488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40"/>
          <p:cNvCxnSpPr/>
          <p:nvPr/>
        </p:nvCxnSpPr>
        <p:spPr>
          <a:xfrm flipH="1" rot="10800000">
            <a:off x="2664750" y="5153725"/>
            <a:ext cx="2069700" cy="3516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40"/>
          <p:cNvCxnSpPr/>
          <p:nvPr/>
        </p:nvCxnSpPr>
        <p:spPr>
          <a:xfrm>
            <a:off x="2610650" y="5613550"/>
            <a:ext cx="1244400" cy="5547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40"/>
          <p:cNvCxnSpPr/>
          <p:nvPr/>
        </p:nvCxnSpPr>
        <p:spPr>
          <a:xfrm>
            <a:off x="2678275" y="7263800"/>
            <a:ext cx="3841500" cy="135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40"/>
          <p:cNvCxnSpPr/>
          <p:nvPr/>
        </p:nvCxnSpPr>
        <p:spPr>
          <a:xfrm rot="10800000">
            <a:off x="2543000" y="5627025"/>
            <a:ext cx="0" cy="15015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40"/>
          <p:cNvCxnSpPr/>
          <p:nvPr/>
        </p:nvCxnSpPr>
        <p:spPr>
          <a:xfrm flipH="1" rot="10800000">
            <a:off x="2651225" y="6235725"/>
            <a:ext cx="1271400" cy="8928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7" name="Google Shape;607;p40"/>
          <p:cNvSpPr txBox="1"/>
          <p:nvPr/>
        </p:nvSpPr>
        <p:spPr>
          <a:xfrm>
            <a:off x="7330705" y="3741380"/>
            <a:ext cx="595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H(n)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0"/>
          <p:cNvSpPr txBox="1"/>
          <p:nvPr/>
        </p:nvSpPr>
        <p:spPr>
          <a:xfrm>
            <a:off x="10532962" y="4207823"/>
            <a:ext cx="49231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G(n)                                F(n)                        Parent   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