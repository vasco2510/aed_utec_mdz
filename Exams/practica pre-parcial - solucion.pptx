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5" roundtripDataSignature="AMtx7mhNezi0WVi/Bqs+ptDgQ5x7Jcje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FA88AA-694A-4B88-AA9C-6CB8DAD86ECC}">
  <a:tblStyle styleId="{27FA88AA-694A-4B88-AA9C-6CB8DAD86EC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4"/>
          </a:solidFill>
        </a:fill>
      </a:tcStyle>
    </a:wholeTbl>
    <a:band1H>
      <a:tcTxStyle/>
      <a:tcStyle>
        <a:fill>
          <a:solidFill>
            <a:srgbClr val="CAD5E7"/>
          </a:solidFill>
        </a:fill>
      </a:tcStyle>
    </a:band1H>
    <a:band2H>
      <a:tcTxStyle/>
    </a:band2H>
    <a:band1V>
      <a:tcTxStyle/>
      <a:tcStyle>
        <a:fill>
          <a:solidFill>
            <a:srgbClr val="CAD5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0"/>
            <a:ext cx="853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1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1182687" y="1513284"/>
            <a:ext cx="77598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412750" lvl="0" marL="457200" marR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937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○"/>
              <a:defRPr b="0" i="0" sz="2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683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Roboto"/>
              <a:buChar char="■"/>
              <a:defRPr b="0" i="0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412750" lvl="5" marL="2743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412750" lvl="6" marL="3200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412750" lvl="7" marL="3657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○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412750" lvl="8" marL="4114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11620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3657600" y="4681537"/>
            <a:ext cx="2883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70421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ctrTitle"/>
          </p:nvPr>
        </p:nvSpPr>
        <p:spPr>
          <a:xfrm>
            <a:off x="2678906" y="1214438"/>
            <a:ext cx="37863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" type="subTitle"/>
          </p:nvPr>
        </p:nvSpPr>
        <p:spPr>
          <a:xfrm>
            <a:off x="1371600" y="2880359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457200" y="1183004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0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1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 txBox="1"/>
          <p:nvPr>
            <p:ph type="title"/>
          </p:nvPr>
        </p:nvSpPr>
        <p:spPr>
          <a:xfrm>
            <a:off x="226077" y="357799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3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" name="Google Shape;81;p23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24"/>
          <p:cNvSpPr txBox="1"/>
          <p:nvPr>
            <p:ph idx="1" type="body"/>
          </p:nvPr>
        </p:nvSpPr>
        <p:spPr>
          <a:xfrm>
            <a:off x="475500" y="3304624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PE"/>
              <a:t>Práctica Calificada 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0" lvl="0" marL="165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</a:pPr>
            <a:r>
              <a:rPr b="1" lang="es-PE" sz="2400"/>
              <a:t>Lists, Hash, BST, Heaps</a:t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132213" y="288598"/>
            <a:ext cx="4218858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PE" sz="1300">
                <a:solidFill>
                  <a:schemeClr val="dk2"/>
                </a:solidFill>
              </a:rPr>
              <a:t>1)  (3 pts) Dada la siguiente estructura Node de una lista simplemente enlazada. 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105468" y="897523"/>
            <a:ext cx="206763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PE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2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T data;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Node</a:t>
            </a:r>
            <a:r>
              <a:rPr b="0" i="0" lang="es-PE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s-PE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&gt;*</a:t>
            </a:r>
            <a:r>
              <a:rPr b="0" i="0" lang="es-PE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84496" y="1885999"/>
            <a:ext cx="3664424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Implementa una función que encuentre el elemento al medio de una lista simplemente enlazada. El tiempo de ejecución debe ser O(n), y </a:t>
            </a:r>
            <a:r>
              <a:rPr b="1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usando un solo bucle.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Recuerden: </a:t>
            </a:r>
            <a:r>
              <a:rPr b="1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desconoce el tamaño de la lista.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getMiddle(</a:t>
            </a:r>
            <a:r>
              <a:rPr b="0" i="0" lang="es-PE" sz="1400" u="none" cap="none" strike="noStrike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1400" u="none" cap="none" strike="noStrike">
                <a:solidFill>
                  <a:srgbClr val="2B91A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s-PE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s-PE" sz="1400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Node&lt;T&gt;* fast = head;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Node&lt;T&gt;* slow = head;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PE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step = 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PE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(fast != </a:t>
            </a:r>
            <a:r>
              <a:rPr b="0" i="0" lang="es-PE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nullptr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){       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b="0" i="0" lang="es-PE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(step % 2 == 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    slow = slow-&gt;next;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fast = fast-&gt;next;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    step++;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}  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b="0" i="0" lang="es-PE" sz="1400" u="none" cap="none" strike="noStrike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slow-&gt;data;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132213" y="288597"/>
            <a:ext cx="4105417" cy="121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PE" sz="1300">
                <a:solidFill>
                  <a:schemeClr val="dk2"/>
                </a:solidFill>
              </a:rPr>
              <a:t>2) (4 pts) Implemente un algoritmo para validar si un árbol binario de búsqueda BST esta balanceado.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b="1" lang="es-PE" sz="1300">
                <a:solidFill>
                  <a:schemeClr val="dk2"/>
                </a:solidFill>
              </a:rPr>
              <a:t>	Asegúrese que la complejidad del algoritmo sea O(n). </a:t>
            </a:r>
            <a:r>
              <a:rPr lang="es-PE" sz="1300">
                <a:solidFill>
                  <a:schemeClr val="dk2"/>
                </a:solidFill>
              </a:rPr>
              <a:t>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237630" y="127322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isBalancedOptimo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-&gt;root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nullptr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isBalancedOptimo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-&gt;root)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isBalancedOptimo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8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NodeBT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PE" sz="8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&gt;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PE" sz="8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(</a:t>
            </a:r>
            <a:r>
              <a:rPr b="0" i="0" lang="es-PE" sz="8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nullptr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hleft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isBalancedOptimo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8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-&gt;left); 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hright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isBalancedOptimo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8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-&gt;right);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(hleft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hright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abs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(hleft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hright)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800" u="none" cap="none" strike="noStrike">
                <a:solidFill>
                  <a:srgbClr val="6A737D"/>
                </a:solidFill>
                <a:latin typeface="Consolas"/>
                <a:ea typeface="Consolas"/>
                <a:cs typeface="Consolas"/>
                <a:sym typeface="Consolas"/>
              </a:rPr>
              <a:t>//indicador de no-balanceado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       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6F42C1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(hleft,hright) </a:t>
            </a:r>
            <a:r>
              <a:rPr b="0" i="0" lang="es-PE" sz="8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800" u="none" cap="none" strike="noStrike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}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219919" y="1664772"/>
            <a:ext cx="3664424" cy="1349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PE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1" lang="es-PE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PE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7A82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PE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4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isBalanced</a:t>
            </a: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PE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1" lang="es-PE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PE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PE" sz="14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b="0" i="0" lang="es-PE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132213" y="288598"/>
            <a:ext cx="4132712" cy="74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PE" sz="1300">
                <a:solidFill>
                  <a:schemeClr val="dk2"/>
                </a:solidFill>
              </a:rPr>
              <a:t>3)  (2 pts) Dado el siguiente árbol binario de búsqueda dibuje el árbol resultante después de eliminar los siguientes elementos: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366357" y="1163605"/>
            <a:ext cx="36644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Remover:</a:t>
            </a:r>
            <a:r>
              <a:rPr b="0" i="0" lang="es-PE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66, 51, 55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Reemplazar por el sucesor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8489" y="288598"/>
            <a:ext cx="3047112" cy="1915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754" y="2285954"/>
            <a:ext cx="3290731" cy="2156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376176" y="333713"/>
            <a:ext cx="7656653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4) (3 pts) </a:t>
            </a: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Considere un hashtable con las siguientes características: función hashing </a:t>
            </a:r>
            <a:r>
              <a:rPr b="1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h(x) = x mod n</a:t>
            </a: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resolución de colisiones por el método </a:t>
            </a:r>
            <a:r>
              <a:rPr b="1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open-addressing</a:t>
            </a: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El </a:t>
            </a:r>
            <a:r>
              <a:rPr b="1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rehashing</a:t>
            </a: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redobla el tamaño </a:t>
            </a: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 la tabla. 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le pide insertar los elementos con la restricción de factor de llenado maxFillFactor=0.8 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1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Keys:  2, 3, 6, 8, 10, 12, 13, 22, 23, 25, 26, 33, 35, 44, 56</a:t>
            </a:r>
            <a:endParaRPr b="1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Capacidad inicial n=5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Dibuje cada vez que se redimensiona el hash table y el resultado final.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25" name="Google Shape;125;p5"/>
          <p:cNvGraphicFramePr/>
          <p:nvPr/>
        </p:nvGraphicFramePr>
        <p:xfrm>
          <a:off x="499641" y="244796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{27FA88AA-694A-4B88-AA9C-6CB8DAD86ECC}</a:tableStyleId>
              </a:tblPr>
              <a:tblGrid>
                <a:gridCol w="447550"/>
                <a:gridCol w="447550"/>
              </a:tblGrid>
              <a:tr h="23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sz="1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5"/>
          <p:cNvSpPr txBox="1"/>
          <p:nvPr/>
        </p:nvSpPr>
        <p:spPr>
          <a:xfrm>
            <a:off x="457200" y="4207397"/>
            <a:ext cx="186461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fillFactor = 4 / 5 = 0.8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7" name="Google Shape;127;p5"/>
          <p:cNvGraphicFramePr/>
          <p:nvPr/>
        </p:nvGraphicFramePr>
        <p:xfrm>
          <a:off x="6474107" y="179051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{27FA88AA-694A-4B88-AA9C-6CB8DAD86ECC}</a:tableStyleId>
              </a:tblPr>
              <a:tblGrid>
                <a:gridCol w="385825"/>
                <a:gridCol w="385825"/>
              </a:tblGrid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0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3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4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5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6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7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22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8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9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5"/>
          <p:cNvSpPr txBox="1"/>
          <p:nvPr/>
        </p:nvSpPr>
        <p:spPr>
          <a:xfrm>
            <a:off x="5505691" y="4361285"/>
            <a:ext cx="15119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fillFactor = 8 /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" name="Google Shape;129;p5"/>
          <p:cNvGraphicFramePr/>
          <p:nvPr/>
        </p:nvGraphicFramePr>
        <p:xfrm>
          <a:off x="8121567" y="571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{27FA88AA-694A-4B88-AA9C-6CB8DAD86ECC}</a:tableStyleId>
              </a:tblPr>
              <a:tblGrid>
                <a:gridCol w="385825"/>
                <a:gridCol w="385825"/>
              </a:tblGrid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0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2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3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3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4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22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5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23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6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6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7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25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8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8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9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26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10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10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11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44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12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12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13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13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14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33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15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35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16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>
                          <a:solidFill>
                            <a:schemeClr val="dk2"/>
                          </a:solidFill>
                        </a:rPr>
                        <a:t>56</a:t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17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18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50" u="none" cap="none" strike="noStrike"/>
                        <a:t>19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132212" y="288598"/>
            <a:ext cx="5251829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PE" sz="1300">
                <a:solidFill>
                  <a:schemeClr val="dk2"/>
                </a:solidFill>
              </a:rPr>
              <a:t>6) (3 pts) Dada la siguiente representación de un max-heap.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240969" y="2171447"/>
            <a:ext cx="823855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a) Dibuje el resultado después hacer doble pop            b)  Luego, dibuje el resultado después de insertar ‘W’</a:t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02809" y="2463836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2444" y="563331"/>
            <a:ext cx="2935605" cy="137604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4647063" y="2463835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011" y="2705060"/>
            <a:ext cx="3353747" cy="1590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1748" y="2695906"/>
            <a:ext cx="3630457" cy="1712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132212" y="288597"/>
            <a:ext cx="4844902" cy="118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PE" sz="1300">
                <a:solidFill>
                  <a:schemeClr val="dk2"/>
                </a:solidFill>
              </a:rPr>
              <a:t>5) (2 pts) Dada la siguiente representación de un min-heap.  Complete los nodos vacíos con letras del resto del alfabeto sin perder la propiedad del Heap.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452722" y="2124900"/>
            <a:ext cx="823855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a) Dibuje el resultado después de insertar ‘D’                            b)  Dibuje el resultado después de aplicar pop()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02809" y="2463836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647063" y="2463835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3561" y="259662"/>
            <a:ext cx="2933814" cy="1789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132213" y="288598"/>
            <a:ext cx="3921172" cy="755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PE" sz="1300">
                <a:solidFill>
                  <a:schemeClr val="dk2"/>
                </a:solidFill>
              </a:rPr>
              <a:t>7) (3 pts) </a:t>
            </a:r>
            <a:r>
              <a:rPr lang="es-PE" sz="1400">
                <a:solidFill>
                  <a:srgbClr val="000000"/>
                </a:solidFill>
              </a:rPr>
              <a:t>Cree un disjoint set optimizado (by rank) con el siguiente arreglo y operaciones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PE" sz="1300">
                <a:solidFill>
                  <a:schemeClr val="dk2"/>
                </a:solidFill>
              </a:rPr>
              <a:t>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540366" y="920879"/>
            <a:ext cx="31048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1, 2, 3, 4, 5, 6, 7, 8, 9, 10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70848" y="1443914"/>
            <a:ext cx="2133300" cy="2582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makeSet(1)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makeSet(2)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makeSet(3)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makeSet(4)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makeSet(5)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makeSet(6)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makeSet(10)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920085" y="1443915"/>
            <a:ext cx="2133300" cy="2582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union(1, 10)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union(2, 9)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union(3, 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union(10, 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union(5, 6)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union(7, 1)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union(8, 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union(4, 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PE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union(7, 2)</a:t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470848" y="4107976"/>
            <a:ext cx="37053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Dibuje el DS resultante indicando para cada nodo el valor del rank.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971" y="1113324"/>
            <a:ext cx="4123636" cy="234934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7822277" y="959435"/>
            <a:ext cx="284052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5820262" y="959435"/>
            <a:ext cx="284052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