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0"/>
  </p:notesMasterIdLst>
  <p:sldIdLst>
    <p:sldId id="258" r:id="rId2"/>
    <p:sldId id="268" r:id="rId3"/>
    <p:sldId id="272" r:id="rId4"/>
    <p:sldId id="267" r:id="rId5"/>
    <p:sldId id="269" r:id="rId6"/>
    <p:sldId id="273" r:id="rId7"/>
    <p:sldId id="271" r:id="rId8"/>
    <p:sldId id="274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98" autoAdjust="0"/>
    <p:restoredTop sz="96764" autoAdjust="0"/>
  </p:normalViewPr>
  <p:slideViewPr>
    <p:cSldViewPr snapToGrid="0">
      <p:cViewPr varScale="1">
        <p:scale>
          <a:sx n="128" d="100"/>
          <a:sy n="128" d="100"/>
        </p:scale>
        <p:origin x="58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af8c529a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af8c529a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 b="0" i="0" u="none" strike="noStrike" cap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673100" lvl="1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054100" lvl="2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460500" lvl="3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92300" lvl="4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311400" lvl="5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717800" lvl="6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149600" lvl="7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568700" lvl="8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412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sz="2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sz="2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412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sz="2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ubTitle" idx="1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20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74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28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827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9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803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574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body" idx="1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Práctica Calificada </a:t>
            </a:r>
            <a:endParaRPr dirty="0"/>
          </a:p>
        </p:txBody>
      </p:sp>
      <p:sp>
        <p:nvSpPr>
          <p:cNvPr id="157" name="Google Shape;157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t" anchorCtr="0">
            <a:noAutofit/>
          </a:bodyPr>
          <a:lstStyle/>
          <a:p>
            <a:pPr marL="1651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r>
              <a:rPr lang="en-US" sz="2400" b="1" dirty="0"/>
              <a:t>Graphs &amp; AVL</a:t>
            </a:r>
            <a:endParaRPr lang="en-US" sz="600" b="1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sz="1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C75BF-AB08-4BA0-A591-F7BD6162F368}"/>
              </a:ext>
            </a:extLst>
          </p:cNvPr>
          <p:cNvSpPr txBox="1">
            <a:spLocks/>
          </p:cNvSpPr>
          <p:nvPr/>
        </p:nvSpPr>
        <p:spPr>
          <a:xfrm>
            <a:off x="149574" y="107879"/>
            <a:ext cx="8579822" cy="128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65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300" dirty="0">
                <a:solidFill>
                  <a:schemeClr val="bg2"/>
                </a:solidFill>
              </a:rPr>
              <a:t>1) (3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</a:t>
            </a:r>
            <a:r>
              <a:rPr lang="es-ES" sz="1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Dado el siguiente BST, se le pide insertar los siguientes elementos aplicando las rotaciones necesarias  según el algoritmo recursivo de inserción: 17, 23, 26  (dibuje después de cada inserción)</a:t>
            </a:r>
          </a:p>
          <a:p>
            <a:pPr marL="6858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endParaRPr lang="es-ES" sz="14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3131C1-136D-AED8-6854-958C07C376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27" r="1379" b="1855"/>
          <a:stretch/>
        </p:blipFill>
        <p:spPr>
          <a:xfrm>
            <a:off x="537115" y="1391478"/>
            <a:ext cx="3104827" cy="25589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3F6505-BE58-4134-A2D6-720C54026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1391478"/>
            <a:ext cx="4052771" cy="251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1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E5061B7F-BE2E-4EA0-A413-EA9C6261C128}"/>
              </a:ext>
            </a:extLst>
          </p:cNvPr>
          <p:cNvSpPr txBox="1">
            <a:spLocks/>
          </p:cNvSpPr>
          <p:nvPr/>
        </p:nvSpPr>
        <p:spPr>
          <a:xfrm>
            <a:off x="173621" y="1"/>
            <a:ext cx="8334275" cy="10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2) (3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AVL: M</a:t>
            </a:r>
            <a:r>
              <a:rPr lang="es-ES" sz="1400" dirty="0">
                <a:solidFill>
                  <a:srgbClr val="000000"/>
                </a:solidFill>
              </a:rPr>
              <a:t>uestre el árbol después de cada eliminación: 9 y 10. Use el sucesor.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36DEAD-4D20-47B3-AE48-9AF9DDE3B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9" y="1195810"/>
            <a:ext cx="3291029" cy="199326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679E5A8-D6AF-404B-A762-5A878C0E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91" y="777067"/>
            <a:ext cx="3091666" cy="18664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9EE728-7A67-4C70-AB9B-72CA764F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791" y="2793011"/>
            <a:ext cx="3091666" cy="183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E86F5B-8B38-44CA-B1B4-0F45C833A803}"/>
              </a:ext>
            </a:extLst>
          </p:cNvPr>
          <p:cNvSpPr txBox="1">
            <a:spLocks/>
          </p:cNvSpPr>
          <p:nvPr/>
        </p:nvSpPr>
        <p:spPr>
          <a:xfrm>
            <a:off x="132212" y="288597"/>
            <a:ext cx="4526597" cy="219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3) (4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</a:t>
            </a:r>
            <a:r>
              <a:rPr lang="es-ES" sz="1400" dirty="0">
                <a:solidFill>
                  <a:srgbClr val="000000"/>
                </a:solidFill>
              </a:rPr>
              <a:t>Ejecute el algoritmo de Dijkstra sobre la </a:t>
            </a:r>
            <a:r>
              <a:rPr lang="es-ES" sz="1400" b="1" dirty="0">
                <a:solidFill>
                  <a:srgbClr val="000000"/>
                </a:solidFill>
              </a:rPr>
              <a:t>arista C </a:t>
            </a:r>
            <a:r>
              <a:rPr lang="es-ES" sz="1400" dirty="0">
                <a:solidFill>
                  <a:srgbClr val="000000"/>
                </a:solidFill>
              </a:rPr>
              <a:t>en el siguiente grafo. Después de ejecutar indique final los costos finales y pinte sobre el grafo el árbol resultante. </a:t>
            </a:r>
            <a:r>
              <a:rPr lang="es-ES" sz="1400" b="1" dirty="0">
                <a:solidFill>
                  <a:srgbClr val="000000"/>
                </a:solidFill>
              </a:rPr>
              <a:t>El orden en que se exploran los vértices debe ser legible.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43B3861B-283B-4718-BDE6-42B8F65B19C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440045" y="236511"/>
            <a:ext cx="2999105" cy="2461895"/>
          </a:xfrm>
          <a:prstGeom prst="rect">
            <a:avLst/>
          </a:prstGeom>
          <a:ln/>
        </p:spPr>
      </p:pic>
      <p:graphicFrame>
        <p:nvGraphicFramePr>
          <p:cNvPr id="6" name="Google Shape;278;p33">
            <a:extLst>
              <a:ext uri="{FF2B5EF4-FFF2-40B4-BE49-F238E27FC236}">
                <a16:creationId xmlns:a16="http://schemas.microsoft.com/office/drawing/2014/main" id="{AFC33932-8C80-4963-A6F1-390AEAB69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579104"/>
              </p:ext>
            </p:extLst>
          </p:nvPr>
        </p:nvGraphicFramePr>
        <p:xfrm>
          <a:off x="463385" y="2698406"/>
          <a:ext cx="6392490" cy="8450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850655728"/>
                    </a:ext>
                  </a:extLst>
                </a:gridCol>
              </a:tblGrid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sz="1200"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35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20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oogle Shape;278;p33">
            <a:extLst>
              <a:ext uri="{FF2B5EF4-FFF2-40B4-BE49-F238E27FC236}">
                <a16:creationId xmlns:a16="http://schemas.microsoft.com/office/drawing/2014/main" id="{121A7915-28DF-44B4-AD66-9F56F5358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804992"/>
              </p:ext>
            </p:extLst>
          </p:nvPr>
        </p:nvGraphicFramePr>
        <p:xfrm>
          <a:off x="1102634" y="3753302"/>
          <a:ext cx="5753241" cy="8450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249">
                  <a:extLst>
                    <a:ext uri="{9D8B030D-6E8A-4147-A177-3AD203B41FA5}">
                      <a16:colId xmlns:a16="http://schemas.microsoft.com/office/drawing/2014/main" val="2850655728"/>
                    </a:ext>
                  </a:extLst>
                </a:gridCol>
              </a:tblGrid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sz="1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DE56C50-FFDD-46A2-A036-3AC724734DED}"/>
              </a:ext>
            </a:extLst>
          </p:cNvPr>
          <p:cNvCxnSpPr/>
          <p:nvPr/>
        </p:nvCxnSpPr>
        <p:spPr>
          <a:xfrm flipH="1" flipV="1">
            <a:off x="6497352" y="817848"/>
            <a:ext cx="102231" cy="55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70717D9-48ED-4CAC-B64A-B6060DFD9F62}"/>
              </a:ext>
            </a:extLst>
          </p:cNvPr>
          <p:cNvCxnSpPr/>
          <p:nvPr/>
        </p:nvCxnSpPr>
        <p:spPr>
          <a:xfrm flipV="1">
            <a:off x="7127776" y="2445094"/>
            <a:ext cx="619066" cy="43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6505332-3E7A-4C0A-AAE4-00F801DA3DB5}"/>
              </a:ext>
            </a:extLst>
          </p:cNvPr>
          <p:cNvCxnSpPr/>
          <p:nvPr/>
        </p:nvCxnSpPr>
        <p:spPr>
          <a:xfrm flipH="1" flipV="1">
            <a:off x="6713173" y="1766325"/>
            <a:ext cx="255577" cy="56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44EED8C-A173-4C21-AA0C-C650ACA581A0}"/>
              </a:ext>
            </a:extLst>
          </p:cNvPr>
          <p:cNvCxnSpPr>
            <a:cxnSpLocks/>
          </p:cNvCxnSpPr>
          <p:nvPr/>
        </p:nvCxnSpPr>
        <p:spPr>
          <a:xfrm flipH="1" flipV="1">
            <a:off x="6099787" y="2203647"/>
            <a:ext cx="698578" cy="17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7250D0C-7290-4381-B3C1-C277B295FD6D}"/>
              </a:ext>
            </a:extLst>
          </p:cNvPr>
          <p:cNvCxnSpPr>
            <a:cxnSpLocks/>
          </p:cNvCxnSpPr>
          <p:nvPr/>
        </p:nvCxnSpPr>
        <p:spPr>
          <a:xfrm flipV="1">
            <a:off x="8081933" y="1539145"/>
            <a:ext cx="238539" cy="73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141A3F1-CB91-4F0E-B8E5-EA8DAFD13270}"/>
              </a:ext>
            </a:extLst>
          </p:cNvPr>
          <p:cNvCxnSpPr>
            <a:cxnSpLocks/>
          </p:cNvCxnSpPr>
          <p:nvPr/>
        </p:nvCxnSpPr>
        <p:spPr>
          <a:xfrm flipV="1">
            <a:off x="6713173" y="930491"/>
            <a:ext cx="587524" cy="608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B59EBA7-B5E4-43FE-9B2E-1B29AEB72674}"/>
              </a:ext>
            </a:extLst>
          </p:cNvPr>
          <p:cNvCxnSpPr>
            <a:cxnSpLocks/>
          </p:cNvCxnSpPr>
          <p:nvPr/>
        </p:nvCxnSpPr>
        <p:spPr>
          <a:xfrm flipH="1" flipV="1">
            <a:off x="7563527" y="1766325"/>
            <a:ext cx="388370" cy="46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51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06D9F9C2-94F5-416F-8802-4BE311B819D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65103" y="1323324"/>
            <a:ext cx="4229323" cy="3221465"/>
          </a:xfrm>
          <a:prstGeom prst="rect">
            <a:avLst/>
          </a:prstGeom>
          <a:ln/>
        </p:spPr>
      </p:pic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0EA2DC27-F4C0-4C19-ADD7-BDA1B360228E}"/>
              </a:ext>
            </a:extLst>
          </p:cNvPr>
          <p:cNvSpPr txBox="1">
            <a:spLocks/>
          </p:cNvSpPr>
          <p:nvPr/>
        </p:nvSpPr>
        <p:spPr>
          <a:xfrm>
            <a:off x="149574" y="107879"/>
            <a:ext cx="4954861" cy="269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4) (4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</a:t>
            </a:r>
            <a:r>
              <a:rPr lang="es-ES" sz="1400" dirty="0">
                <a:solidFill>
                  <a:srgbClr val="000000"/>
                </a:solidFill>
              </a:rPr>
              <a:t>Considere el siguiente grafo no dirigido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Encuentre el camino más eficiente para llegar del vértice ‘A’ al vértice ‘J’ utilizando el algoritmo de </a:t>
            </a:r>
            <a:r>
              <a:rPr lang="es-ES" sz="1300" b="1" dirty="0">
                <a:solidFill>
                  <a:schemeClr val="bg2"/>
                </a:solidFill>
              </a:rPr>
              <a:t>A*</a:t>
            </a:r>
            <a:r>
              <a:rPr lang="es-ES" sz="1300" dirty="0">
                <a:solidFill>
                  <a:schemeClr val="bg2"/>
                </a:solidFill>
              </a:rPr>
              <a:t>. 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Los números en las aristas representan la distancia entre vértices.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Los números en los nodos representan el valor de la heurística.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Anote en la tabla la lista abierta y la lista cerrada de cada iteración.</a:t>
            </a:r>
          </a:p>
          <a:p>
            <a:r>
              <a:rPr lang="es-ES" sz="1300" dirty="0">
                <a:solidFill>
                  <a:schemeClr val="bg2"/>
                </a:solidFill>
              </a:rPr>
              <a:t>●	Al final coloque el camino resultante.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85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E497D04-0F06-453D-A114-4A28F154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0EA2DC27-F4C0-4C19-ADD7-BDA1B360228E}"/>
              </a:ext>
            </a:extLst>
          </p:cNvPr>
          <p:cNvSpPr txBox="1">
            <a:spLocks/>
          </p:cNvSpPr>
          <p:nvPr/>
        </p:nvSpPr>
        <p:spPr>
          <a:xfrm>
            <a:off x="149574" y="107879"/>
            <a:ext cx="4797273" cy="68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400" dirty="0">
                <a:solidFill>
                  <a:srgbClr val="000000"/>
                </a:solidFill>
              </a:rPr>
              <a:t>Resuelva aquí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graphicFrame>
        <p:nvGraphicFramePr>
          <p:cNvPr id="7" name="Google Shape;437;p43">
            <a:extLst>
              <a:ext uri="{FF2B5EF4-FFF2-40B4-BE49-F238E27FC236}">
                <a16:creationId xmlns:a16="http://schemas.microsoft.com/office/drawing/2014/main" id="{B5E48585-9283-4BA3-93F2-E4B0774AC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03377"/>
              </p:ext>
            </p:extLst>
          </p:nvPr>
        </p:nvGraphicFramePr>
        <p:xfrm>
          <a:off x="391845" y="911748"/>
          <a:ext cx="5031992" cy="3565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57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</a:t>
                      </a:r>
                      <a:endParaRPr b="1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452276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03905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3BBBE641-8297-48EB-8A36-CAA1725B5750}"/>
              </a:ext>
            </a:extLst>
          </p:cNvPr>
          <p:cNvSpPr txBox="1"/>
          <p:nvPr/>
        </p:nvSpPr>
        <p:spPr>
          <a:xfrm>
            <a:off x="1759245" y="515265"/>
            <a:ext cx="3458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dirty="0">
                <a:latin typeface="Roboto"/>
                <a:ea typeface="Roboto"/>
                <a:cs typeface="Roboto"/>
                <a:sym typeface="Roboto"/>
              </a:rPr>
              <a:t>G(n)                                F(n)                        </a:t>
            </a:r>
            <a:r>
              <a:rPr lang="es-PE" sz="1200" dirty="0" err="1">
                <a:latin typeface="Roboto"/>
                <a:ea typeface="Roboto"/>
                <a:cs typeface="Roboto"/>
                <a:sym typeface="Roboto"/>
              </a:rPr>
              <a:t>Parent</a:t>
            </a:r>
            <a:r>
              <a:rPr lang="es-PE" sz="1200" dirty="0">
                <a:latin typeface="Roboto"/>
                <a:ea typeface="Roboto"/>
                <a:cs typeface="Roboto"/>
                <a:sym typeface="Roboto"/>
              </a:rPr>
              <a:t>     </a:t>
            </a:r>
            <a:endParaRPr lang="es-PE" sz="1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4E0E6F-8555-4653-A894-C09E20BDCE56}"/>
              </a:ext>
            </a:extLst>
          </p:cNvPr>
          <p:cNvSpPr txBox="1"/>
          <p:nvPr/>
        </p:nvSpPr>
        <p:spPr>
          <a:xfrm>
            <a:off x="5772388" y="3240808"/>
            <a:ext cx="223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Camino:</a:t>
            </a:r>
          </a:p>
          <a:p>
            <a:r>
              <a:rPr lang="es-ES" dirty="0"/>
              <a:t> A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F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G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I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J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9156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0E03B3F-8BF0-43FE-B4A2-01FEBD54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0638A16-F4AF-4A35-80D4-AC250F24754C}"/>
              </a:ext>
            </a:extLst>
          </p:cNvPr>
          <p:cNvSpPr txBox="1">
            <a:spLocks/>
          </p:cNvSpPr>
          <p:nvPr/>
        </p:nvSpPr>
        <p:spPr>
          <a:xfrm>
            <a:off x="132212" y="288598"/>
            <a:ext cx="4526597" cy="1019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5) (3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Hallar el </a:t>
            </a:r>
            <a:r>
              <a:rPr lang="es-ES" sz="1400" dirty="0">
                <a:solidFill>
                  <a:srgbClr val="000000"/>
                </a:solidFill>
              </a:rPr>
              <a:t>Árbol de expansión mínima aplicando Prim (H):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E524F-F6BD-473F-AC1F-DD385CA5D95D}"/>
              </a:ext>
            </a:extLst>
          </p:cNvPr>
          <p:cNvSpPr txBox="1"/>
          <p:nvPr/>
        </p:nvSpPr>
        <p:spPr>
          <a:xfrm>
            <a:off x="5249121" y="645813"/>
            <a:ext cx="292670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Prim (orden de aristas):</a:t>
            </a:r>
          </a:p>
          <a:p>
            <a:r>
              <a:rPr lang="es-ES" dirty="0"/>
              <a:t>{H,F}{E,H}{E,G}{D,G}{B,D}{F,I}</a:t>
            </a:r>
          </a:p>
          <a:p>
            <a:r>
              <a:rPr lang="es-ES" dirty="0"/>
              <a:t>{I,K}{A,B}{A,C}{K,L}{L,J}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Dibuje el MST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PE" dirty="0"/>
          </a:p>
        </p:txBody>
      </p:sp>
      <p:pic>
        <p:nvPicPr>
          <p:cNvPr id="1026" name="Picture 2" descr="MATEM´ATICA DISCRETA">
            <a:extLst>
              <a:ext uri="{FF2B5EF4-FFF2-40B4-BE49-F238E27FC236}">
                <a16:creationId xmlns:a16="http://schemas.microsoft.com/office/drawing/2014/main" id="{D6BDF0E2-6FA2-47B5-84D1-5EB8AA7C8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572" y="1147260"/>
            <a:ext cx="5211022" cy="258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C4554B5-EE6C-4C5C-8847-506D1E594A1E}"/>
              </a:ext>
            </a:extLst>
          </p:cNvPr>
          <p:cNvCxnSpPr>
            <a:cxnSpLocks/>
          </p:cNvCxnSpPr>
          <p:nvPr/>
        </p:nvCxnSpPr>
        <p:spPr>
          <a:xfrm flipH="1">
            <a:off x="1942391" y="2457242"/>
            <a:ext cx="795131" cy="83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4C6CF84-086E-4512-8F5E-390EC296DE56}"/>
              </a:ext>
            </a:extLst>
          </p:cNvPr>
          <p:cNvCxnSpPr>
            <a:cxnSpLocks/>
          </p:cNvCxnSpPr>
          <p:nvPr/>
        </p:nvCxnSpPr>
        <p:spPr>
          <a:xfrm flipH="1">
            <a:off x="2016225" y="2457242"/>
            <a:ext cx="795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3733230-47E1-41EB-9AE2-67D68C19175B}"/>
              </a:ext>
            </a:extLst>
          </p:cNvPr>
          <p:cNvCxnSpPr>
            <a:cxnSpLocks/>
          </p:cNvCxnSpPr>
          <p:nvPr/>
        </p:nvCxnSpPr>
        <p:spPr>
          <a:xfrm flipH="1">
            <a:off x="2016225" y="1601812"/>
            <a:ext cx="795131" cy="83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360F391-B828-42E0-948A-9A0C08E44C19}"/>
              </a:ext>
            </a:extLst>
          </p:cNvPr>
          <p:cNvCxnSpPr>
            <a:cxnSpLocks/>
          </p:cNvCxnSpPr>
          <p:nvPr/>
        </p:nvCxnSpPr>
        <p:spPr>
          <a:xfrm flipH="1">
            <a:off x="1975523" y="1564616"/>
            <a:ext cx="795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D6480BD-813E-4441-B5B4-AA4CF4775E59}"/>
              </a:ext>
            </a:extLst>
          </p:cNvPr>
          <p:cNvCxnSpPr>
            <a:cxnSpLocks/>
          </p:cNvCxnSpPr>
          <p:nvPr/>
        </p:nvCxnSpPr>
        <p:spPr>
          <a:xfrm flipH="1">
            <a:off x="1147261" y="1564616"/>
            <a:ext cx="795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BA8F3E0-A7A5-48A4-AC4D-E1DED7F430F7}"/>
              </a:ext>
            </a:extLst>
          </p:cNvPr>
          <p:cNvCxnSpPr>
            <a:cxnSpLocks/>
          </p:cNvCxnSpPr>
          <p:nvPr/>
        </p:nvCxnSpPr>
        <p:spPr>
          <a:xfrm flipH="1">
            <a:off x="1925788" y="3386790"/>
            <a:ext cx="795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3F7A6D7-B3FF-4D28-AA52-623D74DD9673}"/>
              </a:ext>
            </a:extLst>
          </p:cNvPr>
          <p:cNvCxnSpPr>
            <a:cxnSpLocks/>
          </p:cNvCxnSpPr>
          <p:nvPr/>
        </p:nvCxnSpPr>
        <p:spPr>
          <a:xfrm flipH="1">
            <a:off x="2811355" y="3393329"/>
            <a:ext cx="795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FC72AC4-F5F5-4951-A1AE-F9A302B29DD9}"/>
              </a:ext>
            </a:extLst>
          </p:cNvPr>
          <p:cNvCxnSpPr>
            <a:cxnSpLocks/>
          </p:cNvCxnSpPr>
          <p:nvPr/>
        </p:nvCxnSpPr>
        <p:spPr>
          <a:xfrm flipH="1">
            <a:off x="243273" y="1630179"/>
            <a:ext cx="795131" cy="83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1DBD501-4FF9-42F4-BAF5-F6E6A9CE68CE}"/>
              </a:ext>
            </a:extLst>
          </p:cNvPr>
          <p:cNvCxnSpPr>
            <a:cxnSpLocks/>
          </p:cNvCxnSpPr>
          <p:nvPr/>
        </p:nvCxnSpPr>
        <p:spPr>
          <a:xfrm flipH="1" flipV="1">
            <a:off x="243273" y="2530053"/>
            <a:ext cx="795131" cy="789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2361D64-6A91-4FAA-96F4-DFA26C21A6A3}"/>
              </a:ext>
            </a:extLst>
          </p:cNvPr>
          <p:cNvCxnSpPr>
            <a:cxnSpLocks/>
          </p:cNvCxnSpPr>
          <p:nvPr/>
        </p:nvCxnSpPr>
        <p:spPr>
          <a:xfrm flipH="1">
            <a:off x="3712503" y="2537577"/>
            <a:ext cx="795131" cy="83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93B3A64-3E4D-4E92-823C-08A511F31C3E}"/>
              </a:ext>
            </a:extLst>
          </p:cNvPr>
          <p:cNvCxnSpPr>
            <a:cxnSpLocks/>
          </p:cNvCxnSpPr>
          <p:nvPr/>
        </p:nvCxnSpPr>
        <p:spPr>
          <a:xfrm flipH="1" flipV="1">
            <a:off x="3755591" y="1643024"/>
            <a:ext cx="795131" cy="789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92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formatyka. Konkursy i algorytmy.">
            <a:extLst>
              <a:ext uri="{FF2B5EF4-FFF2-40B4-BE49-F238E27FC236}">
                <a16:creationId xmlns:a16="http://schemas.microsoft.com/office/drawing/2014/main" id="{52DAD707-9E8D-87C9-2C05-2B6831424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17" y="1391479"/>
            <a:ext cx="3697564" cy="272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86543B-2D09-36ED-E934-BF261C6310B9}"/>
              </a:ext>
            </a:extLst>
          </p:cNvPr>
          <p:cNvSpPr txBox="1">
            <a:spLocks/>
          </p:cNvSpPr>
          <p:nvPr/>
        </p:nvSpPr>
        <p:spPr>
          <a:xfrm>
            <a:off x="132212" y="288598"/>
            <a:ext cx="7665746" cy="1019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ES" sz="1300" dirty="0">
                <a:solidFill>
                  <a:schemeClr val="bg2"/>
                </a:solidFill>
              </a:rPr>
              <a:t>6) (3 </a:t>
            </a:r>
            <a:r>
              <a:rPr lang="es-ES" sz="1300" dirty="0" err="1">
                <a:solidFill>
                  <a:schemeClr val="bg2"/>
                </a:solidFill>
              </a:rPr>
              <a:t>pts</a:t>
            </a:r>
            <a:r>
              <a:rPr lang="es-ES" sz="1300" dirty="0">
                <a:solidFill>
                  <a:schemeClr val="bg2"/>
                </a:solidFill>
              </a:rPr>
              <a:t>) Dado el siguiente grafo aplique el algoritmo de ordenamiento topológico</a:t>
            </a:r>
            <a:r>
              <a:rPr lang="es-ES" sz="1400" dirty="0">
                <a:solidFill>
                  <a:srgbClr val="000000"/>
                </a:solidFill>
              </a:rPr>
              <a:t>:</a:t>
            </a:r>
          </a:p>
          <a:p>
            <a:r>
              <a:rPr lang="es-ES" sz="1300" dirty="0">
                <a:solidFill>
                  <a:schemeClr val="bg2"/>
                </a:solidFill>
              </a:rPr>
              <a:t>	</a:t>
            </a:r>
            <a:endParaRPr lang="es-PE" sz="1300" dirty="0">
              <a:solidFill>
                <a:schemeClr val="bg2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3F5754-EB1D-41D9-A4C8-CAFCABB57AF8}"/>
              </a:ext>
            </a:extLst>
          </p:cNvPr>
          <p:cNvSpPr txBox="1"/>
          <p:nvPr/>
        </p:nvSpPr>
        <p:spPr>
          <a:xfrm>
            <a:off x="4799180" y="1823120"/>
            <a:ext cx="2214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</a:t>
            </a:r>
            <a:r>
              <a:rPr lang="es-ES" dirty="0">
                <a:sym typeface="Wingdings" panose="05000000000000000000" pitchFamily="2" charset="2"/>
              </a:rPr>
              <a:t>6784132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7784830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409</Words>
  <Application>Microsoft Office PowerPoint</Application>
  <PresentationFormat>Presentación en pantalla (16:9)</PresentationFormat>
  <Paragraphs>108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Roboto</vt:lpstr>
      <vt:lpstr>Tahoma</vt:lpstr>
      <vt:lpstr>Arial</vt:lpstr>
      <vt:lpstr>Calibri</vt:lpstr>
      <vt:lpstr>Material</vt:lpstr>
      <vt:lpstr>Práctica Calificada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</dc:title>
  <cp:lastModifiedBy>heider sanchez</cp:lastModifiedBy>
  <cp:revision>73</cp:revision>
  <dcterms:modified xsi:type="dcterms:W3CDTF">2022-12-01T22:21:44Z</dcterms:modified>
</cp:coreProperties>
</file>