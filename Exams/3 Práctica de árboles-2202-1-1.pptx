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2EAOFgrygkZS7+vFaalQ+pis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E83967-1FC0-45D4-8CA9-62D8B9A1C81B}">
  <a:tblStyle styleId="{C4E83967-1FC0-45D4-8CA9-62D8B9A1C8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regular.fntdata"/><Relationship Id="rId25" Type="http://schemas.openxmlformats.org/officeDocument/2006/relationships/slide" Target="slides/slide18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3884414" y="8685213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0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title"/>
          </p:nvPr>
        </p:nvSpPr>
        <p:spPr>
          <a:xfrm>
            <a:off x="457200" y="0"/>
            <a:ext cx="853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1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1182687" y="1513284"/>
            <a:ext cx="77598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412750" lvl="0" marL="457200" marR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937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○"/>
              <a:defRPr b="0" i="0" sz="2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683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Roboto"/>
              <a:buChar char="■"/>
              <a:defRPr b="0" i="0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412750" lvl="5" marL="2743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412750" lvl="6" marL="3200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412750" lvl="7" marL="3657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○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412750" lvl="8" marL="4114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7" name="Google Shape;27;p23"/>
          <p:cNvSpPr txBox="1"/>
          <p:nvPr>
            <p:ph idx="10" type="dt"/>
          </p:nvPr>
        </p:nvSpPr>
        <p:spPr>
          <a:xfrm>
            <a:off x="11620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3657600" y="4681537"/>
            <a:ext cx="2883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70421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ctrTitle"/>
          </p:nvPr>
        </p:nvSpPr>
        <p:spPr>
          <a:xfrm>
            <a:off x="2678906" y="1214438"/>
            <a:ext cx="37863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24"/>
          <p:cNvSpPr txBox="1"/>
          <p:nvPr>
            <p:ph idx="1" type="subTitle"/>
          </p:nvPr>
        </p:nvSpPr>
        <p:spPr>
          <a:xfrm>
            <a:off x="1371600" y="2880359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457200" y="1183004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5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6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6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" name="Google Shape;46;p26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8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2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6" name="Google Shape;56;p2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9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0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0"/>
          <p:cNvSpPr txBox="1"/>
          <p:nvPr>
            <p:ph type="title"/>
          </p:nvPr>
        </p:nvSpPr>
        <p:spPr>
          <a:xfrm>
            <a:off x="226077" y="357799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2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32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7" name="Google Shape;77;p3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4"/>
          <p:cNvSpPr txBox="1"/>
          <p:nvPr>
            <p:ph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34"/>
          <p:cNvSpPr txBox="1"/>
          <p:nvPr>
            <p:ph idx="1" type="body"/>
          </p:nvPr>
        </p:nvSpPr>
        <p:spPr>
          <a:xfrm>
            <a:off x="475500" y="3304624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" name="Google Shape;96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" name="Google Shape;9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" name="Google Shape;123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8" name="Google Shape;12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141" name="Google Shape;141;p1"/>
          <p:cNvSpPr txBox="1"/>
          <p:nvPr>
            <p:ph idx="1" type="body"/>
          </p:nvPr>
        </p:nvSpPr>
        <p:spPr>
          <a:xfrm>
            <a:off x="460950" y="1768622"/>
            <a:ext cx="8222100" cy="2997447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C- Dado el siguiente árbol B de orden 3,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inserte los elementos  34, 48, 44.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Dibuje después de cada inserción.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119" y="2658463"/>
            <a:ext cx="3441612" cy="11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460950" y="1768623"/>
            <a:ext cx="8222100" cy="620784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C- Dado el siguiente árbol B de orden 3,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inserte los elementos  34, 48, 44.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Dibuje después de cada inserción.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2" name="Google Shape;152;p2"/>
          <p:cNvGraphicFramePr/>
          <p:nvPr/>
        </p:nvGraphicFramePr>
        <p:xfrm>
          <a:off x="5395118" y="40969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53" name="Google Shape;153;p2"/>
          <p:cNvCxnSpPr/>
          <p:nvPr/>
        </p:nvCxnSpPr>
        <p:spPr>
          <a:xfrm>
            <a:off x="5159461" y="3461272"/>
            <a:ext cx="847800" cy="635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54" name="Google Shape;154;p2"/>
          <p:cNvGraphicFramePr/>
          <p:nvPr/>
        </p:nvGraphicFramePr>
        <p:xfrm>
          <a:off x="1095296" y="4105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55" name="Google Shape;155;p2"/>
          <p:cNvCxnSpPr/>
          <p:nvPr/>
        </p:nvCxnSpPr>
        <p:spPr>
          <a:xfrm flipH="1">
            <a:off x="1830604" y="3460119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56" name="Google Shape;156;p2"/>
          <p:cNvGraphicFramePr/>
          <p:nvPr/>
        </p:nvGraphicFramePr>
        <p:xfrm>
          <a:off x="2745223" y="30501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7" name="Google Shape;157;p2"/>
          <p:cNvGraphicFramePr/>
          <p:nvPr/>
        </p:nvGraphicFramePr>
        <p:xfrm>
          <a:off x="2418035" y="4105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58" name="Google Shape;158;p2"/>
          <p:cNvCxnSpPr/>
          <p:nvPr/>
        </p:nvCxnSpPr>
        <p:spPr>
          <a:xfrm flipH="1">
            <a:off x="3030224" y="3414864"/>
            <a:ext cx="193500" cy="691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59" name="Google Shape;159;p2"/>
          <p:cNvGraphicFramePr/>
          <p:nvPr/>
        </p:nvGraphicFramePr>
        <p:xfrm>
          <a:off x="3889254" y="4087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60" name="Google Shape;160;p2"/>
          <p:cNvGraphicFramePr/>
          <p:nvPr/>
        </p:nvGraphicFramePr>
        <p:xfrm>
          <a:off x="4438116" y="304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61" name="Google Shape;161;p2"/>
          <p:cNvGraphicFramePr/>
          <p:nvPr/>
        </p:nvGraphicFramePr>
        <p:xfrm>
          <a:off x="3702225" y="2410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62" name="Google Shape;162;p2"/>
          <p:cNvCxnSpPr/>
          <p:nvPr/>
        </p:nvCxnSpPr>
        <p:spPr>
          <a:xfrm flipH="1">
            <a:off x="4237817" y="3396864"/>
            <a:ext cx="193621" cy="691078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2"/>
          <p:cNvCxnSpPr/>
          <p:nvPr/>
        </p:nvCxnSpPr>
        <p:spPr>
          <a:xfrm flipH="1">
            <a:off x="3223804" y="2775339"/>
            <a:ext cx="485100" cy="274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2"/>
          <p:cNvCxnSpPr/>
          <p:nvPr/>
        </p:nvCxnSpPr>
        <p:spPr>
          <a:xfrm>
            <a:off x="4180726" y="2775339"/>
            <a:ext cx="604800" cy="254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171" name="Google Shape;171;p3"/>
          <p:cNvSpPr txBox="1"/>
          <p:nvPr>
            <p:ph idx="1" type="body"/>
          </p:nvPr>
        </p:nvSpPr>
        <p:spPr>
          <a:xfrm>
            <a:off x="460950" y="1768623"/>
            <a:ext cx="8222100" cy="620784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C- Dado el siguiente árbol B de orden 3,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inserte los elementos  34, 48, 44.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Dibuje después de cada inserción.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3" name="Google Shape;173;p3"/>
          <p:cNvGraphicFramePr/>
          <p:nvPr/>
        </p:nvGraphicFramePr>
        <p:xfrm>
          <a:off x="5348400" y="40969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4" name="Google Shape;174;p3"/>
          <p:cNvCxnSpPr/>
          <p:nvPr/>
        </p:nvCxnSpPr>
        <p:spPr>
          <a:xfrm>
            <a:off x="4916617" y="3409037"/>
            <a:ext cx="1044000" cy="687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75" name="Google Shape;175;p3"/>
          <p:cNvGraphicFramePr/>
          <p:nvPr/>
        </p:nvGraphicFramePr>
        <p:xfrm>
          <a:off x="1095296" y="4105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6" name="Google Shape;176;p3"/>
          <p:cNvCxnSpPr/>
          <p:nvPr/>
        </p:nvCxnSpPr>
        <p:spPr>
          <a:xfrm flipH="1">
            <a:off x="1830604" y="3460119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77" name="Google Shape;177;p3"/>
          <p:cNvGraphicFramePr/>
          <p:nvPr/>
        </p:nvGraphicFramePr>
        <p:xfrm>
          <a:off x="2745223" y="30501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78" name="Google Shape;178;p3"/>
          <p:cNvGraphicFramePr/>
          <p:nvPr/>
        </p:nvGraphicFramePr>
        <p:xfrm>
          <a:off x="2418035" y="4105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79" name="Google Shape;179;p3"/>
          <p:cNvCxnSpPr/>
          <p:nvPr/>
        </p:nvCxnSpPr>
        <p:spPr>
          <a:xfrm flipH="1">
            <a:off x="3030224" y="3414864"/>
            <a:ext cx="193500" cy="691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80" name="Google Shape;180;p3"/>
          <p:cNvGraphicFramePr/>
          <p:nvPr/>
        </p:nvGraphicFramePr>
        <p:xfrm>
          <a:off x="3889254" y="4087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1" name="Google Shape;181;p3"/>
          <p:cNvGraphicFramePr/>
          <p:nvPr/>
        </p:nvGraphicFramePr>
        <p:xfrm>
          <a:off x="4438116" y="304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2" name="Google Shape;182;p3"/>
          <p:cNvGraphicFramePr/>
          <p:nvPr/>
        </p:nvGraphicFramePr>
        <p:xfrm>
          <a:off x="3702225" y="2410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83" name="Google Shape;183;p3"/>
          <p:cNvCxnSpPr/>
          <p:nvPr/>
        </p:nvCxnSpPr>
        <p:spPr>
          <a:xfrm flipH="1">
            <a:off x="4237817" y="3396864"/>
            <a:ext cx="193621" cy="691078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3"/>
          <p:cNvCxnSpPr/>
          <p:nvPr/>
        </p:nvCxnSpPr>
        <p:spPr>
          <a:xfrm flipH="1">
            <a:off x="3223804" y="2775339"/>
            <a:ext cx="485100" cy="274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3"/>
          <p:cNvCxnSpPr/>
          <p:nvPr/>
        </p:nvCxnSpPr>
        <p:spPr>
          <a:xfrm>
            <a:off x="4180726" y="2775339"/>
            <a:ext cx="604800" cy="254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86" name="Google Shape;186;p3"/>
          <p:cNvGraphicFramePr/>
          <p:nvPr/>
        </p:nvGraphicFramePr>
        <p:xfrm>
          <a:off x="6962505" y="40879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87" name="Google Shape;187;p3"/>
          <p:cNvCxnSpPr/>
          <p:nvPr/>
        </p:nvCxnSpPr>
        <p:spPr>
          <a:xfrm>
            <a:off x="5348400" y="3376058"/>
            <a:ext cx="2226300" cy="711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194" name="Google Shape;194;p4"/>
          <p:cNvSpPr txBox="1"/>
          <p:nvPr>
            <p:ph idx="1" type="body"/>
          </p:nvPr>
        </p:nvSpPr>
        <p:spPr>
          <a:xfrm>
            <a:off x="460950" y="1768623"/>
            <a:ext cx="8222100" cy="620784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C- Dado el siguiente árbol B de orden 3,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inserte los elementos  34, 48, 44.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Dibuje después de cada inserción.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6" name="Google Shape;196;p4"/>
          <p:cNvGraphicFramePr/>
          <p:nvPr/>
        </p:nvGraphicFramePr>
        <p:xfrm>
          <a:off x="5348400" y="40969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97" name="Google Shape;197;p4"/>
          <p:cNvCxnSpPr/>
          <p:nvPr/>
        </p:nvCxnSpPr>
        <p:spPr>
          <a:xfrm>
            <a:off x="4916617" y="3409037"/>
            <a:ext cx="1044000" cy="687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98" name="Google Shape;198;p4"/>
          <p:cNvGraphicFramePr/>
          <p:nvPr/>
        </p:nvGraphicFramePr>
        <p:xfrm>
          <a:off x="1095296" y="4105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99" name="Google Shape;199;p4"/>
          <p:cNvCxnSpPr/>
          <p:nvPr/>
        </p:nvCxnSpPr>
        <p:spPr>
          <a:xfrm flipH="1">
            <a:off x="1830604" y="3460119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00" name="Google Shape;200;p4"/>
          <p:cNvGraphicFramePr/>
          <p:nvPr/>
        </p:nvGraphicFramePr>
        <p:xfrm>
          <a:off x="2745223" y="30501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1" name="Google Shape;201;p4"/>
          <p:cNvGraphicFramePr/>
          <p:nvPr/>
        </p:nvGraphicFramePr>
        <p:xfrm>
          <a:off x="2418035" y="4105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02" name="Google Shape;202;p4"/>
          <p:cNvCxnSpPr/>
          <p:nvPr/>
        </p:nvCxnSpPr>
        <p:spPr>
          <a:xfrm flipH="1">
            <a:off x="3030224" y="3414864"/>
            <a:ext cx="193500" cy="691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03" name="Google Shape;203;p4"/>
          <p:cNvGraphicFramePr/>
          <p:nvPr/>
        </p:nvGraphicFramePr>
        <p:xfrm>
          <a:off x="3889254" y="4087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4" name="Google Shape;204;p4"/>
          <p:cNvGraphicFramePr/>
          <p:nvPr/>
        </p:nvGraphicFramePr>
        <p:xfrm>
          <a:off x="4438116" y="304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5" name="Google Shape;205;p4"/>
          <p:cNvGraphicFramePr/>
          <p:nvPr/>
        </p:nvGraphicFramePr>
        <p:xfrm>
          <a:off x="3702225" y="2410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06" name="Google Shape;206;p4"/>
          <p:cNvCxnSpPr/>
          <p:nvPr/>
        </p:nvCxnSpPr>
        <p:spPr>
          <a:xfrm flipH="1">
            <a:off x="4237817" y="3396864"/>
            <a:ext cx="193621" cy="691078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p4"/>
          <p:cNvCxnSpPr/>
          <p:nvPr/>
        </p:nvCxnSpPr>
        <p:spPr>
          <a:xfrm flipH="1">
            <a:off x="3223804" y="2775339"/>
            <a:ext cx="485100" cy="274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p4"/>
          <p:cNvCxnSpPr/>
          <p:nvPr/>
        </p:nvCxnSpPr>
        <p:spPr>
          <a:xfrm>
            <a:off x="4180726" y="2775339"/>
            <a:ext cx="604800" cy="254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09" name="Google Shape;209;p4"/>
          <p:cNvGraphicFramePr/>
          <p:nvPr/>
        </p:nvGraphicFramePr>
        <p:xfrm>
          <a:off x="6962505" y="40879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10" name="Google Shape;210;p4"/>
          <p:cNvCxnSpPr/>
          <p:nvPr/>
        </p:nvCxnSpPr>
        <p:spPr>
          <a:xfrm>
            <a:off x="5348400" y="3376058"/>
            <a:ext cx="2226300" cy="711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217" name="Google Shape;217;p5"/>
          <p:cNvSpPr txBox="1"/>
          <p:nvPr>
            <p:ph idx="1" type="body"/>
          </p:nvPr>
        </p:nvSpPr>
        <p:spPr>
          <a:xfrm>
            <a:off x="471900" y="1816526"/>
            <a:ext cx="8222100" cy="2997447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D- Sobre el árbol B siguiente,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remueva el 15 y después el 40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Dibuje despues de cada eliminación.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559558" y="4660084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Reemplazar por el sucesor</a:t>
            </a:r>
            <a:endParaRPr/>
          </a:p>
        </p:txBody>
      </p:sp>
      <p:pic>
        <p:nvPicPr>
          <p:cNvPr id="219" name="Google Shape;2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31" y="2319186"/>
            <a:ext cx="4811606" cy="191135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(3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227" name="Google Shape;227;p6"/>
          <p:cNvSpPr txBox="1"/>
          <p:nvPr>
            <p:ph idx="1" type="body"/>
          </p:nvPr>
        </p:nvSpPr>
        <p:spPr>
          <a:xfrm>
            <a:off x="405156" y="1584530"/>
            <a:ext cx="8222100" cy="381817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D- Sobre el árbol B siguiente,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remueva el 15 y después el 40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Dibuje despues de cada eliminación.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559558" y="4660084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Reemplazar por el sucesor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(3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0" name="Google Shape;230;p6"/>
          <p:cNvGraphicFramePr/>
          <p:nvPr/>
        </p:nvGraphicFramePr>
        <p:xfrm>
          <a:off x="5582006" y="3893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60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31" name="Google Shape;231;p6"/>
          <p:cNvCxnSpPr/>
          <p:nvPr/>
        </p:nvCxnSpPr>
        <p:spPr>
          <a:xfrm>
            <a:off x="5150223" y="3205448"/>
            <a:ext cx="1044000" cy="687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32" name="Google Shape;232;p6"/>
          <p:cNvGraphicFramePr/>
          <p:nvPr/>
        </p:nvGraphicFramePr>
        <p:xfrm>
          <a:off x="1328902" y="3902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33" name="Google Shape;233;p6"/>
          <p:cNvCxnSpPr/>
          <p:nvPr/>
        </p:nvCxnSpPr>
        <p:spPr>
          <a:xfrm flipH="1">
            <a:off x="2064210" y="3256530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34" name="Google Shape;234;p6"/>
          <p:cNvGraphicFramePr/>
          <p:nvPr/>
        </p:nvGraphicFramePr>
        <p:xfrm>
          <a:off x="2978829" y="2846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35" name="Google Shape;235;p6"/>
          <p:cNvGraphicFramePr/>
          <p:nvPr/>
        </p:nvGraphicFramePr>
        <p:xfrm>
          <a:off x="2651641" y="3902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36" name="Google Shape;236;p6"/>
          <p:cNvCxnSpPr/>
          <p:nvPr/>
        </p:nvCxnSpPr>
        <p:spPr>
          <a:xfrm flipH="1">
            <a:off x="3263830" y="3211275"/>
            <a:ext cx="193500" cy="691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37" name="Google Shape;237;p6"/>
          <p:cNvGraphicFramePr/>
          <p:nvPr/>
        </p:nvGraphicFramePr>
        <p:xfrm>
          <a:off x="4122860" y="3884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38" name="Google Shape;238;p6"/>
          <p:cNvGraphicFramePr/>
          <p:nvPr/>
        </p:nvGraphicFramePr>
        <p:xfrm>
          <a:off x="4671722" y="28407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39" name="Google Shape;239;p6"/>
          <p:cNvGraphicFramePr/>
          <p:nvPr/>
        </p:nvGraphicFramePr>
        <p:xfrm>
          <a:off x="3935831" y="2207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40" name="Google Shape;240;p6"/>
          <p:cNvCxnSpPr/>
          <p:nvPr/>
        </p:nvCxnSpPr>
        <p:spPr>
          <a:xfrm flipH="1">
            <a:off x="4471423" y="3193275"/>
            <a:ext cx="193621" cy="691078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6"/>
          <p:cNvCxnSpPr/>
          <p:nvPr/>
        </p:nvCxnSpPr>
        <p:spPr>
          <a:xfrm flipH="1">
            <a:off x="3457410" y="2571750"/>
            <a:ext cx="485100" cy="274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6"/>
          <p:cNvCxnSpPr/>
          <p:nvPr/>
        </p:nvCxnSpPr>
        <p:spPr>
          <a:xfrm>
            <a:off x="4414332" y="2571750"/>
            <a:ext cx="604800" cy="254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249" name="Google Shape;249;p7"/>
          <p:cNvSpPr txBox="1"/>
          <p:nvPr>
            <p:ph idx="1" type="body"/>
          </p:nvPr>
        </p:nvSpPr>
        <p:spPr>
          <a:xfrm>
            <a:off x="405156" y="1584530"/>
            <a:ext cx="8222100" cy="381817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D- Sobre el árbol B siguiente,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remueva el 15 y después el 40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Dibuje despues de cada eliminación.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559558" y="4660084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Reemplazar por el sucesor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(3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7"/>
          <p:cNvGraphicFramePr/>
          <p:nvPr/>
        </p:nvGraphicFramePr>
        <p:xfrm>
          <a:off x="5582006" y="3893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60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53" name="Google Shape;253;p7"/>
          <p:cNvCxnSpPr/>
          <p:nvPr/>
        </p:nvCxnSpPr>
        <p:spPr>
          <a:xfrm>
            <a:off x="5150223" y="3205448"/>
            <a:ext cx="1044000" cy="6879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54" name="Google Shape;254;p7"/>
          <p:cNvGraphicFramePr/>
          <p:nvPr/>
        </p:nvGraphicFramePr>
        <p:xfrm>
          <a:off x="1328902" y="3902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55" name="Google Shape;255;p7"/>
          <p:cNvCxnSpPr/>
          <p:nvPr/>
        </p:nvCxnSpPr>
        <p:spPr>
          <a:xfrm flipH="1">
            <a:off x="2064210" y="3256530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56" name="Google Shape;256;p7"/>
          <p:cNvGraphicFramePr/>
          <p:nvPr/>
        </p:nvGraphicFramePr>
        <p:xfrm>
          <a:off x="2978829" y="2846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27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57" name="Google Shape;257;p7"/>
          <p:cNvGraphicFramePr/>
          <p:nvPr/>
        </p:nvGraphicFramePr>
        <p:xfrm>
          <a:off x="2651641" y="3902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58" name="Google Shape;258;p7"/>
          <p:cNvCxnSpPr/>
          <p:nvPr/>
        </p:nvCxnSpPr>
        <p:spPr>
          <a:xfrm flipH="1">
            <a:off x="3263830" y="3211275"/>
            <a:ext cx="193500" cy="691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59" name="Google Shape;259;p7"/>
          <p:cNvGraphicFramePr/>
          <p:nvPr/>
        </p:nvGraphicFramePr>
        <p:xfrm>
          <a:off x="4122860" y="3884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60" name="Google Shape;260;p7"/>
          <p:cNvGraphicFramePr/>
          <p:nvPr/>
        </p:nvGraphicFramePr>
        <p:xfrm>
          <a:off x="4671722" y="28407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50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61" name="Google Shape;261;p7"/>
          <p:cNvGraphicFramePr/>
          <p:nvPr/>
        </p:nvGraphicFramePr>
        <p:xfrm>
          <a:off x="3935831" y="2207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62" name="Google Shape;262;p7"/>
          <p:cNvCxnSpPr/>
          <p:nvPr/>
        </p:nvCxnSpPr>
        <p:spPr>
          <a:xfrm flipH="1">
            <a:off x="4471423" y="3193275"/>
            <a:ext cx="193621" cy="691078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7"/>
          <p:cNvCxnSpPr/>
          <p:nvPr/>
        </p:nvCxnSpPr>
        <p:spPr>
          <a:xfrm flipH="1">
            <a:off x="3457410" y="2571750"/>
            <a:ext cx="485100" cy="274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4414332" y="2571750"/>
            <a:ext cx="604800" cy="254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270" name="Google Shape;270;p8"/>
          <p:cNvSpPr txBox="1"/>
          <p:nvPr>
            <p:ph idx="1" type="body"/>
          </p:nvPr>
        </p:nvSpPr>
        <p:spPr>
          <a:xfrm>
            <a:off x="130044" y="1708059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E- Inserte los siguientes elementos en un árbol B+ de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orden 4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5, 26, 89, 41, 44, 31, 11, 52, 100, 8, 55.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ibuje árbol final resultante.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225476" y="4476574"/>
            <a:ext cx="7652644" cy="470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criterio de distribución en el split para una cantidad impar de elementos, seria asignar la mitad + 1  al nodo izquierdo.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1684582" y="3156650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llave en un nodo interno, es el máximo del subárbol izquierdo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279" name="Google Shape;279;p9"/>
          <p:cNvSpPr txBox="1"/>
          <p:nvPr>
            <p:ph idx="1" type="body"/>
          </p:nvPr>
        </p:nvSpPr>
        <p:spPr>
          <a:xfrm>
            <a:off x="130044" y="1708059"/>
            <a:ext cx="82221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E- Inserte los siguientes elementos en un árbol B+ de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orden 4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5, 26, 89, 41, 44, 31, 11, 52, 100, 8, 55. 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ibuje árbol final resultante.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236356" y="4672955"/>
            <a:ext cx="7652644" cy="470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criterio de distribución en el split para una cantidad impar de elementos, seria asignar la mitad + 1  al nodo izquierdo.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2" name="Google Shape;282;p9"/>
          <p:cNvGraphicFramePr/>
          <p:nvPr/>
        </p:nvGraphicFramePr>
        <p:xfrm>
          <a:off x="3432928" y="3577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399275"/>
                <a:gridCol w="376550"/>
                <a:gridCol w="399275"/>
              </a:tblGrid>
              <a:tr h="3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31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41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83" name="Google Shape;283;p9"/>
          <p:cNvGraphicFramePr/>
          <p:nvPr/>
        </p:nvGraphicFramePr>
        <p:xfrm>
          <a:off x="1901615" y="35734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399275"/>
                <a:gridCol w="399275"/>
                <a:gridCol w="399275"/>
              </a:tblGrid>
              <a:tr h="3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11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84" name="Google Shape;284;p9"/>
          <p:cNvGraphicFramePr/>
          <p:nvPr/>
        </p:nvGraphicFramePr>
        <p:xfrm>
          <a:off x="4731850" y="27533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399275"/>
                <a:gridCol w="399275"/>
                <a:gridCol w="399275"/>
              </a:tblGrid>
              <a:tr h="3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52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85" name="Google Shape;285;p9"/>
          <p:cNvCxnSpPr/>
          <p:nvPr/>
        </p:nvCxnSpPr>
        <p:spPr>
          <a:xfrm flipH="1">
            <a:off x="1070907" y="3133441"/>
            <a:ext cx="598800" cy="449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9"/>
          <p:cNvCxnSpPr/>
          <p:nvPr/>
        </p:nvCxnSpPr>
        <p:spPr>
          <a:xfrm>
            <a:off x="2065922" y="3102004"/>
            <a:ext cx="220255" cy="480719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87" name="Google Shape;287;p9"/>
          <p:cNvGraphicFramePr/>
          <p:nvPr/>
        </p:nvGraphicFramePr>
        <p:xfrm>
          <a:off x="4913122" y="35784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399275"/>
                <a:gridCol w="399275"/>
                <a:gridCol w="399275"/>
              </a:tblGrid>
              <a:tr h="30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44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52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88" name="Google Shape;288;p9"/>
          <p:cNvCxnSpPr/>
          <p:nvPr/>
        </p:nvCxnSpPr>
        <p:spPr>
          <a:xfrm>
            <a:off x="2449977" y="3133441"/>
            <a:ext cx="982951" cy="421501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89" name="Google Shape;289;p9"/>
          <p:cNvGraphicFramePr/>
          <p:nvPr/>
        </p:nvGraphicFramePr>
        <p:xfrm>
          <a:off x="6370164" y="3609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70875"/>
                <a:gridCol w="470875"/>
                <a:gridCol w="470875"/>
              </a:tblGrid>
              <a:tr h="3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89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100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90" name="Google Shape;290;p9"/>
          <p:cNvCxnSpPr/>
          <p:nvPr/>
        </p:nvCxnSpPr>
        <p:spPr>
          <a:xfrm>
            <a:off x="5137150" y="3067789"/>
            <a:ext cx="1939200" cy="5421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91" name="Google Shape;291;p9"/>
          <p:cNvGraphicFramePr/>
          <p:nvPr/>
        </p:nvGraphicFramePr>
        <p:xfrm>
          <a:off x="471900" y="35827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399275"/>
                <a:gridCol w="399275"/>
                <a:gridCol w="399275"/>
              </a:tblGrid>
              <a:tr h="3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5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92" name="Google Shape;292;p9"/>
          <p:cNvGraphicFramePr/>
          <p:nvPr/>
        </p:nvGraphicFramePr>
        <p:xfrm>
          <a:off x="1669707" y="2802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399275"/>
                <a:gridCol w="399275"/>
                <a:gridCol w="399275"/>
              </a:tblGrid>
              <a:tr h="3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93" name="Google Shape;293;p9"/>
          <p:cNvGraphicFramePr/>
          <p:nvPr/>
        </p:nvGraphicFramePr>
        <p:xfrm>
          <a:off x="2900188" y="21537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399275"/>
                <a:gridCol w="399275"/>
                <a:gridCol w="399275"/>
              </a:tblGrid>
              <a:tr h="30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41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94" name="Google Shape;294;p9"/>
          <p:cNvCxnSpPr/>
          <p:nvPr/>
        </p:nvCxnSpPr>
        <p:spPr>
          <a:xfrm>
            <a:off x="4734904" y="3061144"/>
            <a:ext cx="170338" cy="493798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9"/>
          <p:cNvCxnSpPr/>
          <p:nvPr/>
        </p:nvCxnSpPr>
        <p:spPr>
          <a:xfrm flipH="1">
            <a:off x="2268688" y="2468482"/>
            <a:ext cx="631500" cy="3336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9"/>
          <p:cNvCxnSpPr/>
          <p:nvPr/>
        </p:nvCxnSpPr>
        <p:spPr>
          <a:xfrm>
            <a:off x="3314700" y="2480107"/>
            <a:ext cx="1873250" cy="218149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9"/>
          <p:cNvCxnSpPr/>
          <p:nvPr/>
        </p:nvCxnSpPr>
        <p:spPr>
          <a:xfrm>
            <a:off x="1669707" y="3724345"/>
            <a:ext cx="231900" cy="30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303" name="Google Shape;303;p10"/>
          <p:cNvSpPr txBox="1"/>
          <p:nvPr>
            <p:ph idx="1" type="body"/>
          </p:nvPr>
        </p:nvSpPr>
        <p:spPr>
          <a:xfrm>
            <a:off x="294479" y="1694576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F- Sobre el árbol B+ siguiente,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remueva el 75, 45 y 36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Dibuje después de cada eliminación.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04" name="Google Shape;304;p10"/>
          <p:cNvGraphicFramePr/>
          <p:nvPr/>
        </p:nvGraphicFramePr>
        <p:xfrm>
          <a:off x="6055913" y="4040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75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05" name="Google Shape;305;p10"/>
          <p:cNvCxnSpPr/>
          <p:nvPr/>
        </p:nvCxnSpPr>
        <p:spPr>
          <a:xfrm>
            <a:off x="5820256" y="3404401"/>
            <a:ext cx="847800" cy="635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06" name="Google Shape;306;p10"/>
          <p:cNvGraphicFramePr/>
          <p:nvPr/>
        </p:nvGraphicFramePr>
        <p:xfrm>
          <a:off x="2756803" y="40166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07" name="Google Shape;307;p10"/>
          <p:cNvCxnSpPr/>
          <p:nvPr/>
        </p:nvCxnSpPr>
        <p:spPr>
          <a:xfrm>
            <a:off x="3980939" y="4198992"/>
            <a:ext cx="475800" cy="23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p10"/>
          <p:cNvCxnSpPr/>
          <p:nvPr/>
        </p:nvCxnSpPr>
        <p:spPr>
          <a:xfrm>
            <a:off x="3366261" y="3294128"/>
            <a:ext cx="141300" cy="677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09" name="Google Shape;309;p10"/>
          <p:cNvGraphicFramePr/>
          <p:nvPr/>
        </p:nvGraphicFramePr>
        <p:xfrm>
          <a:off x="1188275" y="39852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10" name="Google Shape;310;p10"/>
          <p:cNvCxnSpPr/>
          <p:nvPr/>
        </p:nvCxnSpPr>
        <p:spPr>
          <a:xfrm flipH="1">
            <a:off x="1923583" y="3339383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11" name="Google Shape;311;p10"/>
          <p:cNvGraphicFramePr/>
          <p:nvPr/>
        </p:nvGraphicFramePr>
        <p:xfrm>
          <a:off x="2838202" y="2929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5280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12" name="Google Shape;312;p10"/>
          <p:cNvGraphicFramePr/>
          <p:nvPr/>
        </p:nvGraphicFramePr>
        <p:xfrm>
          <a:off x="4140866" y="2316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13" name="Google Shape;313;p10"/>
          <p:cNvCxnSpPr/>
          <p:nvPr/>
        </p:nvCxnSpPr>
        <p:spPr>
          <a:xfrm flipH="1">
            <a:off x="3366306" y="2635734"/>
            <a:ext cx="708900" cy="293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10"/>
          <p:cNvCxnSpPr/>
          <p:nvPr/>
        </p:nvCxnSpPr>
        <p:spPr>
          <a:xfrm>
            <a:off x="4619367" y="2680989"/>
            <a:ext cx="1200900" cy="358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10"/>
          <p:cNvCxnSpPr/>
          <p:nvPr/>
        </p:nvCxnSpPr>
        <p:spPr>
          <a:xfrm>
            <a:off x="2124036" y="4170258"/>
            <a:ext cx="536935" cy="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16" name="Google Shape;316;p10"/>
          <p:cNvGraphicFramePr/>
          <p:nvPr/>
        </p:nvGraphicFramePr>
        <p:xfrm>
          <a:off x="4456744" y="4040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17" name="Google Shape;317;p10"/>
          <p:cNvCxnSpPr/>
          <p:nvPr/>
        </p:nvCxnSpPr>
        <p:spPr>
          <a:xfrm flipH="1">
            <a:off x="5068683" y="3449657"/>
            <a:ext cx="322500" cy="590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18" name="Google Shape;318;p10"/>
          <p:cNvGraphicFramePr/>
          <p:nvPr/>
        </p:nvGraphicFramePr>
        <p:xfrm>
          <a:off x="5341755" y="3039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19" name="Google Shape;319;p10"/>
          <p:cNvCxnSpPr/>
          <p:nvPr/>
        </p:nvCxnSpPr>
        <p:spPr>
          <a:xfrm flipH="1" rot="10800000">
            <a:off x="5680880" y="4179232"/>
            <a:ext cx="397500" cy="43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p10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(3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326" name="Google Shape;326;p11"/>
          <p:cNvSpPr txBox="1"/>
          <p:nvPr>
            <p:ph idx="1" type="body"/>
          </p:nvPr>
        </p:nvSpPr>
        <p:spPr>
          <a:xfrm>
            <a:off x="294479" y="1694576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F- Sobre el árbol B+ siguiente,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remueva el 75, 45 y 36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Dibuje después de cada eliminación.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27" name="Google Shape;327;p11"/>
          <p:cNvGraphicFramePr/>
          <p:nvPr/>
        </p:nvGraphicFramePr>
        <p:xfrm>
          <a:off x="6055913" y="4040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28" name="Google Shape;328;p11"/>
          <p:cNvCxnSpPr/>
          <p:nvPr/>
        </p:nvCxnSpPr>
        <p:spPr>
          <a:xfrm>
            <a:off x="5820256" y="3404401"/>
            <a:ext cx="847800" cy="635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29" name="Google Shape;329;p11"/>
          <p:cNvGraphicFramePr/>
          <p:nvPr/>
        </p:nvGraphicFramePr>
        <p:xfrm>
          <a:off x="2756803" y="40166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30" name="Google Shape;330;p11"/>
          <p:cNvCxnSpPr/>
          <p:nvPr/>
        </p:nvCxnSpPr>
        <p:spPr>
          <a:xfrm>
            <a:off x="3980939" y="4198992"/>
            <a:ext cx="475800" cy="23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p11"/>
          <p:cNvCxnSpPr/>
          <p:nvPr/>
        </p:nvCxnSpPr>
        <p:spPr>
          <a:xfrm>
            <a:off x="3366261" y="3294128"/>
            <a:ext cx="141300" cy="677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32" name="Google Shape;332;p11"/>
          <p:cNvGraphicFramePr/>
          <p:nvPr/>
        </p:nvGraphicFramePr>
        <p:xfrm>
          <a:off x="1188275" y="39852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33" name="Google Shape;333;p11"/>
          <p:cNvCxnSpPr/>
          <p:nvPr/>
        </p:nvCxnSpPr>
        <p:spPr>
          <a:xfrm flipH="1">
            <a:off x="1923583" y="3339383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34" name="Google Shape;334;p11"/>
          <p:cNvGraphicFramePr/>
          <p:nvPr/>
        </p:nvGraphicFramePr>
        <p:xfrm>
          <a:off x="2838202" y="2929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5280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36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35" name="Google Shape;335;p11"/>
          <p:cNvGraphicFramePr/>
          <p:nvPr/>
        </p:nvGraphicFramePr>
        <p:xfrm>
          <a:off x="4140866" y="23163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36" name="Google Shape;336;p11"/>
          <p:cNvCxnSpPr/>
          <p:nvPr/>
        </p:nvCxnSpPr>
        <p:spPr>
          <a:xfrm flipH="1">
            <a:off x="3366306" y="2635734"/>
            <a:ext cx="708900" cy="293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" name="Google Shape;337;p11"/>
          <p:cNvCxnSpPr/>
          <p:nvPr/>
        </p:nvCxnSpPr>
        <p:spPr>
          <a:xfrm>
            <a:off x="4619367" y="2680989"/>
            <a:ext cx="1200900" cy="3588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" name="Google Shape;338;p11"/>
          <p:cNvCxnSpPr/>
          <p:nvPr/>
        </p:nvCxnSpPr>
        <p:spPr>
          <a:xfrm>
            <a:off x="2124036" y="4170258"/>
            <a:ext cx="536935" cy="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39" name="Google Shape;339;p11"/>
          <p:cNvGraphicFramePr/>
          <p:nvPr/>
        </p:nvGraphicFramePr>
        <p:xfrm>
          <a:off x="4456744" y="4040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40" name="Google Shape;340;p11"/>
          <p:cNvCxnSpPr/>
          <p:nvPr/>
        </p:nvCxnSpPr>
        <p:spPr>
          <a:xfrm flipH="1">
            <a:off x="5068683" y="3449657"/>
            <a:ext cx="322500" cy="590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41" name="Google Shape;341;p11"/>
          <p:cNvGraphicFramePr/>
          <p:nvPr/>
        </p:nvGraphicFramePr>
        <p:xfrm>
          <a:off x="5341755" y="30397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42" name="Google Shape;342;p11"/>
          <p:cNvCxnSpPr/>
          <p:nvPr/>
        </p:nvCxnSpPr>
        <p:spPr>
          <a:xfrm flipH="1" rot="10800000">
            <a:off x="5680880" y="4179232"/>
            <a:ext cx="397500" cy="43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11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(3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</a:t>
            </a:r>
            <a:endParaRPr b="1" sz="1700"/>
          </a:p>
        </p:txBody>
      </p:sp>
      <p:sp>
        <p:nvSpPr>
          <p:cNvPr id="349" name="Google Shape;349;p12"/>
          <p:cNvSpPr txBox="1"/>
          <p:nvPr>
            <p:ph idx="1" type="body"/>
          </p:nvPr>
        </p:nvSpPr>
        <p:spPr>
          <a:xfrm>
            <a:off x="294479" y="1694576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F- Sobre el árbol B+ siguiente,</a:t>
            </a: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remueva el 75, 45 y 36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Dibuje después de cada eliminación.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50" name="Google Shape;350;p12"/>
          <p:cNvGraphicFramePr/>
          <p:nvPr/>
        </p:nvGraphicFramePr>
        <p:xfrm>
          <a:off x="4884883" y="3489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70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51" name="Google Shape;351;p12"/>
          <p:cNvCxnSpPr/>
          <p:nvPr/>
        </p:nvCxnSpPr>
        <p:spPr>
          <a:xfrm>
            <a:off x="4649226" y="2854218"/>
            <a:ext cx="847800" cy="6357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" name="Google Shape;352;p12"/>
          <p:cNvCxnSpPr/>
          <p:nvPr/>
        </p:nvCxnSpPr>
        <p:spPr>
          <a:xfrm>
            <a:off x="2809909" y="3648809"/>
            <a:ext cx="475800" cy="23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53" name="Google Shape;353;p12"/>
          <p:cNvGraphicFramePr/>
          <p:nvPr/>
        </p:nvGraphicFramePr>
        <p:xfrm>
          <a:off x="1962975" y="3489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428950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54" name="Google Shape;354;p12"/>
          <p:cNvCxnSpPr/>
          <p:nvPr/>
        </p:nvCxnSpPr>
        <p:spPr>
          <a:xfrm flipH="1">
            <a:off x="2698283" y="2844083"/>
            <a:ext cx="864807" cy="524813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355" name="Google Shape;355;p12"/>
          <p:cNvGraphicFramePr/>
          <p:nvPr/>
        </p:nvGraphicFramePr>
        <p:xfrm>
          <a:off x="3612902" y="2434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528050"/>
                <a:gridCol w="528050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56" name="Google Shape;356;p12"/>
          <p:cNvGraphicFramePr/>
          <p:nvPr/>
        </p:nvGraphicFramePr>
        <p:xfrm>
          <a:off x="3285714" y="3489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{C4E83967-1FC0-45D4-8CA9-62D8B9A1C81B}</a:tableStyleId>
              </a:tblPr>
              <a:tblGrid>
                <a:gridCol w="612075"/>
                <a:gridCol w="612075"/>
              </a:tblGrid>
              <a:tr h="36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/>
                        <a:t>47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357" name="Google Shape;357;p12"/>
          <p:cNvCxnSpPr/>
          <p:nvPr/>
        </p:nvCxnSpPr>
        <p:spPr>
          <a:xfrm flipH="1">
            <a:off x="3897653" y="2899474"/>
            <a:ext cx="322500" cy="5904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" name="Google Shape;358;p12"/>
          <p:cNvCxnSpPr/>
          <p:nvPr/>
        </p:nvCxnSpPr>
        <p:spPr>
          <a:xfrm flipH="1" rot="10800000">
            <a:off x="4509850" y="3629049"/>
            <a:ext cx="397500" cy="43200"/>
          </a:xfrm>
          <a:prstGeom prst="straightConnector1">
            <a:avLst/>
          </a:prstGeom>
          <a:noFill/>
          <a:ln cap="flat" cmpd="sng" w="9525">
            <a:solidFill>
              <a:srgbClr val="0075B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12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(3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365" name="Google Shape;365;p13"/>
          <p:cNvSpPr txBox="1"/>
          <p:nvPr>
            <p:ph idx="1" type="body"/>
          </p:nvPr>
        </p:nvSpPr>
        <p:spPr>
          <a:xfrm>
            <a:off x="460950" y="1749020"/>
            <a:ext cx="8055253" cy="711698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G.  Patricia Trie: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dado el siguiente árbol patricia, insertar la palabra “big” y luego “billar”. Muestre el paso a paso.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3193837" y="3554939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</a:t>
            </a:r>
            <a:endParaRPr/>
          </a:p>
        </p:txBody>
      </p:sp>
      <p:grpSp>
        <p:nvGrpSpPr>
          <p:cNvPr id="367" name="Google Shape;367;p13"/>
          <p:cNvGrpSpPr/>
          <p:nvPr/>
        </p:nvGrpSpPr>
        <p:grpSpPr>
          <a:xfrm>
            <a:off x="1277895" y="2858587"/>
            <a:ext cx="3471935" cy="955962"/>
            <a:chOff x="10728229" y="3976628"/>
            <a:chExt cx="3945889" cy="1473375"/>
          </a:xfrm>
        </p:grpSpPr>
        <p:sp>
          <p:nvSpPr>
            <p:cNvPr id="368" name="Google Shape;368;p13"/>
            <p:cNvSpPr/>
            <p:nvPr/>
          </p:nvSpPr>
          <p:spPr>
            <a:xfrm>
              <a:off x="10728229" y="5023567"/>
              <a:ext cx="1378039" cy="426436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gger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11942330" y="3976628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bi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0" name="Google Shape;370;p13"/>
            <p:cNvCxnSpPr/>
            <p:nvPr/>
          </p:nvCxnSpPr>
          <p:spPr>
            <a:xfrm flipH="1">
              <a:off x="11277600" y="4371945"/>
              <a:ext cx="1086524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1" name="Google Shape;371;p13"/>
            <p:cNvCxnSpPr/>
            <p:nvPr/>
          </p:nvCxnSpPr>
          <p:spPr>
            <a:xfrm>
              <a:off x="12763366" y="4371945"/>
              <a:ext cx="673719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72" name="Google Shape;372;p13"/>
            <p:cNvSpPr txBox="1"/>
            <p:nvPr/>
          </p:nvSpPr>
          <p:spPr>
            <a:xfrm>
              <a:off x="11414794" y="4298160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3"/>
            <p:cNvSpPr txBox="1"/>
            <p:nvPr/>
          </p:nvSpPr>
          <p:spPr>
            <a:xfrm>
              <a:off x="13296079" y="4376673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13"/>
          <p:cNvSpPr/>
          <p:nvPr/>
        </p:nvSpPr>
        <p:spPr>
          <a:xfrm>
            <a:off x="5487444" y="2832969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hel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3924139" y="2174747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13"/>
          <p:cNvCxnSpPr/>
          <p:nvPr/>
        </p:nvCxnSpPr>
        <p:spPr>
          <a:xfrm flipH="1">
            <a:off x="3068586" y="2395497"/>
            <a:ext cx="1226351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13"/>
          <p:cNvCxnSpPr/>
          <p:nvPr/>
        </p:nvCxnSpPr>
        <p:spPr>
          <a:xfrm>
            <a:off x="4646224" y="2395497"/>
            <a:ext cx="1356169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8" name="Google Shape;378;p13"/>
          <p:cNvSpPr txBox="1"/>
          <p:nvPr/>
        </p:nvSpPr>
        <p:spPr>
          <a:xfrm>
            <a:off x="3295977" y="236097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5809255" y="2391981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13"/>
          <p:cNvGrpSpPr/>
          <p:nvPr/>
        </p:nvGrpSpPr>
        <p:grpSpPr>
          <a:xfrm>
            <a:off x="4876362" y="3067250"/>
            <a:ext cx="1212518" cy="747298"/>
            <a:chOff x="-117507" y="3483644"/>
            <a:chExt cx="1378039" cy="1151771"/>
          </a:xfrm>
        </p:grpSpPr>
        <p:sp>
          <p:nvSpPr>
            <p:cNvPr id="381" name="Google Shape;381;p13"/>
            <p:cNvSpPr/>
            <p:nvPr/>
          </p:nvSpPr>
          <p:spPr>
            <a:xfrm>
              <a:off x="-117507" y="4313444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lo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2" name="Google Shape;382;p13"/>
            <p:cNvCxnSpPr>
              <a:endCxn id="381" idx="0"/>
            </p:cNvCxnSpPr>
            <p:nvPr/>
          </p:nvCxnSpPr>
          <p:spPr>
            <a:xfrm flipH="1">
              <a:off x="571513" y="3483644"/>
              <a:ext cx="510600" cy="82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83" name="Google Shape;383;p13"/>
          <p:cNvSpPr/>
          <p:nvPr/>
        </p:nvSpPr>
        <p:spPr>
          <a:xfrm>
            <a:off x="6565420" y="3571756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4876362" y="4474545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ween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13"/>
          <p:cNvCxnSpPr/>
          <p:nvPr/>
        </p:nvCxnSpPr>
        <p:spPr>
          <a:xfrm flipH="1">
            <a:off x="5443231" y="3814549"/>
            <a:ext cx="2160" cy="67116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6" name="Google Shape;386;p13"/>
          <p:cNvSpPr txBox="1"/>
          <p:nvPr/>
        </p:nvSpPr>
        <p:spPr>
          <a:xfrm>
            <a:off x="5443231" y="396733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13"/>
          <p:cNvCxnSpPr>
            <a:endCxn id="383" idx="0"/>
          </p:cNvCxnSpPr>
          <p:nvPr/>
        </p:nvCxnSpPr>
        <p:spPr>
          <a:xfrm>
            <a:off x="6426779" y="3089056"/>
            <a:ext cx="744900" cy="4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8" name="Google Shape;388;p13"/>
          <p:cNvSpPr txBox="1"/>
          <p:nvPr/>
        </p:nvSpPr>
        <p:spPr>
          <a:xfrm>
            <a:off x="5772480" y="3157262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3"/>
          <p:cNvSpPr txBox="1"/>
          <p:nvPr/>
        </p:nvSpPr>
        <p:spPr>
          <a:xfrm>
            <a:off x="6845809" y="3103679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396" name="Google Shape;396;p14"/>
          <p:cNvSpPr txBox="1"/>
          <p:nvPr>
            <p:ph idx="1" type="body"/>
          </p:nvPr>
        </p:nvSpPr>
        <p:spPr>
          <a:xfrm>
            <a:off x="460950" y="1749020"/>
            <a:ext cx="8055253" cy="711698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G.  Patricia Trie: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dado el siguiente árbol patricia, insertar la palabra “big” y luego “billar”. Muestre después de cada insercion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3193837" y="3554939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</a:t>
            </a:r>
            <a:endParaRPr/>
          </a:p>
        </p:txBody>
      </p:sp>
      <p:grpSp>
        <p:nvGrpSpPr>
          <p:cNvPr id="398" name="Google Shape;398;p14"/>
          <p:cNvGrpSpPr/>
          <p:nvPr/>
        </p:nvGrpSpPr>
        <p:grpSpPr>
          <a:xfrm>
            <a:off x="1277895" y="2858587"/>
            <a:ext cx="3471935" cy="955962"/>
            <a:chOff x="10728229" y="3976628"/>
            <a:chExt cx="3945889" cy="1473375"/>
          </a:xfrm>
        </p:grpSpPr>
        <p:sp>
          <p:nvSpPr>
            <p:cNvPr id="399" name="Google Shape;399;p14"/>
            <p:cNvSpPr/>
            <p:nvPr/>
          </p:nvSpPr>
          <p:spPr>
            <a:xfrm>
              <a:off x="10728229" y="5023567"/>
              <a:ext cx="1378039" cy="426436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11942330" y="3976628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bi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1" name="Google Shape;401;p14"/>
            <p:cNvCxnSpPr/>
            <p:nvPr/>
          </p:nvCxnSpPr>
          <p:spPr>
            <a:xfrm flipH="1">
              <a:off x="11277600" y="4371945"/>
              <a:ext cx="1086524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2" name="Google Shape;402;p14"/>
            <p:cNvCxnSpPr/>
            <p:nvPr/>
          </p:nvCxnSpPr>
          <p:spPr>
            <a:xfrm>
              <a:off x="12763366" y="4371945"/>
              <a:ext cx="673719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3" name="Google Shape;403;p14"/>
            <p:cNvSpPr txBox="1"/>
            <p:nvPr/>
          </p:nvSpPr>
          <p:spPr>
            <a:xfrm>
              <a:off x="11414794" y="4298160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4"/>
            <p:cNvSpPr txBox="1"/>
            <p:nvPr/>
          </p:nvSpPr>
          <p:spPr>
            <a:xfrm>
              <a:off x="13296079" y="4376673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5" name="Google Shape;405;p14"/>
          <p:cNvSpPr/>
          <p:nvPr/>
        </p:nvSpPr>
        <p:spPr>
          <a:xfrm>
            <a:off x="5487444" y="2832969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hel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3924139" y="2174747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14"/>
          <p:cNvCxnSpPr/>
          <p:nvPr/>
        </p:nvCxnSpPr>
        <p:spPr>
          <a:xfrm flipH="1">
            <a:off x="3068586" y="2395497"/>
            <a:ext cx="1226351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8" name="Google Shape;408;p14"/>
          <p:cNvCxnSpPr/>
          <p:nvPr/>
        </p:nvCxnSpPr>
        <p:spPr>
          <a:xfrm>
            <a:off x="4646224" y="2395497"/>
            <a:ext cx="1356169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9" name="Google Shape;409;p14"/>
          <p:cNvSpPr txBox="1"/>
          <p:nvPr/>
        </p:nvSpPr>
        <p:spPr>
          <a:xfrm>
            <a:off x="3295977" y="236097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4"/>
          <p:cNvSpPr txBox="1"/>
          <p:nvPr/>
        </p:nvSpPr>
        <p:spPr>
          <a:xfrm>
            <a:off x="5809255" y="2391981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p14"/>
          <p:cNvGrpSpPr/>
          <p:nvPr/>
        </p:nvGrpSpPr>
        <p:grpSpPr>
          <a:xfrm>
            <a:off x="4876362" y="3067250"/>
            <a:ext cx="1212518" cy="747298"/>
            <a:chOff x="-117507" y="3483644"/>
            <a:chExt cx="1378039" cy="1151771"/>
          </a:xfrm>
        </p:grpSpPr>
        <p:sp>
          <p:nvSpPr>
            <p:cNvPr id="412" name="Google Shape;412;p14"/>
            <p:cNvSpPr/>
            <p:nvPr/>
          </p:nvSpPr>
          <p:spPr>
            <a:xfrm>
              <a:off x="-117507" y="4313444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lo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3" name="Google Shape;413;p14"/>
            <p:cNvCxnSpPr>
              <a:endCxn id="412" idx="0"/>
            </p:cNvCxnSpPr>
            <p:nvPr/>
          </p:nvCxnSpPr>
          <p:spPr>
            <a:xfrm flipH="1">
              <a:off x="571513" y="3483644"/>
              <a:ext cx="510600" cy="82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14" name="Google Shape;414;p14"/>
          <p:cNvSpPr/>
          <p:nvPr/>
        </p:nvSpPr>
        <p:spPr>
          <a:xfrm>
            <a:off x="6565420" y="3571756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4876362" y="4474545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ween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14"/>
          <p:cNvCxnSpPr/>
          <p:nvPr/>
        </p:nvCxnSpPr>
        <p:spPr>
          <a:xfrm flipH="1">
            <a:off x="5443231" y="3814549"/>
            <a:ext cx="2160" cy="67116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7" name="Google Shape;417;p14"/>
          <p:cNvSpPr txBox="1"/>
          <p:nvPr/>
        </p:nvSpPr>
        <p:spPr>
          <a:xfrm>
            <a:off x="5443231" y="396733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p14"/>
          <p:cNvCxnSpPr>
            <a:endCxn id="414" idx="0"/>
          </p:cNvCxnSpPr>
          <p:nvPr/>
        </p:nvCxnSpPr>
        <p:spPr>
          <a:xfrm>
            <a:off x="6426779" y="3089056"/>
            <a:ext cx="744900" cy="4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9" name="Google Shape;419;p14"/>
          <p:cNvSpPr txBox="1"/>
          <p:nvPr/>
        </p:nvSpPr>
        <p:spPr>
          <a:xfrm>
            <a:off x="5772480" y="3157262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6845809" y="3103679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1274655" y="4479210"/>
            <a:ext cx="1212518" cy="276682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ger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14"/>
          <p:cNvCxnSpPr/>
          <p:nvPr/>
        </p:nvCxnSpPr>
        <p:spPr>
          <a:xfrm flipH="1">
            <a:off x="1880914" y="3822578"/>
            <a:ext cx="2160" cy="67116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4" name="Google Shape;424;p14"/>
          <p:cNvSpPr txBox="1"/>
          <p:nvPr/>
        </p:nvSpPr>
        <p:spPr>
          <a:xfrm>
            <a:off x="1880914" y="3975362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3187926" y="4485712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p14"/>
          <p:cNvCxnSpPr/>
          <p:nvPr/>
        </p:nvCxnSpPr>
        <p:spPr>
          <a:xfrm flipH="1">
            <a:off x="3688678" y="3801091"/>
            <a:ext cx="2160" cy="67116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7" name="Google Shape;427;p14"/>
          <p:cNvSpPr txBox="1"/>
          <p:nvPr/>
        </p:nvSpPr>
        <p:spPr>
          <a:xfrm>
            <a:off x="3688678" y="3953875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433" name="Google Shape;433;p15"/>
          <p:cNvSpPr txBox="1"/>
          <p:nvPr>
            <p:ph idx="1" type="body"/>
          </p:nvPr>
        </p:nvSpPr>
        <p:spPr>
          <a:xfrm>
            <a:off x="460950" y="1785842"/>
            <a:ext cx="8055253" cy="711698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H. Patricia Trie: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dado el siguiente árbol patricia, eliminar la palabra “hello” y luego la palabra “help”. Muestre el paso a paso. 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3193837" y="3554939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</a:t>
            </a:r>
            <a:endParaRPr/>
          </a:p>
        </p:txBody>
      </p:sp>
      <p:grpSp>
        <p:nvGrpSpPr>
          <p:cNvPr id="435" name="Google Shape;435;p15"/>
          <p:cNvGrpSpPr/>
          <p:nvPr/>
        </p:nvGrpSpPr>
        <p:grpSpPr>
          <a:xfrm>
            <a:off x="1277895" y="2858587"/>
            <a:ext cx="3471935" cy="955962"/>
            <a:chOff x="10728229" y="3976628"/>
            <a:chExt cx="3945889" cy="1473375"/>
          </a:xfrm>
        </p:grpSpPr>
        <p:sp>
          <p:nvSpPr>
            <p:cNvPr id="436" name="Google Shape;436;p15"/>
            <p:cNvSpPr/>
            <p:nvPr/>
          </p:nvSpPr>
          <p:spPr>
            <a:xfrm>
              <a:off x="10728229" y="5023567"/>
              <a:ext cx="1378039" cy="426436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gger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11942330" y="3976628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bi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8" name="Google Shape;438;p15"/>
            <p:cNvCxnSpPr/>
            <p:nvPr/>
          </p:nvCxnSpPr>
          <p:spPr>
            <a:xfrm flipH="1">
              <a:off x="11277600" y="4371945"/>
              <a:ext cx="1086524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9" name="Google Shape;439;p15"/>
            <p:cNvCxnSpPr/>
            <p:nvPr/>
          </p:nvCxnSpPr>
          <p:spPr>
            <a:xfrm>
              <a:off x="12763366" y="4371945"/>
              <a:ext cx="673719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40" name="Google Shape;440;p15"/>
            <p:cNvSpPr txBox="1"/>
            <p:nvPr/>
          </p:nvSpPr>
          <p:spPr>
            <a:xfrm>
              <a:off x="11414794" y="4298160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5"/>
            <p:cNvSpPr txBox="1"/>
            <p:nvPr/>
          </p:nvSpPr>
          <p:spPr>
            <a:xfrm>
              <a:off x="13296079" y="4376673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2" name="Google Shape;442;p15"/>
          <p:cNvSpPr/>
          <p:nvPr/>
        </p:nvSpPr>
        <p:spPr>
          <a:xfrm>
            <a:off x="5487444" y="2832969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hel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3924139" y="2174747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p15"/>
          <p:cNvCxnSpPr/>
          <p:nvPr/>
        </p:nvCxnSpPr>
        <p:spPr>
          <a:xfrm flipH="1">
            <a:off x="3068586" y="2395497"/>
            <a:ext cx="1226351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15"/>
          <p:cNvCxnSpPr/>
          <p:nvPr/>
        </p:nvCxnSpPr>
        <p:spPr>
          <a:xfrm>
            <a:off x="4646224" y="2395497"/>
            <a:ext cx="1356169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6" name="Google Shape;446;p15"/>
          <p:cNvSpPr txBox="1"/>
          <p:nvPr/>
        </p:nvSpPr>
        <p:spPr>
          <a:xfrm>
            <a:off x="3295977" y="236097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 txBox="1"/>
          <p:nvPr/>
        </p:nvSpPr>
        <p:spPr>
          <a:xfrm>
            <a:off x="5809255" y="2391981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p15"/>
          <p:cNvGrpSpPr/>
          <p:nvPr/>
        </p:nvGrpSpPr>
        <p:grpSpPr>
          <a:xfrm>
            <a:off x="4876362" y="3067250"/>
            <a:ext cx="1212518" cy="747298"/>
            <a:chOff x="-117507" y="3483644"/>
            <a:chExt cx="1378039" cy="1151771"/>
          </a:xfrm>
        </p:grpSpPr>
        <p:sp>
          <p:nvSpPr>
            <p:cNvPr id="449" name="Google Shape;449;p15"/>
            <p:cNvSpPr/>
            <p:nvPr/>
          </p:nvSpPr>
          <p:spPr>
            <a:xfrm>
              <a:off x="-117507" y="4313444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lo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0" name="Google Shape;450;p15"/>
            <p:cNvCxnSpPr>
              <a:endCxn id="449" idx="0"/>
            </p:cNvCxnSpPr>
            <p:nvPr/>
          </p:nvCxnSpPr>
          <p:spPr>
            <a:xfrm flipH="1">
              <a:off x="571513" y="3483644"/>
              <a:ext cx="510600" cy="82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51" name="Google Shape;451;p15"/>
          <p:cNvSpPr/>
          <p:nvPr/>
        </p:nvSpPr>
        <p:spPr>
          <a:xfrm>
            <a:off x="6565420" y="3571756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4876362" y="4474545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ween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15"/>
          <p:cNvCxnSpPr/>
          <p:nvPr/>
        </p:nvCxnSpPr>
        <p:spPr>
          <a:xfrm flipH="1">
            <a:off x="5443231" y="3814549"/>
            <a:ext cx="2160" cy="671163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4" name="Google Shape;454;p15"/>
          <p:cNvSpPr txBox="1"/>
          <p:nvPr/>
        </p:nvSpPr>
        <p:spPr>
          <a:xfrm>
            <a:off x="5443231" y="396733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15"/>
          <p:cNvCxnSpPr>
            <a:endCxn id="451" idx="0"/>
          </p:cNvCxnSpPr>
          <p:nvPr/>
        </p:nvCxnSpPr>
        <p:spPr>
          <a:xfrm>
            <a:off x="6426779" y="3089056"/>
            <a:ext cx="744900" cy="4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6" name="Google Shape;456;p15"/>
          <p:cNvSpPr txBox="1"/>
          <p:nvPr/>
        </p:nvSpPr>
        <p:spPr>
          <a:xfrm>
            <a:off x="5772480" y="3157262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 txBox="1"/>
          <p:nvPr/>
        </p:nvSpPr>
        <p:spPr>
          <a:xfrm>
            <a:off x="6845809" y="3103679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6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464" name="Google Shape;464;p16"/>
          <p:cNvSpPr txBox="1"/>
          <p:nvPr>
            <p:ph idx="1" type="body"/>
          </p:nvPr>
        </p:nvSpPr>
        <p:spPr>
          <a:xfrm>
            <a:off x="460950" y="1785842"/>
            <a:ext cx="8055253" cy="711698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H. Patricia Trie: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dado el siguiente árbol patricia, eliminar la palabra “hello” y luego la palabra “help”. Muestre el paso a paso. 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193837" y="3554939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</a:t>
            </a:r>
            <a:endParaRPr/>
          </a:p>
        </p:txBody>
      </p:sp>
      <p:grpSp>
        <p:nvGrpSpPr>
          <p:cNvPr id="466" name="Google Shape;466;p16"/>
          <p:cNvGrpSpPr/>
          <p:nvPr/>
        </p:nvGrpSpPr>
        <p:grpSpPr>
          <a:xfrm>
            <a:off x="1277895" y="2858587"/>
            <a:ext cx="3471935" cy="955962"/>
            <a:chOff x="10728229" y="3976628"/>
            <a:chExt cx="3945889" cy="1473375"/>
          </a:xfrm>
        </p:grpSpPr>
        <p:sp>
          <p:nvSpPr>
            <p:cNvPr id="467" name="Google Shape;467;p16"/>
            <p:cNvSpPr/>
            <p:nvPr/>
          </p:nvSpPr>
          <p:spPr>
            <a:xfrm>
              <a:off x="10728229" y="5023567"/>
              <a:ext cx="1378039" cy="426436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gger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11942330" y="3976628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bi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9" name="Google Shape;469;p16"/>
            <p:cNvCxnSpPr/>
            <p:nvPr/>
          </p:nvCxnSpPr>
          <p:spPr>
            <a:xfrm flipH="1">
              <a:off x="11277600" y="4371945"/>
              <a:ext cx="1086524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0" name="Google Shape;470;p16"/>
            <p:cNvCxnSpPr/>
            <p:nvPr/>
          </p:nvCxnSpPr>
          <p:spPr>
            <a:xfrm>
              <a:off x="12763366" y="4371945"/>
              <a:ext cx="673719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1" name="Google Shape;471;p16"/>
            <p:cNvSpPr txBox="1"/>
            <p:nvPr/>
          </p:nvSpPr>
          <p:spPr>
            <a:xfrm>
              <a:off x="11414794" y="4298160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6"/>
            <p:cNvSpPr txBox="1"/>
            <p:nvPr/>
          </p:nvSpPr>
          <p:spPr>
            <a:xfrm>
              <a:off x="13296079" y="4376673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3" name="Google Shape;473;p16"/>
          <p:cNvSpPr/>
          <p:nvPr/>
        </p:nvSpPr>
        <p:spPr>
          <a:xfrm>
            <a:off x="5487444" y="2832969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hel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3924139" y="2174747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16"/>
          <p:cNvCxnSpPr/>
          <p:nvPr/>
        </p:nvCxnSpPr>
        <p:spPr>
          <a:xfrm flipH="1">
            <a:off x="3068586" y="2395497"/>
            <a:ext cx="1226351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16"/>
          <p:cNvCxnSpPr/>
          <p:nvPr/>
        </p:nvCxnSpPr>
        <p:spPr>
          <a:xfrm>
            <a:off x="4646224" y="2395497"/>
            <a:ext cx="1356169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7" name="Google Shape;477;p16"/>
          <p:cNvSpPr txBox="1"/>
          <p:nvPr/>
        </p:nvSpPr>
        <p:spPr>
          <a:xfrm>
            <a:off x="3295977" y="236097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 txBox="1"/>
          <p:nvPr/>
        </p:nvSpPr>
        <p:spPr>
          <a:xfrm>
            <a:off x="5809255" y="2391981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p16"/>
          <p:cNvGrpSpPr/>
          <p:nvPr/>
        </p:nvGrpSpPr>
        <p:grpSpPr>
          <a:xfrm>
            <a:off x="4876362" y="3067250"/>
            <a:ext cx="1212518" cy="747298"/>
            <a:chOff x="-117507" y="3483644"/>
            <a:chExt cx="1378039" cy="1151771"/>
          </a:xfrm>
        </p:grpSpPr>
        <p:sp>
          <p:nvSpPr>
            <p:cNvPr id="480" name="Google Shape;480;p16"/>
            <p:cNvSpPr/>
            <p:nvPr/>
          </p:nvSpPr>
          <p:spPr>
            <a:xfrm>
              <a:off x="-117507" y="4313444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loween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1" name="Google Shape;481;p16"/>
            <p:cNvCxnSpPr>
              <a:endCxn id="480" idx="0"/>
            </p:cNvCxnSpPr>
            <p:nvPr/>
          </p:nvCxnSpPr>
          <p:spPr>
            <a:xfrm flipH="1">
              <a:off x="571513" y="3483644"/>
              <a:ext cx="510600" cy="82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82" name="Google Shape;482;p16"/>
          <p:cNvSpPr/>
          <p:nvPr/>
        </p:nvSpPr>
        <p:spPr>
          <a:xfrm>
            <a:off x="6565420" y="3571756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cxnSp>
        <p:nvCxnSpPr>
          <p:cNvPr id="483" name="Google Shape;483;p16"/>
          <p:cNvCxnSpPr>
            <a:endCxn id="482" idx="0"/>
          </p:cNvCxnSpPr>
          <p:nvPr/>
        </p:nvCxnSpPr>
        <p:spPr>
          <a:xfrm>
            <a:off x="6426779" y="3089056"/>
            <a:ext cx="744900" cy="4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16"/>
          <p:cNvSpPr txBox="1"/>
          <p:nvPr/>
        </p:nvSpPr>
        <p:spPr>
          <a:xfrm>
            <a:off x="5772480" y="3157262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6"/>
          <p:cNvSpPr txBox="1"/>
          <p:nvPr/>
        </p:nvSpPr>
        <p:spPr>
          <a:xfrm>
            <a:off x="6845809" y="3103679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6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492" name="Google Shape;492;p17"/>
          <p:cNvSpPr txBox="1"/>
          <p:nvPr>
            <p:ph idx="1" type="body"/>
          </p:nvPr>
        </p:nvSpPr>
        <p:spPr>
          <a:xfrm>
            <a:off x="460950" y="1785842"/>
            <a:ext cx="8055253" cy="711698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H. Patricia Trie: </a:t>
            </a:r>
            <a:r>
              <a:rPr lang="es-ES" sz="1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dado el siguiente árbol patricia, eliminar la palabra “hello” y luego la palabra “help”. Muestre el paso a paso. </a:t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3193837" y="3554939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</a:t>
            </a:r>
            <a:endParaRPr/>
          </a:p>
        </p:txBody>
      </p:sp>
      <p:grpSp>
        <p:nvGrpSpPr>
          <p:cNvPr id="494" name="Google Shape;494;p17"/>
          <p:cNvGrpSpPr/>
          <p:nvPr/>
        </p:nvGrpSpPr>
        <p:grpSpPr>
          <a:xfrm>
            <a:off x="1277895" y="2858587"/>
            <a:ext cx="3471935" cy="955962"/>
            <a:chOff x="10728229" y="3976628"/>
            <a:chExt cx="3945889" cy="1473375"/>
          </a:xfrm>
        </p:grpSpPr>
        <p:sp>
          <p:nvSpPr>
            <p:cNvPr id="495" name="Google Shape;495;p17"/>
            <p:cNvSpPr/>
            <p:nvPr/>
          </p:nvSpPr>
          <p:spPr>
            <a:xfrm>
              <a:off x="10728229" y="5023567"/>
              <a:ext cx="1378039" cy="426436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gger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11942330" y="3976628"/>
              <a:ext cx="1378039" cy="321971"/>
            </a:xfrm>
            <a:prstGeom prst="rect">
              <a:avLst/>
            </a:prstGeom>
            <a:solidFill>
              <a:srgbClr val="FEF1C9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bi</a:t>
              </a:r>
              <a:endPara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7" name="Google Shape;497;p17"/>
            <p:cNvCxnSpPr/>
            <p:nvPr/>
          </p:nvCxnSpPr>
          <p:spPr>
            <a:xfrm flipH="1">
              <a:off x="11277600" y="4371945"/>
              <a:ext cx="1086524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98" name="Google Shape;498;p17"/>
            <p:cNvCxnSpPr/>
            <p:nvPr/>
          </p:nvCxnSpPr>
          <p:spPr>
            <a:xfrm>
              <a:off x="12763366" y="4371945"/>
              <a:ext cx="673719" cy="63905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9" name="Google Shape;499;p17"/>
            <p:cNvSpPr txBox="1"/>
            <p:nvPr/>
          </p:nvSpPr>
          <p:spPr>
            <a:xfrm>
              <a:off x="11414794" y="4298160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7"/>
            <p:cNvSpPr txBox="1"/>
            <p:nvPr/>
          </p:nvSpPr>
          <p:spPr>
            <a:xfrm>
              <a:off x="13296079" y="4376673"/>
              <a:ext cx="1378039" cy="52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17"/>
          <p:cNvSpPr/>
          <p:nvPr/>
        </p:nvSpPr>
        <p:spPr>
          <a:xfrm>
            <a:off x="5487444" y="2832969"/>
            <a:ext cx="1212518" cy="208903"/>
          </a:xfrm>
          <a:prstGeom prst="rect">
            <a:avLst/>
          </a:prstGeom>
          <a:solidFill>
            <a:srgbClr val="FEF1C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helloween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3924139" y="2174747"/>
            <a:ext cx="1212518" cy="208903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p17"/>
          <p:cNvCxnSpPr/>
          <p:nvPr/>
        </p:nvCxnSpPr>
        <p:spPr>
          <a:xfrm flipH="1">
            <a:off x="3068586" y="2395497"/>
            <a:ext cx="1226351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4" name="Google Shape;504;p17"/>
          <p:cNvCxnSpPr/>
          <p:nvPr/>
        </p:nvCxnSpPr>
        <p:spPr>
          <a:xfrm>
            <a:off x="4646224" y="2395497"/>
            <a:ext cx="1356169" cy="43747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5" name="Google Shape;505;p17"/>
          <p:cNvSpPr txBox="1"/>
          <p:nvPr/>
        </p:nvSpPr>
        <p:spPr>
          <a:xfrm>
            <a:off x="3295977" y="2360973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7"/>
          <p:cNvSpPr txBox="1"/>
          <p:nvPr/>
        </p:nvSpPr>
        <p:spPr>
          <a:xfrm>
            <a:off x="5809255" y="2391981"/>
            <a:ext cx="12125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7889000" y="1198647"/>
            <a:ext cx="10156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</a:t>
            </a:r>
            <a:endParaRPr/>
          </a:p>
        </p:txBody>
      </p:sp>
      <p:sp>
        <p:nvSpPr>
          <p:cNvPr id="513" name="Google Shape;513;p18"/>
          <p:cNvSpPr txBox="1"/>
          <p:nvPr>
            <p:ph idx="1" type="body"/>
          </p:nvPr>
        </p:nvSpPr>
        <p:spPr>
          <a:xfrm>
            <a:off x="460950" y="1785842"/>
            <a:ext cx="8222100" cy="2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ES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I. Suffix Tree: </a:t>
            </a:r>
            <a:r>
              <a:rPr lang="es-ES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construya el árbol de sufijos compacto del texto “panamabanana” e indique el camino de búsqueda para patrón “ana” 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4" name="Google Shape;514;p18"/>
          <p:cNvSpPr txBox="1"/>
          <p:nvPr/>
        </p:nvSpPr>
        <p:spPr>
          <a:xfrm>
            <a:off x="7889000" y="1198647"/>
            <a:ext cx="101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(2 pts)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6198" y="2387502"/>
            <a:ext cx="4635398" cy="265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heider sanchez</dc:creator>
</cp:coreProperties>
</file>