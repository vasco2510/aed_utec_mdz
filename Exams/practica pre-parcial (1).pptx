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  <p:embeddedFont>
      <p:font typeface="Tahoma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20" roundtripDataSignature="AMtx7mhXRV3vqhfIsZAnR0TgAl6sXchN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Tahoma-bold.fntdata"/><Relationship Id="rId6" Type="http://schemas.openxmlformats.org/officeDocument/2006/relationships/slide" Target="slides/slide1.xml"/><Relationship Id="rId18" Type="http://schemas.openxmlformats.org/officeDocument/2006/relationships/font" Target="fonts/Tahoma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0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745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0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4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1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" name="Google Shape;19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/>
          <p:nvPr>
            <p:ph idx="11" type="ftr"/>
          </p:nvPr>
        </p:nvSpPr>
        <p:spPr>
          <a:xfrm>
            <a:off x="3108959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12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12"/>
          <p:cNvSpPr txBox="1"/>
          <p:nvPr>
            <p:ph idx="12" type="sldNum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3"/>
          <p:cNvSpPr txBox="1"/>
          <p:nvPr>
            <p:ph type="title"/>
          </p:nvPr>
        </p:nvSpPr>
        <p:spPr>
          <a:xfrm>
            <a:off x="2995373" y="228600"/>
            <a:ext cx="31533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4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6" name="Google Shape;26;p13"/>
          <p:cNvSpPr txBox="1"/>
          <p:nvPr>
            <p:ph idx="11" type="ftr"/>
          </p:nvPr>
        </p:nvSpPr>
        <p:spPr>
          <a:xfrm>
            <a:off x="3108959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1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13"/>
          <p:cNvSpPr txBox="1"/>
          <p:nvPr>
            <p:ph idx="12" type="sldNum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4"/>
          <p:cNvSpPr txBox="1"/>
          <p:nvPr>
            <p:ph type="title"/>
          </p:nvPr>
        </p:nvSpPr>
        <p:spPr>
          <a:xfrm>
            <a:off x="471900" y="738724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3" name="Google Shape;33;p14"/>
          <p:cNvSpPr txBox="1"/>
          <p:nvPr>
            <p:ph idx="1" type="body"/>
          </p:nvPr>
        </p:nvSpPr>
        <p:spPr>
          <a:xfrm>
            <a:off x="471900" y="1919074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" name="Google Shape;34;p1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ítulo 1">
  <p:cSld name="Solo título 1">
    <p:bg>
      <p:bgPr>
        <a:solidFill>
          <a:srgbClr val="FFFFFF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 txBox="1"/>
          <p:nvPr>
            <p:ph type="title"/>
          </p:nvPr>
        </p:nvSpPr>
        <p:spPr>
          <a:xfrm>
            <a:off x="457200" y="0"/>
            <a:ext cx="8534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4100" u="none" cap="none" strike="noStrike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1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37" name="Google Shape;37;p15"/>
          <p:cNvSpPr txBox="1"/>
          <p:nvPr>
            <p:ph idx="1" type="body"/>
          </p:nvPr>
        </p:nvSpPr>
        <p:spPr>
          <a:xfrm>
            <a:off x="1182687" y="1513284"/>
            <a:ext cx="7759800" cy="30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indent="-412750" lvl="0" marL="457200" marR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2900"/>
              <a:buFont typeface="Roboto"/>
              <a:buChar char="●"/>
              <a:defRPr b="0" i="0" sz="2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93700" lvl="1" marL="9144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600"/>
              <a:buFont typeface="Roboto"/>
              <a:buChar char="○"/>
              <a:defRPr b="0" i="0" sz="2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68300" lvl="2" marL="13716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Roboto"/>
              <a:buChar char="■"/>
              <a:defRPr b="0" i="0" sz="2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49250" lvl="3" marL="18288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Roboto"/>
              <a:buChar char="●"/>
              <a:defRPr b="0" i="0" sz="1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49250" lvl="4" marL="22860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Roboto"/>
              <a:buChar char="○"/>
              <a:defRPr b="0" i="0" sz="1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412750" lvl="5" marL="27432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900"/>
              <a:buFont typeface="Roboto"/>
              <a:buChar char="■"/>
              <a:defRPr b="0" i="0" sz="2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412750" lvl="6" marL="32004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900"/>
              <a:buFont typeface="Roboto"/>
              <a:buChar char="●"/>
              <a:defRPr b="0" i="0" sz="2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412750" lvl="7" marL="36576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900"/>
              <a:buFont typeface="Roboto"/>
              <a:buChar char="○"/>
              <a:defRPr b="0" i="0" sz="2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412750" lvl="8" marL="41148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900"/>
              <a:buFont typeface="Roboto"/>
              <a:buChar char="■"/>
              <a:defRPr b="0" i="0" sz="2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38" name="Google Shape;38;p15"/>
          <p:cNvSpPr txBox="1"/>
          <p:nvPr>
            <p:ph idx="10" type="dt"/>
          </p:nvPr>
        </p:nvSpPr>
        <p:spPr>
          <a:xfrm>
            <a:off x="1162050" y="4681537"/>
            <a:ext cx="18924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15"/>
          <p:cNvSpPr txBox="1"/>
          <p:nvPr>
            <p:ph idx="11" type="ftr"/>
          </p:nvPr>
        </p:nvSpPr>
        <p:spPr>
          <a:xfrm>
            <a:off x="3657600" y="4681537"/>
            <a:ext cx="28830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15"/>
          <p:cNvSpPr txBox="1"/>
          <p:nvPr>
            <p:ph idx="12" type="sldNum"/>
          </p:nvPr>
        </p:nvSpPr>
        <p:spPr>
          <a:xfrm>
            <a:off x="7042150" y="4681537"/>
            <a:ext cx="18924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1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2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3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4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5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6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7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8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 txBox="1"/>
          <p:nvPr>
            <p:ph type="ctrTitle"/>
          </p:nvPr>
        </p:nvSpPr>
        <p:spPr>
          <a:xfrm>
            <a:off x="2678906" y="1214438"/>
            <a:ext cx="3786300" cy="2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3" name="Google Shape;43;p16"/>
          <p:cNvSpPr txBox="1"/>
          <p:nvPr>
            <p:ph idx="1" type="subTitle"/>
          </p:nvPr>
        </p:nvSpPr>
        <p:spPr>
          <a:xfrm>
            <a:off x="1371600" y="2880359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16"/>
          <p:cNvSpPr txBox="1"/>
          <p:nvPr>
            <p:ph idx="11" type="ftr"/>
          </p:nvPr>
        </p:nvSpPr>
        <p:spPr>
          <a:xfrm>
            <a:off x="3108959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16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16"/>
          <p:cNvSpPr txBox="1"/>
          <p:nvPr>
            <p:ph idx="12" type="sldNum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7"/>
          <p:cNvSpPr txBox="1"/>
          <p:nvPr>
            <p:ph type="title"/>
          </p:nvPr>
        </p:nvSpPr>
        <p:spPr>
          <a:xfrm>
            <a:off x="2995373" y="228600"/>
            <a:ext cx="31533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4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9" name="Google Shape;49;p17"/>
          <p:cNvSpPr txBox="1"/>
          <p:nvPr>
            <p:ph idx="1" type="body"/>
          </p:nvPr>
        </p:nvSpPr>
        <p:spPr>
          <a:xfrm>
            <a:off x="457200" y="1183004"/>
            <a:ext cx="82296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17"/>
          <p:cNvSpPr txBox="1"/>
          <p:nvPr>
            <p:ph idx="11" type="ftr"/>
          </p:nvPr>
        </p:nvSpPr>
        <p:spPr>
          <a:xfrm>
            <a:off x="3108959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17"/>
          <p:cNvSpPr txBox="1"/>
          <p:nvPr>
            <p:ph idx="12" type="sldNum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8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4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4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5" name="Google Shape;55;p1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9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9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9"/>
          <p:cNvSpPr txBox="1"/>
          <p:nvPr>
            <p:ph type="title"/>
          </p:nvPr>
        </p:nvSpPr>
        <p:spPr>
          <a:xfrm>
            <a:off x="471900" y="738724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0" name="Google Shape;60;p19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indent="-3175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○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■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●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○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■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●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○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200"/>
              <a:buFont typeface="Roboto"/>
              <a:buChar char="■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1" name="Google Shape;61;p19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indent="-3175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○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■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●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○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■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●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oboto"/>
              <a:buChar char="○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200"/>
              <a:buFont typeface="Roboto"/>
              <a:buChar char="■"/>
              <a:defRPr b="0" i="0" sz="12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2" name="Google Shape;62;p1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0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0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1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1"/>
          <p:cNvSpPr txBox="1"/>
          <p:nvPr>
            <p:ph type="title"/>
          </p:nvPr>
        </p:nvSpPr>
        <p:spPr>
          <a:xfrm>
            <a:off x="226077" y="357799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2" name="Google Shape;72;p21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indent="-3048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○"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■"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○"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■"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○"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Font typeface="Roboto"/>
              <a:buChar char="■"/>
              <a:defRPr b="0" i="0" sz="1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6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sz="6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6" name="Google Shape;76;p2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3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3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b="0" i="0" sz="42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1" name="Google Shape;81;p23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None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None/>
              <a:defRPr b="0" i="0" sz="21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2" name="Google Shape;82;p23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3" name="Google Shape;83;p2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bg>
      <p:bgPr>
        <a:solidFill>
          <a:schemeClr val="accent4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4"/>
          <p:cNvSpPr txBox="1"/>
          <p:nvPr>
            <p:ph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b="0" i="0" sz="12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Roboto"/>
              <a:buNone/>
              <a:defRPr sz="1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6" name="Google Shape;86;p24"/>
          <p:cNvSpPr txBox="1"/>
          <p:nvPr>
            <p:ph idx="1" type="body"/>
          </p:nvPr>
        </p:nvSpPr>
        <p:spPr>
          <a:xfrm>
            <a:off x="475500" y="3304624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indent="-342900" lvl="0" marL="45720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7" name="Google Shape;87;p2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1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71900" y="738724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71900" y="1919074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Roboto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51425" lIns="51425" spcFirstLastPara="1" rIns="51425" wrap="square" tIns="5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s-ES"/>
              <a:t>Práctica de Repaso </a:t>
            </a:r>
            <a:endParaRPr/>
          </a:p>
        </p:txBody>
      </p:sp>
      <p:sp>
        <p:nvSpPr>
          <p:cNvPr id="95" name="Google Shape;95;p1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51425" lIns="51425" spcFirstLastPara="1" rIns="51425" wrap="square" tIns="51425">
            <a:noAutofit/>
          </a:bodyPr>
          <a:lstStyle/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14300" lvl="0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0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/>
          <p:nvPr>
            <p:ph idx="1" type="body"/>
          </p:nvPr>
        </p:nvSpPr>
        <p:spPr>
          <a:xfrm>
            <a:off x="132213" y="288598"/>
            <a:ext cx="4218858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</a:pPr>
            <a:r>
              <a:rPr lang="es-ES" sz="1300">
                <a:solidFill>
                  <a:schemeClr val="dk2"/>
                </a:solidFill>
              </a:rPr>
              <a:t>1)  (3 pts) Dada una lista doblemente enlazada para una cantidad impar de elementos. 	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1105468" y="897523"/>
            <a:ext cx="2067636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b="0" i="0" lang="es-ES" sz="12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ES" sz="1200" u="none" cap="none" strike="noStrike">
                <a:solidFill>
                  <a:srgbClr val="E36209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b="0" i="0" lang="es-ES" sz="12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   T data;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   Node</a:t>
            </a:r>
            <a:r>
              <a:rPr b="0" i="0" lang="es-ES" sz="12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s-ES" sz="12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0" i="0" lang="es-ES" sz="12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&gt;*</a:t>
            </a:r>
            <a:r>
              <a:rPr b="0" i="0" lang="es-ES" sz="12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next;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   Node</a:t>
            </a:r>
            <a:r>
              <a:rPr b="0" i="0" lang="es-ES" sz="12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0" i="0" lang="es-ES" sz="12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0" i="0" lang="es-ES" sz="12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&gt;*</a:t>
            </a:r>
            <a:r>
              <a:rPr b="0" i="0" lang="es-ES" sz="12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 prev;	</a:t>
            </a:r>
            <a:endParaRPr b="0" i="0" sz="1200" u="none" cap="none" strike="noStrike">
              <a:solidFill>
                <a:srgbClr val="2429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478520" y="2017481"/>
            <a:ext cx="3664424" cy="14927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Implemente una función que encuentre el elemento del medio y lo elimine. El tiempo de ejecución debe ser O(n), y </a:t>
            </a:r>
            <a:r>
              <a:rPr b="1" i="0" lang="es-ES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usando un solo bucle.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Nota: </a:t>
            </a:r>
            <a:r>
              <a:rPr b="1" i="0" lang="es-ES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 desconoce el tamaño de la lista.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4401403" y="288598"/>
            <a:ext cx="4610384" cy="423563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>
            <p:ph idx="1" type="body"/>
          </p:nvPr>
        </p:nvSpPr>
        <p:spPr>
          <a:xfrm>
            <a:off x="132213" y="288597"/>
            <a:ext cx="4105417" cy="121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</a:pPr>
            <a:r>
              <a:rPr lang="es-ES" sz="1300">
                <a:solidFill>
                  <a:schemeClr val="dk2"/>
                </a:solidFill>
              </a:rPr>
              <a:t>2) (3 pts) Implemente un algoritmo para imprimir los valores del BST por niveles. 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</a:pPr>
            <a:r>
              <a:rPr lang="es-ES" sz="1300">
                <a:solidFill>
                  <a:schemeClr val="dk2"/>
                </a:solidFill>
              </a:rPr>
              <a:t>	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4313697" y="75204"/>
            <a:ext cx="4610384" cy="423563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4044777" y="172190"/>
            <a:ext cx="3915799" cy="1349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0215" marR="0" rtl="0" algn="l">
              <a:lnSpc>
                <a:spcPct val="1017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1400" u="none" cap="none" strike="noStrike">
                <a:solidFill>
                  <a:srgbClr val="0098DD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b="0" i="0" lang="es-ES" sz="14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ES" sz="1400" u="none" cap="none" strike="noStrike">
                <a:solidFill>
                  <a:srgbClr val="D52753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b="0" i="0" lang="es-ES" sz="14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ES" sz="14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0215" marR="0" rtl="0" algn="l">
              <a:lnSpc>
                <a:spcPct val="1017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i="1" lang="es-ES" sz="1400" u="none" cap="none" strike="noStrike">
                <a:solidFill>
                  <a:srgbClr val="0098DD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s-ES" sz="14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ES" sz="1400" u="none" cap="none" strike="noStrike">
                <a:solidFill>
                  <a:srgbClr val="A05A48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b="0" i="0" lang="es-ES" sz="14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0215" marR="0" rtl="0" algn="l">
              <a:lnSpc>
                <a:spcPct val="1017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i="0" lang="es-ES" sz="1400" u="none" cap="none" strike="noStrike">
                <a:solidFill>
                  <a:srgbClr val="D52753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b="0" i="0" lang="es-ES" sz="14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b="0" i="0" lang="es-ES" sz="14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ES" sz="1400" u="none" cap="none" strike="noStrike">
                <a:solidFill>
                  <a:srgbClr val="A05A48"/>
                </a:solidFill>
                <a:latin typeface="Consolas"/>
                <a:ea typeface="Consolas"/>
                <a:cs typeface="Consolas"/>
                <a:sym typeface="Consolas"/>
              </a:rPr>
              <a:t>left</a:t>
            </a:r>
            <a:r>
              <a:rPr b="0" i="0" lang="es-ES" sz="14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0" i="0" lang="es-ES" sz="14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0215" marR="0" rtl="0" algn="l">
              <a:lnSpc>
                <a:spcPct val="1017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   </a:t>
            </a:r>
            <a:r>
              <a:rPr b="0" i="0" lang="es-ES" sz="1400" u="none" cap="none" strike="noStrike">
                <a:solidFill>
                  <a:srgbClr val="D52753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b="0" i="0" lang="es-ES" sz="14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b="0" i="0" lang="es-ES" sz="14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ES" sz="1400" u="none" cap="none" strike="noStrike">
                <a:solidFill>
                  <a:srgbClr val="A05A48"/>
                </a:solidFill>
                <a:latin typeface="Consolas"/>
                <a:ea typeface="Consolas"/>
                <a:cs typeface="Consolas"/>
                <a:sym typeface="Consolas"/>
              </a:rPr>
              <a:t>right</a:t>
            </a:r>
            <a:r>
              <a:rPr b="0" i="0" lang="es-ES" sz="14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indent="0" lvl="0" marL="450215" marR="0" rtl="0" algn="l">
              <a:lnSpc>
                <a:spcPct val="1017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/>
          </a:p>
          <a:p>
            <a:pPr indent="0" lvl="0" marL="450215" marR="0" rtl="0" algn="l">
              <a:lnSpc>
                <a:spcPct val="1017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ES" sz="1400" u="none" cap="none" strike="noStrike">
                <a:solidFill>
                  <a:srgbClr val="0098DD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0" i="0" lang="es-ES" sz="14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ES" sz="1400" u="none" cap="none" strike="noStrike">
                <a:solidFill>
                  <a:srgbClr val="23974A"/>
                </a:solidFill>
                <a:latin typeface="Consolas"/>
                <a:ea typeface="Consolas"/>
                <a:cs typeface="Consolas"/>
                <a:sym typeface="Consolas"/>
              </a:rPr>
              <a:t>print_by_levels</a:t>
            </a:r>
            <a:r>
              <a:rPr b="0" i="0" lang="es-ES" sz="14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0" i="0" lang="es-ES" sz="1400" u="none" cap="none" strike="noStrike">
                <a:solidFill>
                  <a:srgbClr val="D52753"/>
                </a:solidFill>
                <a:latin typeface="Consolas"/>
                <a:ea typeface="Consolas"/>
                <a:cs typeface="Consolas"/>
                <a:sym typeface="Consolas"/>
              </a:rPr>
              <a:t>Node</a:t>
            </a:r>
            <a:r>
              <a:rPr b="0" i="1" lang="es-ES" sz="1400" u="none" cap="none" strike="noStrike">
                <a:solidFill>
                  <a:srgbClr val="0098DD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b="0" i="0" lang="es-ES" sz="1400" u="none" cap="none" strike="noStrike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0" i="0" lang="es-ES" sz="1400" u="none" cap="none" strike="noStrike">
                <a:solidFill>
                  <a:srgbClr val="40B8C5"/>
                </a:solidFill>
                <a:latin typeface="Consolas"/>
                <a:ea typeface="Consolas"/>
                <a:cs typeface="Consolas"/>
                <a:sym typeface="Consolas"/>
              </a:rPr>
              <a:t>root</a:t>
            </a:r>
            <a:r>
              <a:rPr b="0" i="0" lang="es-ES" sz="1400" u="none" cap="none" strike="noStrike">
                <a:solidFill>
                  <a:srgbClr val="7A82DA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0215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Árbol binario de búsqueda - Wikipedia, la enciclopedia libre" id="111" name="Google Shape;11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110" y="1235573"/>
            <a:ext cx="2301162" cy="191489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 txBox="1"/>
          <p:nvPr/>
        </p:nvSpPr>
        <p:spPr>
          <a:xfrm>
            <a:off x="522941" y="3600150"/>
            <a:ext cx="457200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3  10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1  6  14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4  7  13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 txBox="1"/>
          <p:nvPr>
            <p:ph idx="1" type="body"/>
          </p:nvPr>
        </p:nvSpPr>
        <p:spPr>
          <a:xfrm>
            <a:off x="132213" y="288598"/>
            <a:ext cx="4132712" cy="749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</a:pPr>
            <a:r>
              <a:rPr lang="es-ES" sz="1300">
                <a:solidFill>
                  <a:schemeClr val="dk2"/>
                </a:solidFill>
              </a:rPr>
              <a:t>3)  (2 pts) Dado el siguiente árbol binario de búsqueda dibuje el árbol resultante después de eliminar los siguientes elementos: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18" name="Google Shape;118;p4"/>
          <p:cNvSpPr txBox="1"/>
          <p:nvPr/>
        </p:nvSpPr>
        <p:spPr>
          <a:xfrm>
            <a:off x="366357" y="1163605"/>
            <a:ext cx="3664424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Remover:</a:t>
            </a:r>
            <a:r>
              <a:rPr b="0" i="0" lang="es-E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66, 51, 55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Reemplazar por el sucesor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4401403" y="288598"/>
            <a:ext cx="4610384" cy="423563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45421" y="371280"/>
            <a:ext cx="3284179" cy="2064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/>
        </p:nvSpPr>
        <p:spPr>
          <a:xfrm>
            <a:off x="376176" y="333713"/>
            <a:ext cx="7656653" cy="1908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4) (3 pts) </a:t>
            </a:r>
            <a:r>
              <a:rPr b="0" i="0" lang="es-ES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Considere un hashtable con las siguientes características: función hashing </a:t>
            </a:r>
            <a:r>
              <a:rPr b="1" i="0" lang="es-ES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h(x) = x mod n</a:t>
            </a:r>
            <a:r>
              <a:rPr b="0" i="0" lang="es-ES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resolución de colisiones por el método </a:t>
            </a:r>
            <a:r>
              <a:rPr b="1" i="0" lang="es-ES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open-addressing</a:t>
            </a:r>
            <a:r>
              <a:rPr b="0" i="0" lang="es-ES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 El </a:t>
            </a:r>
            <a:r>
              <a:rPr b="1" i="0" lang="es-ES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rehashing</a:t>
            </a:r>
            <a:r>
              <a:rPr b="0" i="0" lang="es-ES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s-ES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redobla el tamaño </a:t>
            </a:r>
            <a:r>
              <a:rPr b="0" i="0" lang="es-ES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 la tabla. </a:t>
            </a:r>
            <a:endParaRPr b="0"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 le pide insertar los elementos con la restricción de factor de llenado maxFillFactor=0.8 </a:t>
            </a:r>
            <a:endParaRPr b="0"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	</a:t>
            </a:r>
            <a:r>
              <a:rPr b="1" i="0" lang="es-ES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Keys:  2, 3, 6, 8, 10, 12, 13, 22, 23, 25, 26, 33, 35, 44, 56</a:t>
            </a:r>
            <a:endParaRPr b="1"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	Capacidad inicial n=5</a:t>
            </a:r>
            <a:endParaRPr/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Dibuje cada vez que se redimensiona el hash table y el resultado final.</a:t>
            </a:r>
            <a:endParaRPr b="0" i="0" sz="13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 txBox="1"/>
          <p:nvPr>
            <p:ph idx="1" type="body"/>
          </p:nvPr>
        </p:nvSpPr>
        <p:spPr>
          <a:xfrm>
            <a:off x="132212" y="288597"/>
            <a:ext cx="4844902" cy="118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</a:pPr>
            <a:r>
              <a:rPr lang="es-ES" sz="1300">
                <a:solidFill>
                  <a:schemeClr val="dk2"/>
                </a:solidFill>
              </a:rPr>
              <a:t>5) (2 pts) Dada la siguiente representación de un min-heap.  Complete los nodos vacíos con letras del resto del alfabeto sin perder la propiedad del Heap.	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31" name="Google Shape;131;p6"/>
          <p:cNvSpPr txBox="1"/>
          <p:nvPr/>
        </p:nvSpPr>
        <p:spPr>
          <a:xfrm>
            <a:off x="452722" y="2124900"/>
            <a:ext cx="8238556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a) Dibuje el resultado después de insertar ‘D’                            b)  Dibuje el resultado después de aplicar pop()</a:t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302809" y="2463836"/>
            <a:ext cx="3832462" cy="211633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4647063" y="2463835"/>
            <a:ext cx="3832462" cy="211633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3561" y="259662"/>
            <a:ext cx="2933814" cy="17897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 txBox="1"/>
          <p:nvPr>
            <p:ph idx="1" type="body"/>
          </p:nvPr>
        </p:nvSpPr>
        <p:spPr>
          <a:xfrm>
            <a:off x="132212" y="288598"/>
            <a:ext cx="5251829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</a:pPr>
            <a:r>
              <a:rPr lang="es-ES" sz="1300">
                <a:solidFill>
                  <a:schemeClr val="dk2"/>
                </a:solidFill>
              </a:rPr>
              <a:t>6) (3 pts) Dada la siguiente representación de un max-heap.	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40" name="Google Shape;140;p7"/>
          <p:cNvSpPr txBox="1"/>
          <p:nvPr/>
        </p:nvSpPr>
        <p:spPr>
          <a:xfrm>
            <a:off x="240969" y="2171447"/>
            <a:ext cx="8238556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a) Dibuje el resultado después hacer doble pop            b)  Luego, dibuje el resultado después de insertar ‘W’</a:t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302809" y="2463836"/>
            <a:ext cx="3832462" cy="211633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2444" y="563331"/>
            <a:ext cx="2935605" cy="137604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7"/>
          <p:cNvSpPr/>
          <p:nvPr/>
        </p:nvSpPr>
        <p:spPr>
          <a:xfrm>
            <a:off x="4647063" y="2463835"/>
            <a:ext cx="3832462" cy="211633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/>
          <p:nvPr>
            <p:ph idx="1" type="body"/>
          </p:nvPr>
        </p:nvSpPr>
        <p:spPr>
          <a:xfrm>
            <a:off x="132213" y="288598"/>
            <a:ext cx="3921172" cy="755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</a:pPr>
            <a:r>
              <a:rPr lang="es-ES" sz="1300">
                <a:solidFill>
                  <a:schemeClr val="dk2"/>
                </a:solidFill>
              </a:rPr>
              <a:t>7) (3 pts) </a:t>
            </a:r>
            <a:r>
              <a:rPr lang="es-ES" sz="1400">
                <a:solidFill>
                  <a:srgbClr val="000000"/>
                </a:solidFill>
              </a:rPr>
              <a:t>Cree un disjoint set optimizado (by rank) con el siguiente arreglo y operaciones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</a:pPr>
            <a:r>
              <a:rPr lang="es-ES" sz="1300">
                <a:solidFill>
                  <a:schemeClr val="dk2"/>
                </a:solidFill>
              </a:rPr>
              <a:t>	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49" name="Google Shape;149;p8"/>
          <p:cNvSpPr txBox="1"/>
          <p:nvPr/>
        </p:nvSpPr>
        <p:spPr>
          <a:xfrm>
            <a:off x="540366" y="920879"/>
            <a:ext cx="310486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1, 2, 3, 4, 5, 6, 7, 8, 9, 10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470848" y="1443914"/>
            <a:ext cx="2133300" cy="258217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makeSet(1)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makeSet(2)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makeSet(3)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makeSet(4)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makeSet(5)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makeSet(6)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makeSet(7)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makeSet(8)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makeSet(9)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makeSet(10)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1920085" y="1443915"/>
            <a:ext cx="2133300" cy="258217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union(1, 10)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union(2, 9)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union(3, 8)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union(10, 9)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union(5, 6)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union(7, 1)</a:t>
            </a:r>
            <a:endParaRPr b="0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union(8, 5)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union(4, 9)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union(7, 2)</a:t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4401403" y="288598"/>
            <a:ext cx="4610384" cy="423563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8"/>
          <p:cNvSpPr txBox="1"/>
          <p:nvPr/>
        </p:nvSpPr>
        <p:spPr>
          <a:xfrm>
            <a:off x="470848" y="4107976"/>
            <a:ext cx="370536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a) Dibuje el DS resultante indicando para cada nodo el valor del rank.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