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9144000" cx="16256000"/>
  <p:notesSz cx="16256000" cy="9144000"/>
  <p:embeddedFontLst>
    <p:embeddedFont>
      <p:font typeface="Robot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56" roundtripDataSignature="AMtx7miJn1nohk08kSVYvMsl1X3Dw+4g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892A19-8DC6-4B60-A98E-E29363A3EE23}">
  <a:tblStyle styleId="{52892A19-8DC6-4B60-A98E-E29363A3EE2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5C7AC45-62B7-426F-99CB-13A058A08851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3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/>
      <a:tcStyle>
        <a:tcBdr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>
              <a:alpha val="40000"/>
            </a:schemeClr>
          </a:solidFill>
        </a:fill>
      </a:tcStyle>
    </a:band2V>
    <a:lastCol>
      <a:tcTxStyle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lastCol>
    <a:firstCol>
      <a:tcTxStyle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firstCol>
    <a:lastRow>
      <a:tcTxStyle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  <a:tblStyle styleId="{DD377342-D15B-46CB-BBA6-7DD3FD517ED8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4"/>
          </a:solidFill>
        </a:fill>
      </a:tcStyle>
    </a:wholeTbl>
    <a:band1H>
      <a:tcTxStyle/>
      <a:tcStyle>
        <a:fill>
          <a:solidFill>
            <a:srgbClr val="CAD5E7"/>
          </a:solidFill>
        </a:fill>
      </a:tcStyle>
    </a:band1H>
    <a:band2H>
      <a:tcTxStyle/>
    </a:band2H>
    <a:band1V>
      <a:tcTxStyle/>
      <a:tcStyle>
        <a:fill>
          <a:solidFill>
            <a:srgbClr val="CAD5E7"/>
          </a:solidFill>
        </a:fill>
      </a:tcStyle>
    </a:band1V>
    <a:band2V>
      <a:tcTxStyle/>
      <a:tcStyle>
        <a:fill>
          <a:solidFill>
            <a:srgbClr val="CAD5E7"/>
          </a:solidFill>
        </a:fill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5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9207500" y="0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9207500" y="8685213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Usualmente el número de keys varía de d a 2d, donde el mínimo es d + 1</a:t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371" name="Google Shape;371;p1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400" name="Google Shape;400;p1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429" name="Google Shape;429;p1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5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458" name="Google Shape;458;p15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6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6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487" name="Google Shape;487;p16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7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516" name="Google Shape;516;p17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8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544" name="Google Shape;544;p18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9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572" name="Google Shape;572;p19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20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599" name="Google Shape;599;p20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2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626" name="Google Shape;626;p21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2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653" name="Google Shape;653;p2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2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679" name="Google Shape;679;p2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2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704" name="Google Shape;704;p2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25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730" name="Google Shape;730;p25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6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26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755" name="Google Shape;755;p26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27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781" name="Google Shape;781;p27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p28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807" name="Google Shape;807;p28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29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828" name="Google Shape;828;p29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30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837" name="Google Shape;837;p30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8" name="Google Shape;858;p3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https://www.cs.usfca.edu/~galles/visualization/BTree.html</a:t>
            </a:r>
            <a:endParaRPr/>
          </a:p>
        </p:txBody>
      </p:sp>
      <p:sp>
        <p:nvSpPr>
          <p:cNvPr id="859" name="Google Shape;859;p31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2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3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4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5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6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6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7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8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39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https://www.cs.usfca.edu/~galles/visualization/BPlusTree.html</a:t>
            </a:r>
            <a:endParaRPr/>
          </a:p>
        </p:txBody>
      </p:sp>
      <p:sp>
        <p:nvSpPr>
          <p:cNvPr id="926" name="Google Shape;926;p39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p40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https://www.cs.usfca.edu/~galles/visualization/BPlusTree.html</a:t>
            </a:r>
            <a:endParaRPr/>
          </a:p>
        </p:txBody>
      </p:sp>
      <p:sp>
        <p:nvSpPr>
          <p:cNvPr id="936" name="Google Shape;936;p40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4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https://www.cs.usfca.edu/~galles/visualization/BPlusTree.html</a:t>
            </a:r>
            <a:endParaRPr/>
          </a:p>
        </p:txBody>
      </p:sp>
      <p:sp>
        <p:nvSpPr>
          <p:cNvPr id="969" name="Google Shape;969;p41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7" name="Google Shape;997;p4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https://www.cs.usfca.edu/~galles/visualization/BPlusTree.html</a:t>
            </a:r>
            <a:endParaRPr/>
          </a:p>
        </p:txBody>
      </p:sp>
      <p:sp>
        <p:nvSpPr>
          <p:cNvPr id="998" name="Google Shape;998;p4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p4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https://www.cs.usfca.edu/~galles/visualization/BPlusTree.html</a:t>
            </a:r>
            <a:endParaRPr/>
          </a:p>
        </p:txBody>
      </p:sp>
      <p:sp>
        <p:nvSpPr>
          <p:cNvPr id="1009" name="Google Shape;1009;p4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p4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https://www.cs.usfca.edu/~galles/visualization/BPlusTree.html</a:t>
            </a:r>
            <a:endParaRPr/>
          </a:p>
        </p:txBody>
      </p:sp>
      <p:sp>
        <p:nvSpPr>
          <p:cNvPr id="1019" name="Google Shape;1019;p4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5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/>
          <p:nvPr>
            <p:ph idx="11" type="ftr"/>
          </p:nvPr>
        </p:nvSpPr>
        <p:spPr>
          <a:xfrm>
            <a:off x="5527038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47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7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8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8"/>
          <p:cNvSpPr/>
          <p:nvPr/>
        </p:nvSpPr>
        <p:spPr>
          <a:xfrm>
            <a:off x="0" y="2997333"/>
            <a:ext cx="16256101" cy="1931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8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8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48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9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5527038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9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9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0"/>
          <p:cNvSpPr txBox="1"/>
          <p:nvPr>
            <p:ph type="ctrTitle"/>
          </p:nvPr>
        </p:nvSpPr>
        <p:spPr>
          <a:xfrm>
            <a:off x="4762500" y="2159000"/>
            <a:ext cx="67311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" type="subTitle"/>
          </p:nvPr>
        </p:nvSpPr>
        <p:spPr>
          <a:xfrm>
            <a:off x="2438400" y="5120639"/>
            <a:ext cx="1137929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5527038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0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0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1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" name="Google Shape;36;p51"/>
          <p:cNvSpPr txBox="1"/>
          <p:nvPr>
            <p:ph idx="1" type="body"/>
          </p:nvPr>
        </p:nvSpPr>
        <p:spPr>
          <a:xfrm>
            <a:off x="812800" y="2103119"/>
            <a:ext cx="14630400" cy="60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1"/>
          <p:cNvSpPr txBox="1"/>
          <p:nvPr>
            <p:ph idx="11" type="ftr"/>
          </p:nvPr>
        </p:nvSpPr>
        <p:spPr>
          <a:xfrm>
            <a:off x="5527038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1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/>
          <p:nvPr/>
        </p:nvSpPr>
        <p:spPr>
          <a:xfrm flipH="1">
            <a:off x="14660300" y="7548311"/>
            <a:ext cx="1595700" cy="1595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2"/>
          <p:cNvSpPr/>
          <p:nvPr/>
        </p:nvSpPr>
        <p:spPr>
          <a:xfrm flipH="1">
            <a:off x="14660300" y="7548222"/>
            <a:ext cx="1595700" cy="1595700"/>
          </a:xfrm>
          <a:prstGeom prst="round1Rect">
            <a:avLst>
              <a:gd fmla="val 16667" name="adj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2"/>
          <p:cNvSpPr txBox="1"/>
          <p:nvPr>
            <p:ph type="ctrTitle"/>
          </p:nvPr>
        </p:nvSpPr>
        <p:spPr>
          <a:xfrm>
            <a:off x="694266" y="3234266"/>
            <a:ext cx="14617199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8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52"/>
          <p:cNvSpPr txBox="1"/>
          <p:nvPr>
            <p:ph idx="1" type="subTitle"/>
          </p:nvPr>
        </p:nvSpPr>
        <p:spPr>
          <a:xfrm>
            <a:off x="694266" y="4958453"/>
            <a:ext cx="14617199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" name="Google Shape;45;p52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3"/>
          <p:cNvSpPr txBox="1"/>
          <p:nvPr>
            <p:ph type="title"/>
          </p:nvPr>
        </p:nvSpPr>
        <p:spPr>
          <a:xfrm>
            <a:off x="819466" y="3671733"/>
            <a:ext cx="14617199" cy="18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8" name="Google Shape;48;p53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4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4"/>
          <p:cNvSpPr/>
          <p:nvPr/>
        </p:nvSpPr>
        <p:spPr>
          <a:xfrm>
            <a:off x="0" y="2997333"/>
            <a:ext cx="16256101" cy="1931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4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54"/>
          <p:cNvSpPr txBox="1"/>
          <p:nvPr>
            <p:ph idx="1" type="body"/>
          </p:nvPr>
        </p:nvSpPr>
        <p:spPr>
          <a:xfrm>
            <a:off x="8389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54"/>
          <p:cNvSpPr txBox="1"/>
          <p:nvPr>
            <p:ph idx="2" type="body"/>
          </p:nvPr>
        </p:nvSpPr>
        <p:spPr>
          <a:xfrm>
            <a:off x="83453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54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5"/>
          <p:cNvSpPr txBox="1"/>
          <p:nvPr/>
        </p:nvSpPr>
        <p:spPr>
          <a:xfrm flipH="1" rot="10800000">
            <a:off x="5825066" y="43"/>
            <a:ext cx="10430999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5"/>
          <p:cNvSpPr/>
          <p:nvPr/>
        </p:nvSpPr>
        <p:spPr>
          <a:xfrm rot="-5400000">
            <a:off x="1349666" y="4475400"/>
            <a:ext cx="9144000" cy="1931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5"/>
          <p:cNvSpPr txBox="1"/>
          <p:nvPr>
            <p:ph type="title"/>
          </p:nvPr>
        </p:nvSpPr>
        <p:spPr>
          <a:xfrm>
            <a:off x="401915" y="636088"/>
            <a:ext cx="4992000" cy="169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55"/>
          <p:cNvSpPr txBox="1"/>
          <p:nvPr>
            <p:ph idx="1" type="body"/>
          </p:nvPr>
        </p:nvSpPr>
        <p:spPr>
          <a:xfrm>
            <a:off x="401911" y="2605866"/>
            <a:ext cx="4992000" cy="56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55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6"/>
          <p:cNvSpPr txBox="1"/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0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56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/>
          <p:nvPr/>
        </p:nvSpPr>
        <p:spPr>
          <a:xfrm flipH="1">
            <a:off x="100" y="0"/>
            <a:ext cx="8127900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7"/>
          <p:cNvSpPr/>
          <p:nvPr/>
        </p:nvSpPr>
        <p:spPr>
          <a:xfrm rot="5400000">
            <a:off x="3460311" y="4475866"/>
            <a:ext cx="9142800" cy="1931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7"/>
          <p:cNvSpPr txBox="1"/>
          <p:nvPr>
            <p:ph type="title"/>
          </p:nvPr>
        </p:nvSpPr>
        <p:spPr>
          <a:xfrm>
            <a:off x="472000" y="2192311"/>
            <a:ext cx="7191600" cy="2635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7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57"/>
          <p:cNvSpPr txBox="1"/>
          <p:nvPr>
            <p:ph idx="1" type="subTitle"/>
          </p:nvPr>
        </p:nvSpPr>
        <p:spPr>
          <a:xfrm>
            <a:off x="472000" y="4941274"/>
            <a:ext cx="7191600" cy="219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57"/>
          <p:cNvSpPr txBox="1"/>
          <p:nvPr>
            <p:ph idx="2" type="body"/>
          </p:nvPr>
        </p:nvSpPr>
        <p:spPr>
          <a:xfrm>
            <a:off x="8781333" y="1287466"/>
            <a:ext cx="6821399" cy="6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1" name="Google Shape;71;p57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/>
          <p:nvPr>
            <p:ph type="title"/>
          </p:nvPr>
        </p:nvSpPr>
        <p:spPr>
          <a:xfrm>
            <a:off x="845333" y="2237377"/>
            <a:ext cx="14617199" cy="34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2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4" name="Google Shape;74;p58"/>
          <p:cNvSpPr txBox="1"/>
          <p:nvPr>
            <p:ph idx="1" type="body"/>
          </p:nvPr>
        </p:nvSpPr>
        <p:spPr>
          <a:xfrm>
            <a:off x="845333" y="5874888"/>
            <a:ext cx="14617199" cy="2312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ctr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5" name="Google Shape;75;p58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9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46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rtl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46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/>
        </p:nvSpPr>
        <p:spPr>
          <a:xfrm>
            <a:off x="1076825" y="660450"/>
            <a:ext cx="14487900" cy="80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to </a:t>
            </a:r>
            <a:b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 and Data Structures! - CS2100  </a:t>
            </a:r>
            <a:endParaRPr b="1" i="0" sz="6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</a:t>
            </a:r>
            <a:endParaRPr b="1"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Viendo la forma que tiene un árbol B a la derecha, cuál será la relación entre keys (elementos de un nodo) e hijos del nodo?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 un árbol B, los nodos tienen </a:t>
            </a:r>
            <a:r>
              <a:rPr i="1" lang="es-PE" sz="2400">
                <a:solidFill>
                  <a:srgbClr val="000000"/>
                </a:solidFill>
              </a:rPr>
              <a:t>“n” </a:t>
            </a:r>
            <a:r>
              <a:rPr lang="es-PE" sz="2400">
                <a:solidFill>
                  <a:srgbClr val="000000"/>
                </a:solidFill>
              </a:rPr>
              <a:t>keys y </a:t>
            </a:r>
            <a:r>
              <a:rPr i="1" lang="es-PE" sz="2400">
                <a:solidFill>
                  <a:srgbClr val="000000"/>
                </a:solidFill>
              </a:rPr>
              <a:t>“n+1” </a:t>
            </a:r>
            <a:r>
              <a:rPr lang="es-PE" sz="2400">
                <a:solidFill>
                  <a:srgbClr val="000000"/>
                </a:solidFill>
              </a:rPr>
              <a:t>hijos. La profundidad del árbol sigue siendo log(n), solo hay más ramas que en un BST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Por qué es interesante utilizar árboles B? En qué casos sería mejor utilizar árboles B que BST?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Básicamente cuando tenemos grandes cantidades de datos y poca capacidad de memoria principal, por eso son un estándar para organizar índices en sistemas de bases de datos en memoria secundaria. 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9247" y="4508997"/>
            <a:ext cx="5246875" cy="262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</a:t>
            </a:r>
            <a:endParaRPr b="1"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Al trabajar con disco, normalmente se copia el bloque al cache de disco con los datos que vamos a trabajar (como sabemos, </a:t>
            </a:r>
            <a:r>
              <a:rPr b="1" lang="es-PE" sz="2400">
                <a:solidFill>
                  <a:srgbClr val="000000"/>
                </a:solidFill>
              </a:rPr>
              <a:t>operaciones en disco son muy caras</a:t>
            </a:r>
            <a:r>
              <a:rPr lang="es-PE" sz="2400">
                <a:solidFill>
                  <a:srgbClr val="000000"/>
                </a:solidFill>
              </a:rPr>
              <a:t>)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Por ello, en general los </a:t>
            </a:r>
            <a:r>
              <a:rPr b="1" lang="es-PE" sz="2400">
                <a:solidFill>
                  <a:srgbClr val="000000"/>
                </a:solidFill>
              </a:rPr>
              <a:t>nodos de un árbol B tienden a ser grandes </a:t>
            </a:r>
            <a:r>
              <a:rPr lang="es-PE" sz="2400">
                <a:solidFill>
                  <a:srgbClr val="000000"/>
                </a:solidFill>
              </a:rPr>
              <a:t>para reducir los accesos a disco. 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Así podemos trabajar con más elementos en cache, en vez de acceder a disco cada vez que trabajamos con un solo elemento del árbol (Se accede a disco cada vez que se baja un nivel en el árbol) 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4824" y="3662218"/>
            <a:ext cx="5427625" cy="19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51412" y="6479663"/>
            <a:ext cx="5694450" cy="1411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Propiedades de los árboles B</a:t>
            </a:r>
            <a:endParaRPr b="1"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523968" y="3401540"/>
            <a:ext cx="8924832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s-PE" sz="2000">
                <a:solidFill>
                  <a:srgbClr val="000000"/>
                </a:solidFill>
              </a:rPr>
              <a:t>Características:</a:t>
            </a:r>
            <a:endParaRPr sz="2000"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s-PE" sz="2000">
                <a:solidFill>
                  <a:srgbClr val="000000"/>
                </a:solidFill>
              </a:rPr>
              <a:t>La raíz tiene al menos 2 hijos y contiene al menos un key</a:t>
            </a:r>
            <a:endParaRPr sz="2000"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s-PE" sz="2000">
                <a:solidFill>
                  <a:srgbClr val="000000"/>
                </a:solidFill>
              </a:rPr>
              <a:t>Todas las hojas están al mismo nivel</a:t>
            </a:r>
            <a:endParaRPr sz="2000"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s-PE" sz="2000">
                <a:solidFill>
                  <a:srgbClr val="000000"/>
                </a:solidFill>
              </a:rPr>
              <a:t>En cada nodo, todas las keys están ordenadas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s-PE" sz="2000">
                <a:solidFill>
                  <a:srgbClr val="000000"/>
                </a:solidFill>
              </a:rPr>
              <a:t>Si </a:t>
            </a:r>
            <a:r>
              <a:rPr b="1" lang="es-PE" sz="2000">
                <a:solidFill>
                  <a:srgbClr val="000000"/>
                </a:solidFill>
              </a:rPr>
              <a:t>M es el orden del árbol</a:t>
            </a:r>
            <a:r>
              <a:rPr lang="es-PE" sz="2000">
                <a:solidFill>
                  <a:srgbClr val="000000"/>
                </a:solidFill>
              </a:rPr>
              <a:t>, entonces:</a:t>
            </a:r>
            <a:endParaRPr sz="2000">
              <a:solidFill>
                <a:srgbClr val="000000"/>
              </a:solidFill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s-PE" sz="2000">
                <a:solidFill>
                  <a:srgbClr val="000000"/>
                </a:solidFill>
              </a:rPr>
              <a:t>Cada nodo excepto la raíz, </a:t>
            </a:r>
            <a:r>
              <a:rPr i="0" lang="es-PE" sz="2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⌈M/2⌉</a:t>
            </a:r>
            <a:r>
              <a:rPr lang="es-PE" sz="2000">
                <a:solidFill>
                  <a:srgbClr val="000000"/>
                </a:solidFill>
              </a:rPr>
              <a:t>  -  1&lt;= numero de keys &lt;= M  - 1</a:t>
            </a:r>
            <a:endParaRPr/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s-PE" sz="2000">
                <a:solidFill>
                  <a:srgbClr val="000000"/>
                </a:solidFill>
              </a:rPr>
              <a:t>Cada nodo interno excepto la raiz, </a:t>
            </a:r>
            <a:r>
              <a:rPr i="0" lang="es-PE" sz="2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⌈M/2⌉</a:t>
            </a:r>
            <a:r>
              <a:rPr lang="es-PE" sz="2000">
                <a:solidFill>
                  <a:srgbClr val="000000"/>
                </a:solidFill>
                <a:highlight>
                  <a:schemeClr val="lt1"/>
                </a:highlight>
              </a:rPr>
              <a:t> </a:t>
            </a:r>
            <a:r>
              <a:rPr lang="es-PE" sz="2000">
                <a:solidFill>
                  <a:srgbClr val="000000"/>
                </a:solidFill>
              </a:rPr>
              <a:t>&lt;= número de hijos &lt;= M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000000"/>
                </a:solidFill>
              </a:rPr>
              <a:t>Entonces, en el ejemplo de la derecha:</a:t>
            </a:r>
            <a:endParaRPr sz="20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➔"/>
            </a:pPr>
            <a:r>
              <a:rPr lang="es-PE" sz="2000">
                <a:solidFill>
                  <a:srgbClr val="000000"/>
                </a:solidFill>
              </a:rPr>
              <a:t>¿Qué valor tomaría M?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1360" y="4326268"/>
            <a:ext cx="6452496" cy="17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Búsquedas en árboles B</a:t>
            </a:r>
            <a:endParaRPr b="1"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 búsqueda es log(n), al igual que un BST: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Primero buscamos en el nodo actual si está la key, si no vamos al hijo correspondiente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Derecha para mayores, izquierda para menores. Igual que en el BST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Si no se encuentra en las hojas, entonces no está en el árbol</a:t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113" name="Google Shape;113;p5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14" name="Google Shape;114;p5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15" name="Google Shape;115;p5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16" name="Google Shape;116;p5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17" name="Google Shape;117;p5"/>
          <p:cNvGraphicFramePr/>
          <p:nvPr/>
        </p:nvGraphicFramePr>
        <p:xfrm>
          <a:off x="104834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18" name="Google Shape;118;p5"/>
          <p:cNvGraphicFramePr/>
          <p:nvPr/>
        </p:nvGraphicFramePr>
        <p:xfrm>
          <a:off x="740848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9" name="Google Shape;119;p5"/>
          <p:cNvGraphicFramePr/>
          <p:nvPr/>
        </p:nvGraphicFramePr>
        <p:xfrm>
          <a:off x="527693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20" name="Google Shape;120;p5"/>
          <p:cNvGraphicFramePr/>
          <p:nvPr/>
        </p:nvGraphicFramePr>
        <p:xfrm>
          <a:off x="123863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21" name="Google Shape;121;p5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122" name="Google Shape;122;p5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5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5"/>
          <p:cNvCxnSpPr/>
          <p:nvPr/>
        </p:nvCxnSpPr>
        <p:spPr>
          <a:xfrm>
            <a:off x="4626100" y="5302450"/>
            <a:ext cx="15015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5"/>
          <p:cNvCxnSpPr/>
          <p:nvPr/>
        </p:nvCxnSpPr>
        <p:spPr>
          <a:xfrm>
            <a:off x="4071525" y="5315975"/>
            <a:ext cx="5682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5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5"/>
          <p:cNvCxnSpPr/>
          <p:nvPr/>
        </p:nvCxnSpPr>
        <p:spPr>
          <a:xfrm flipH="1">
            <a:off x="8275100" y="5302450"/>
            <a:ext cx="666000" cy="5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5"/>
          <p:cNvCxnSpPr/>
          <p:nvPr/>
        </p:nvCxnSpPr>
        <p:spPr>
          <a:xfrm>
            <a:off x="9495700" y="5302450"/>
            <a:ext cx="328500" cy="5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" name="Google Shape;129;p5"/>
          <p:cNvCxnSpPr/>
          <p:nvPr/>
        </p:nvCxnSpPr>
        <p:spPr>
          <a:xfrm>
            <a:off x="10077325" y="5302450"/>
            <a:ext cx="1270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" name="Google Shape;130;p5"/>
          <p:cNvCxnSpPr/>
          <p:nvPr/>
        </p:nvCxnSpPr>
        <p:spPr>
          <a:xfrm>
            <a:off x="10631925" y="5315975"/>
            <a:ext cx="22905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" name="Google Shape;131;p5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Buscar el 21: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6601000" y="4369100"/>
            <a:ext cx="3381600" cy="527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5"/>
          <p:cNvCxnSpPr/>
          <p:nvPr/>
        </p:nvCxnSpPr>
        <p:spPr>
          <a:xfrm flipH="1">
            <a:off x="8350425" y="5315975"/>
            <a:ext cx="604200" cy="4275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4" name="Google Shape;134;p5"/>
          <p:cNvGraphicFramePr/>
          <p:nvPr/>
        </p:nvGraphicFramePr>
        <p:xfrm>
          <a:off x="92386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5" name="Google Shape;135;p5"/>
          <p:cNvSpPr txBox="1"/>
          <p:nvPr/>
        </p:nvSpPr>
        <p:spPr>
          <a:xfrm>
            <a:off x="7456531" y="6315611"/>
            <a:ext cx="10402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Inserciones en árboles B</a:t>
            </a:r>
            <a:endParaRPr b="1"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realiza una búsqueda en el árbol para encontrar la posición donde se debe insertar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hay espacio disponible, se inserta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no hay espacio, se divide en dos nodos y se sube el elemento central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valida que las propiedades se cumplan</a:t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143" name="Google Shape;143;p6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44" name="Google Shape;144;p6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45" name="Google Shape;145;p6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46" name="Google Shape;146;p6"/>
          <p:cNvGraphicFramePr/>
          <p:nvPr/>
        </p:nvGraphicFramePr>
        <p:xfrm>
          <a:off x="527693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47" name="Google Shape;147;p6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148" name="Google Shape;148;p6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p6"/>
          <p:cNvCxnSpPr/>
          <p:nvPr/>
        </p:nvCxnSpPr>
        <p:spPr>
          <a:xfrm>
            <a:off x="4626100" y="5302450"/>
            <a:ext cx="15015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p6"/>
          <p:cNvCxnSpPr/>
          <p:nvPr/>
        </p:nvCxnSpPr>
        <p:spPr>
          <a:xfrm>
            <a:off x="4071525" y="5315975"/>
            <a:ext cx="5682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6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6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Insertar el 41: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973925" y="3825325"/>
            <a:ext cx="2603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Insertar el 1 y 2: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4" name="Google Shape;154;p6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55" name="Google Shape;155;p6"/>
          <p:cNvGraphicFramePr/>
          <p:nvPr/>
        </p:nvGraphicFramePr>
        <p:xfrm>
          <a:off x="104834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56" name="Google Shape;156;p6"/>
          <p:cNvGraphicFramePr/>
          <p:nvPr/>
        </p:nvGraphicFramePr>
        <p:xfrm>
          <a:off x="740848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7" name="Google Shape;157;p6"/>
          <p:cNvGraphicFramePr/>
          <p:nvPr/>
        </p:nvGraphicFramePr>
        <p:xfrm>
          <a:off x="123863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158" name="Google Shape;158;p6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" name="Google Shape;159;p6"/>
          <p:cNvCxnSpPr/>
          <p:nvPr/>
        </p:nvCxnSpPr>
        <p:spPr>
          <a:xfrm flipH="1">
            <a:off x="8275100" y="5302450"/>
            <a:ext cx="666000" cy="5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p6"/>
          <p:cNvCxnSpPr/>
          <p:nvPr/>
        </p:nvCxnSpPr>
        <p:spPr>
          <a:xfrm>
            <a:off x="9495700" y="5302450"/>
            <a:ext cx="328500" cy="5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" name="Google Shape;161;p6"/>
          <p:cNvCxnSpPr/>
          <p:nvPr/>
        </p:nvCxnSpPr>
        <p:spPr>
          <a:xfrm>
            <a:off x="10077325" y="5302450"/>
            <a:ext cx="1270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6"/>
          <p:cNvCxnSpPr/>
          <p:nvPr/>
        </p:nvCxnSpPr>
        <p:spPr>
          <a:xfrm>
            <a:off x="10631925" y="5315975"/>
            <a:ext cx="22905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6"/>
          <p:cNvCxnSpPr/>
          <p:nvPr/>
        </p:nvCxnSpPr>
        <p:spPr>
          <a:xfrm>
            <a:off x="6601000" y="4369100"/>
            <a:ext cx="3381600" cy="527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64" name="Google Shape;164;p6"/>
          <p:cNvGraphicFramePr/>
          <p:nvPr/>
        </p:nvGraphicFramePr>
        <p:xfrm>
          <a:off x="92386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65" name="Google Shape;165;p6"/>
          <p:cNvGraphicFramePr/>
          <p:nvPr/>
        </p:nvGraphicFramePr>
        <p:xfrm>
          <a:off x="135120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166" name="Google Shape;166;p6"/>
          <p:cNvCxnSpPr/>
          <p:nvPr/>
        </p:nvCxnSpPr>
        <p:spPr>
          <a:xfrm>
            <a:off x="10642800" y="5302500"/>
            <a:ext cx="2141100" cy="4911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6"/>
          <p:cNvCxnSpPr/>
          <p:nvPr/>
        </p:nvCxnSpPr>
        <p:spPr>
          <a:xfrm flipH="1">
            <a:off x="4748425" y="4357875"/>
            <a:ext cx="1259400" cy="4911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6"/>
          <p:cNvCxnSpPr/>
          <p:nvPr/>
        </p:nvCxnSpPr>
        <p:spPr>
          <a:xfrm flipH="1">
            <a:off x="3161200" y="5315100"/>
            <a:ext cx="365400" cy="440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Inserciones en árboles B</a:t>
            </a:r>
            <a:endParaRPr b="1"/>
          </a:p>
        </p:txBody>
      </p:sp>
      <p:sp>
        <p:nvSpPr>
          <p:cNvPr id="175" name="Google Shape;175;p7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realiza una búsqueda en el árbol para encontrar la posición donde se debe insertar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hay espacio disponible, se inserta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no hay espacio, se divide en dos nodos y se sube el elemento central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valida que las propiedades se cumplan</a:t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176" name="Google Shape;176;p7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77" name="Google Shape;177;p7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78" name="Google Shape;178;p7"/>
          <p:cNvGraphicFramePr/>
          <p:nvPr/>
        </p:nvGraphicFramePr>
        <p:xfrm>
          <a:off x="527693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79" name="Google Shape;179;p7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180" name="Google Shape;180;p7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" name="Google Shape;181;p7"/>
          <p:cNvCxnSpPr/>
          <p:nvPr/>
        </p:nvCxnSpPr>
        <p:spPr>
          <a:xfrm>
            <a:off x="5194325" y="5316500"/>
            <a:ext cx="914400" cy="48989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2" name="Google Shape;182;p7"/>
          <p:cNvCxnSpPr/>
          <p:nvPr/>
        </p:nvCxnSpPr>
        <p:spPr>
          <a:xfrm flipH="1">
            <a:off x="4639775" y="5302500"/>
            <a:ext cx="78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7"/>
          <p:cNvCxnSpPr/>
          <p:nvPr/>
        </p:nvCxnSpPr>
        <p:spPr>
          <a:xfrm flipH="1">
            <a:off x="3388024" y="5292500"/>
            <a:ext cx="705000" cy="5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84" name="Google Shape;184;p7"/>
          <p:cNvGraphicFramePr/>
          <p:nvPr/>
        </p:nvGraphicFramePr>
        <p:xfrm>
          <a:off x="157106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85" name="Google Shape;185;p7"/>
          <p:cNvGraphicFramePr/>
          <p:nvPr/>
        </p:nvGraphicFramePr>
        <p:xfrm>
          <a:off x="2823300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186" name="Google Shape;186;p7"/>
          <p:cNvCxnSpPr/>
          <p:nvPr/>
        </p:nvCxnSpPr>
        <p:spPr>
          <a:xfrm flipH="1">
            <a:off x="2128625" y="5315100"/>
            <a:ext cx="1385400" cy="50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" name="Google Shape;187;p7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Insertar el 41: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973925" y="3825325"/>
            <a:ext cx="2540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Insertar el 1 y 2: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" name="Google Shape;189;p7"/>
          <p:cNvCxnSpPr/>
          <p:nvPr/>
        </p:nvCxnSpPr>
        <p:spPr>
          <a:xfrm flipH="1">
            <a:off x="4748425" y="4357875"/>
            <a:ext cx="1259400" cy="4911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0" name="Google Shape;190;p7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91" name="Google Shape;191;p7"/>
          <p:cNvGraphicFramePr/>
          <p:nvPr/>
        </p:nvGraphicFramePr>
        <p:xfrm>
          <a:off x="104834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92" name="Google Shape;192;p7"/>
          <p:cNvGraphicFramePr/>
          <p:nvPr/>
        </p:nvGraphicFramePr>
        <p:xfrm>
          <a:off x="740848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3" name="Google Shape;193;p7"/>
          <p:cNvGraphicFramePr/>
          <p:nvPr/>
        </p:nvGraphicFramePr>
        <p:xfrm>
          <a:off x="123863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194" name="Google Shape;194;p7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7"/>
          <p:cNvCxnSpPr/>
          <p:nvPr/>
        </p:nvCxnSpPr>
        <p:spPr>
          <a:xfrm flipH="1">
            <a:off x="8275100" y="5302450"/>
            <a:ext cx="666000" cy="5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" name="Google Shape;196;p7"/>
          <p:cNvCxnSpPr/>
          <p:nvPr/>
        </p:nvCxnSpPr>
        <p:spPr>
          <a:xfrm>
            <a:off x="9495700" y="5302450"/>
            <a:ext cx="328500" cy="5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7"/>
          <p:cNvCxnSpPr/>
          <p:nvPr/>
        </p:nvCxnSpPr>
        <p:spPr>
          <a:xfrm>
            <a:off x="10077325" y="5302450"/>
            <a:ext cx="1270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7"/>
          <p:cNvCxnSpPr/>
          <p:nvPr/>
        </p:nvCxnSpPr>
        <p:spPr>
          <a:xfrm>
            <a:off x="10631925" y="5315975"/>
            <a:ext cx="22905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99" name="Google Shape;199;p7"/>
          <p:cNvGraphicFramePr/>
          <p:nvPr/>
        </p:nvGraphicFramePr>
        <p:xfrm>
          <a:off x="92386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00" name="Google Shape;200;p7"/>
          <p:cNvGraphicFramePr/>
          <p:nvPr/>
        </p:nvGraphicFramePr>
        <p:xfrm>
          <a:off x="135120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/>
        </p:nvSpPr>
        <p:spPr>
          <a:xfrm>
            <a:off x="855192" y="3563888"/>
            <a:ext cx="2603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Insertar el 1 y 2: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783184" y="6156176"/>
            <a:ext cx="1224136" cy="1008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 = 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 =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7" name="Google Shape;207;p8"/>
          <p:cNvGraphicFramePr/>
          <p:nvPr/>
        </p:nvGraphicFramePr>
        <p:xfrm>
          <a:off x="5247680" y="3552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208" name="Google Shape;208;p8"/>
          <p:cNvCxnSpPr/>
          <p:nvPr/>
        </p:nvCxnSpPr>
        <p:spPr>
          <a:xfrm>
            <a:off x="6903864" y="3962183"/>
            <a:ext cx="15015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" name="Google Shape;209;p8"/>
          <p:cNvCxnSpPr/>
          <p:nvPr/>
        </p:nvCxnSpPr>
        <p:spPr>
          <a:xfrm>
            <a:off x="6373380" y="3953086"/>
            <a:ext cx="1250932" cy="52302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10" name="Google Shape;210;p8"/>
          <p:cNvGraphicFramePr/>
          <p:nvPr/>
        </p:nvGraphicFramePr>
        <p:xfrm>
          <a:off x="3519488" y="44534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360225"/>
                <a:gridCol w="360225"/>
                <a:gridCol w="360225"/>
                <a:gridCol w="3602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11" name="Google Shape;211;p8"/>
          <p:cNvGraphicFramePr/>
          <p:nvPr/>
        </p:nvGraphicFramePr>
        <p:xfrm>
          <a:off x="5538478" y="4455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360225"/>
                <a:gridCol w="360225"/>
                <a:gridCol w="360225"/>
                <a:gridCol w="3602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212" name="Google Shape;212;p8"/>
          <p:cNvCxnSpPr/>
          <p:nvPr/>
        </p:nvCxnSpPr>
        <p:spPr>
          <a:xfrm flipH="1">
            <a:off x="4239980" y="3960331"/>
            <a:ext cx="1007700" cy="493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" name="Google Shape;213;p8"/>
          <p:cNvCxnSpPr/>
          <p:nvPr/>
        </p:nvCxnSpPr>
        <p:spPr>
          <a:xfrm>
            <a:off x="5795286" y="3960331"/>
            <a:ext cx="463500" cy="4953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Google Shape;218;p9"/>
          <p:cNvGraphicFramePr/>
          <p:nvPr/>
        </p:nvGraphicFramePr>
        <p:xfrm>
          <a:off x="3474420" y="4435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20850"/>
                <a:gridCol w="420850"/>
                <a:gridCol w="420850"/>
                <a:gridCol w="420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19" name="Google Shape;219;p9"/>
          <p:cNvGraphicFramePr/>
          <p:nvPr/>
        </p:nvGraphicFramePr>
        <p:xfrm>
          <a:off x="5271633" y="3318030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FF928C"/>
                    </a:gs>
                    <a:gs pos="35000">
                      <a:srgbClr val="FFB2AF"/>
                    </a:gs>
                    <a:gs pos="100000">
                      <a:srgbClr val="FFE0DC"/>
                    </a:gs>
                  </a:gsLst>
                  <a:lin ang="16200000" scaled="0"/>
                </a:gradFill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220" name="Google Shape;220;p9"/>
          <p:cNvCxnSpPr>
            <a:stCxn id="221" idx="0"/>
          </p:cNvCxnSpPr>
          <p:nvPr/>
        </p:nvCxnSpPr>
        <p:spPr>
          <a:xfrm flipH="1">
            <a:off x="4316112" y="3720825"/>
            <a:ext cx="1019700" cy="714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p9"/>
          <p:cNvCxnSpPr/>
          <p:nvPr/>
        </p:nvCxnSpPr>
        <p:spPr>
          <a:xfrm>
            <a:off x="5793460" y="3722925"/>
            <a:ext cx="143526" cy="71247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p9"/>
          <p:cNvCxnSpPr/>
          <p:nvPr/>
        </p:nvCxnSpPr>
        <p:spPr>
          <a:xfrm>
            <a:off x="6411801" y="3722925"/>
            <a:ext cx="1280445" cy="71247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p9"/>
          <p:cNvSpPr txBox="1"/>
          <p:nvPr/>
        </p:nvSpPr>
        <p:spPr>
          <a:xfrm>
            <a:off x="5157828" y="372082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5781303" y="3728420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6367205" y="3781540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5335811" y="310150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5936986" y="310776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3968033" y="3318030"/>
            <a:ext cx="61214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PE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6506568" y="3104363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7096072" y="310150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31" name="Google Shape;231;p9"/>
          <p:cNvGraphicFramePr/>
          <p:nvPr/>
        </p:nvGraphicFramePr>
        <p:xfrm>
          <a:off x="5534845" y="4435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32" name="Google Shape;232;p9"/>
          <p:cNvGraphicFramePr/>
          <p:nvPr/>
        </p:nvGraphicFramePr>
        <p:xfrm>
          <a:off x="7692246" y="4435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33" name="Google Shape;233;p9"/>
          <p:cNvGraphicFramePr/>
          <p:nvPr/>
        </p:nvGraphicFramePr>
        <p:xfrm>
          <a:off x="1714500" y="73436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30525"/>
                <a:gridCol w="430525"/>
                <a:gridCol w="430525"/>
                <a:gridCol w="4305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34" name="Google Shape;234;p9"/>
          <p:cNvGraphicFramePr/>
          <p:nvPr/>
        </p:nvGraphicFramePr>
        <p:xfrm>
          <a:off x="3890238" y="747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378625"/>
                <a:gridCol w="378625"/>
                <a:gridCol w="378625"/>
                <a:gridCol w="3786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35" name="Google Shape;235;p9"/>
          <p:cNvGraphicFramePr/>
          <p:nvPr/>
        </p:nvGraphicFramePr>
        <p:xfrm>
          <a:off x="5011571" y="6357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36" name="Google Shape;236;p9"/>
          <p:cNvSpPr txBox="1"/>
          <p:nvPr/>
        </p:nvSpPr>
        <p:spPr>
          <a:xfrm>
            <a:off x="5075749" y="6140610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5676924" y="6146870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6246506" y="6143468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6836010" y="6140610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9"/>
          <p:cNvCxnSpPr/>
          <p:nvPr/>
        </p:nvCxnSpPr>
        <p:spPr>
          <a:xfrm flipH="1">
            <a:off x="2575572" y="6781720"/>
            <a:ext cx="2436000" cy="561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" name="Google Shape;241;p9"/>
          <p:cNvSpPr txBox="1"/>
          <p:nvPr/>
        </p:nvSpPr>
        <p:spPr>
          <a:xfrm>
            <a:off x="4766705" y="6770943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9"/>
          <p:cNvCxnSpPr>
            <a:stCxn id="243" idx="0"/>
          </p:cNvCxnSpPr>
          <p:nvPr/>
        </p:nvCxnSpPr>
        <p:spPr>
          <a:xfrm flipH="1">
            <a:off x="4647406" y="6753345"/>
            <a:ext cx="896400" cy="721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9"/>
          <p:cNvSpPr txBox="1"/>
          <p:nvPr/>
        </p:nvSpPr>
        <p:spPr>
          <a:xfrm>
            <a:off x="5365822" y="675334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5958429" y="675334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6489246" y="6770943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" name="Google Shape;246;p9"/>
          <p:cNvCxnSpPr/>
          <p:nvPr/>
        </p:nvCxnSpPr>
        <p:spPr>
          <a:xfrm>
            <a:off x="6087572" y="6762065"/>
            <a:ext cx="143526" cy="71247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7" name="Google Shape;247;p9"/>
          <p:cNvCxnSpPr/>
          <p:nvPr/>
        </p:nvCxnSpPr>
        <p:spPr>
          <a:xfrm>
            <a:off x="6705913" y="6762065"/>
            <a:ext cx="1280445" cy="71247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48" name="Google Shape;248;p9"/>
          <p:cNvGraphicFramePr/>
          <p:nvPr/>
        </p:nvGraphicFramePr>
        <p:xfrm>
          <a:off x="5828957" y="7474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49" name="Google Shape;249;p9"/>
          <p:cNvGraphicFramePr/>
          <p:nvPr/>
        </p:nvGraphicFramePr>
        <p:xfrm>
          <a:off x="7986358" y="7474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0" name="Google Shape;250;p9"/>
          <p:cNvSpPr txBox="1"/>
          <p:nvPr/>
        </p:nvSpPr>
        <p:spPr>
          <a:xfrm>
            <a:off x="266711" y="3237833"/>
            <a:ext cx="2603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Insertar 7: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p10"/>
          <p:cNvGraphicFramePr/>
          <p:nvPr/>
        </p:nvGraphicFramePr>
        <p:xfrm>
          <a:off x="3474420" y="4435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20850"/>
                <a:gridCol w="420850"/>
                <a:gridCol w="420850"/>
                <a:gridCol w="420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56" name="Google Shape;256;p10"/>
          <p:cNvGraphicFramePr/>
          <p:nvPr/>
        </p:nvGraphicFramePr>
        <p:xfrm>
          <a:off x="5271633" y="33180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257" name="Google Shape;257;p10"/>
          <p:cNvCxnSpPr>
            <a:stCxn id="258" idx="0"/>
          </p:cNvCxnSpPr>
          <p:nvPr/>
        </p:nvCxnSpPr>
        <p:spPr>
          <a:xfrm flipH="1">
            <a:off x="4316112" y="3720825"/>
            <a:ext cx="1019700" cy="71460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10"/>
          <p:cNvCxnSpPr/>
          <p:nvPr/>
        </p:nvCxnSpPr>
        <p:spPr>
          <a:xfrm>
            <a:off x="5793460" y="3722925"/>
            <a:ext cx="143526" cy="71247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" name="Google Shape;260;p10"/>
          <p:cNvCxnSpPr/>
          <p:nvPr/>
        </p:nvCxnSpPr>
        <p:spPr>
          <a:xfrm>
            <a:off x="6411801" y="3722925"/>
            <a:ext cx="1280445" cy="71247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10"/>
          <p:cNvSpPr txBox="1"/>
          <p:nvPr/>
        </p:nvSpPr>
        <p:spPr>
          <a:xfrm>
            <a:off x="5157828" y="372082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5781303" y="3728420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6367205" y="3781540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5335811" y="310150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5936986" y="310776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3838885" y="3347645"/>
            <a:ext cx="61214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PE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6506568" y="3104363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7096072" y="310150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68" name="Google Shape;268;p10"/>
          <p:cNvGraphicFramePr/>
          <p:nvPr/>
        </p:nvGraphicFramePr>
        <p:xfrm>
          <a:off x="5534845" y="4435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69" name="Google Shape;269;p10"/>
          <p:cNvGraphicFramePr/>
          <p:nvPr/>
        </p:nvGraphicFramePr>
        <p:xfrm>
          <a:off x="7692246" y="4435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70" name="Google Shape;270;p10"/>
          <p:cNvGraphicFramePr/>
          <p:nvPr/>
        </p:nvGraphicFramePr>
        <p:xfrm>
          <a:off x="267511" y="69538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20850"/>
                <a:gridCol w="420850"/>
                <a:gridCol w="420850"/>
                <a:gridCol w="420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71" name="Google Shape;271;p10"/>
          <p:cNvGraphicFramePr/>
          <p:nvPr/>
        </p:nvGraphicFramePr>
        <p:xfrm>
          <a:off x="2064724" y="58364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272" name="Google Shape;272;p10"/>
          <p:cNvCxnSpPr>
            <a:stCxn id="273" idx="0"/>
          </p:cNvCxnSpPr>
          <p:nvPr/>
        </p:nvCxnSpPr>
        <p:spPr>
          <a:xfrm flipH="1">
            <a:off x="1109203" y="6239257"/>
            <a:ext cx="1019700" cy="71460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p10"/>
          <p:cNvCxnSpPr/>
          <p:nvPr/>
        </p:nvCxnSpPr>
        <p:spPr>
          <a:xfrm>
            <a:off x="2586551" y="6241357"/>
            <a:ext cx="143526" cy="71247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p10"/>
          <p:cNvCxnSpPr/>
          <p:nvPr/>
        </p:nvCxnSpPr>
        <p:spPr>
          <a:xfrm>
            <a:off x="3204892" y="6241357"/>
            <a:ext cx="1280445" cy="71247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10"/>
          <p:cNvSpPr txBox="1"/>
          <p:nvPr/>
        </p:nvSpPr>
        <p:spPr>
          <a:xfrm>
            <a:off x="1950919" y="6239257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2574394" y="6246852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3160296" y="6299972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2128902" y="5619937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2730077" y="5626197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3299659" y="5622795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3889163" y="5619937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82" name="Google Shape;282;p10"/>
          <p:cNvGraphicFramePr/>
          <p:nvPr/>
        </p:nvGraphicFramePr>
        <p:xfrm>
          <a:off x="4485337" y="69538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83" name="Google Shape;283;p10"/>
          <p:cNvGraphicFramePr/>
          <p:nvPr/>
        </p:nvGraphicFramePr>
        <p:xfrm>
          <a:off x="1037722" y="80625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84" name="Google Shape;284;p10"/>
          <p:cNvGraphicFramePr/>
          <p:nvPr/>
        </p:nvGraphicFramePr>
        <p:xfrm>
          <a:off x="3425932" y="80625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5" name="Google Shape;285;p10"/>
          <p:cNvSpPr txBox="1"/>
          <p:nvPr/>
        </p:nvSpPr>
        <p:spPr>
          <a:xfrm>
            <a:off x="2818106" y="7588393"/>
            <a:ext cx="61214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PE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0"/>
          <p:cNvCxnSpPr/>
          <p:nvPr/>
        </p:nvCxnSpPr>
        <p:spPr>
          <a:xfrm flipH="1">
            <a:off x="1927877" y="7896170"/>
            <a:ext cx="802200" cy="166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10"/>
          <p:cNvCxnSpPr/>
          <p:nvPr/>
        </p:nvCxnSpPr>
        <p:spPr>
          <a:xfrm>
            <a:off x="3425932" y="7896170"/>
            <a:ext cx="419182" cy="166337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88" name="Google Shape;288;p10"/>
          <p:cNvGraphicFramePr/>
          <p:nvPr/>
        </p:nvGraphicFramePr>
        <p:xfrm>
          <a:off x="7464527" y="6942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20850"/>
                <a:gridCol w="420850"/>
                <a:gridCol w="420850"/>
                <a:gridCol w="420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89" name="Google Shape;289;p10"/>
          <p:cNvGraphicFramePr/>
          <p:nvPr/>
        </p:nvGraphicFramePr>
        <p:xfrm>
          <a:off x="9261740" y="5825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290" name="Google Shape;290;p10"/>
          <p:cNvCxnSpPr>
            <a:stCxn id="291" idx="0"/>
          </p:cNvCxnSpPr>
          <p:nvPr/>
        </p:nvCxnSpPr>
        <p:spPr>
          <a:xfrm flipH="1">
            <a:off x="8306219" y="6228184"/>
            <a:ext cx="1019700" cy="71460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10"/>
          <p:cNvCxnSpPr/>
          <p:nvPr/>
        </p:nvCxnSpPr>
        <p:spPr>
          <a:xfrm>
            <a:off x="10971827" y="6230284"/>
            <a:ext cx="2936100" cy="56970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p10"/>
          <p:cNvSpPr txBox="1"/>
          <p:nvPr/>
        </p:nvSpPr>
        <p:spPr>
          <a:xfrm>
            <a:off x="9147935" y="6228184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9771410" y="6235779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10166112" y="6259066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9325918" y="5608864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9927093" y="5615124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10496675" y="5611722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11086179" y="5608864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99" name="Google Shape;299;p10"/>
          <p:cNvGraphicFramePr/>
          <p:nvPr/>
        </p:nvGraphicFramePr>
        <p:xfrm>
          <a:off x="13017659" y="67999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00" name="Google Shape;300;p10"/>
          <p:cNvGraphicFramePr/>
          <p:nvPr/>
        </p:nvGraphicFramePr>
        <p:xfrm>
          <a:off x="9277431" y="68879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01" name="Google Shape;301;p10"/>
          <p:cNvGraphicFramePr/>
          <p:nvPr/>
        </p:nvGraphicFramePr>
        <p:xfrm>
          <a:off x="11138823" y="68631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02" name="Google Shape;302;p10"/>
          <p:cNvCxnSpPr/>
          <p:nvPr/>
        </p:nvCxnSpPr>
        <p:spPr>
          <a:xfrm flipH="1">
            <a:off x="9732675" y="6182421"/>
            <a:ext cx="58110" cy="76033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p10"/>
          <p:cNvCxnSpPr/>
          <p:nvPr/>
        </p:nvCxnSpPr>
        <p:spPr>
          <a:xfrm>
            <a:off x="10413250" y="6246852"/>
            <a:ext cx="1243142" cy="616294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" name="Google Shape;304;p10"/>
          <p:cNvSpPr txBox="1"/>
          <p:nvPr/>
        </p:nvSpPr>
        <p:spPr>
          <a:xfrm>
            <a:off x="11402046" y="6286724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266711" y="3237833"/>
            <a:ext cx="2603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Insertar 16: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 txBox="1"/>
          <p:nvPr/>
        </p:nvSpPr>
        <p:spPr>
          <a:xfrm>
            <a:off x="3148184" y="3309504"/>
            <a:ext cx="61214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PE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1" name="Google Shape;311;p11"/>
          <p:cNvGraphicFramePr/>
          <p:nvPr/>
        </p:nvGraphicFramePr>
        <p:xfrm>
          <a:off x="1088203" y="4548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30525"/>
                <a:gridCol w="430525"/>
                <a:gridCol w="430525"/>
                <a:gridCol w="4305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2" name="Google Shape;312;p11"/>
          <p:cNvGraphicFramePr/>
          <p:nvPr/>
        </p:nvGraphicFramePr>
        <p:xfrm>
          <a:off x="3148184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378625"/>
                <a:gridCol w="378625"/>
                <a:gridCol w="378625"/>
                <a:gridCol w="3786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3" name="Google Shape;313;p11"/>
          <p:cNvGraphicFramePr/>
          <p:nvPr/>
        </p:nvGraphicFramePr>
        <p:xfrm>
          <a:off x="4609813" y="3479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4" name="Google Shape;314;p11"/>
          <p:cNvSpPr txBox="1"/>
          <p:nvPr/>
        </p:nvSpPr>
        <p:spPr>
          <a:xfrm>
            <a:off x="4673990" y="3262864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5275166" y="3269124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11"/>
          <p:cNvSpPr txBox="1"/>
          <p:nvPr/>
        </p:nvSpPr>
        <p:spPr>
          <a:xfrm>
            <a:off x="5844748" y="3265722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6434252" y="3262864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" name="Google Shape;318;p11"/>
          <p:cNvCxnSpPr>
            <a:stCxn id="319" idx="0"/>
          </p:cNvCxnSpPr>
          <p:nvPr/>
        </p:nvCxnSpPr>
        <p:spPr>
          <a:xfrm flipH="1">
            <a:off x="1949131" y="3893197"/>
            <a:ext cx="2593800" cy="65490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9" name="Google Shape;319;p11"/>
          <p:cNvSpPr txBox="1"/>
          <p:nvPr/>
        </p:nvSpPr>
        <p:spPr>
          <a:xfrm>
            <a:off x="4364947" y="3893197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0" name="Google Shape;320;p11"/>
          <p:cNvCxnSpPr>
            <a:stCxn id="321" idx="0"/>
          </p:cNvCxnSpPr>
          <p:nvPr/>
        </p:nvCxnSpPr>
        <p:spPr>
          <a:xfrm flipH="1">
            <a:off x="3905448" y="3875599"/>
            <a:ext cx="1236600" cy="69630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" name="Google Shape;321;p11"/>
          <p:cNvSpPr txBox="1"/>
          <p:nvPr/>
        </p:nvSpPr>
        <p:spPr>
          <a:xfrm>
            <a:off x="4964064" y="3875599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5556671" y="3875599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087488" y="3893197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" name="Google Shape;324;p11"/>
          <p:cNvCxnSpPr/>
          <p:nvPr/>
        </p:nvCxnSpPr>
        <p:spPr>
          <a:xfrm>
            <a:off x="5685814" y="3884319"/>
            <a:ext cx="143526" cy="71247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" name="Google Shape;325;p11"/>
          <p:cNvCxnSpPr/>
          <p:nvPr/>
        </p:nvCxnSpPr>
        <p:spPr>
          <a:xfrm>
            <a:off x="6304155" y="3884319"/>
            <a:ext cx="1280445" cy="71247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26" name="Google Shape;326;p11"/>
          <p:cNvGraphicFramePr/>
          <p:nvPr/>
        </p:nvGraphicFramePr>
        <p:xfrm>
          <a:off x="4926586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7" name="Google Shape;327;p11"/>
          <p:cNvGraphicFramePr/>
          <p:nvPr/>
        </p:nvGraphicFramePr>
        <p:xfrm>
          <a:off x="6836113" y="4584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C5AD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solidFill>
                          <a:srgbClr val="0C5ADB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28" name="Google Shape;328;p11"/>
          <p:cNvGraphicFramePr/>
          <p:nvPr/>
        </p:nvGraphicFramePr>
        <p:xfrm>
          <a:off x="8745640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9" name="Google Shape;329;p11"/>
          <p:cNvSpPr txBox="1"/>
          <p:nvPr/>
        </p:nvSpPr>
        <p:spPr>
          <a:xfrm>
            <a:off x="6812304" y="3835666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11"/>
          <p:cNvCxnSpPr/>
          <p:nvPr/>
        </p:nvCxnSpPr>
        <p:spPr>
          <a:xfrm>
            <a:off x="6873647" y="3859704"/>
            <a:ext cx="1871993" cy="688348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31" name="Google Shape;331;p11"/>
          <p:cNvGraphicFramePr/>
          <p:nvPr/>
        </p:nvGraphicFramePr>
        <p:xfrm>
          <a:off x="5773010" y="8194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23025"/>
                <a:gridCol w="423025"/>
                <a:gridCol w="423025"/>
                <a:gridCol w="4230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32" name="Google Shape;332;p11"/>
          <p:cNvGraphicFramePr/>
          <p:nvPr/>
        </p:nvGraphicFramePr>
        <p:xfrm>
          <a:off x="7639441" y="82055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23025"/>
                <a:gridCol w="423025"/>
                <a:gridCol w="423025"/>
                <a:gridCol w="4230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33" name="Google Shape;333;p11"/>
          <p:cNvGraphicFramePr/>
          <p:nvPr/>
        </p:nvGraphicFramePr>
        <p:xfrm>
          <a:off x="0" y="81628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30525"/>
                <a:gridCol w="430525"/>
                <a:gridCol w="430525"/>
                <a:gridCol w="4305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34" name="Google Shape;334;p11"/>
          <p:cNvGraphicFramePr/>
          <p:nvPr/>
        </p:nvGraphicFramePr>
        <p:xfrm>
          <a:off x="2059981" y="8186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378625"/>
                <a:gridCol w="378625"/>
                <a:gridCol w="378625"/>
                <a:gridCol w="3786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35" name="Google Shape;335;p11"/>
          <p:cNvGraphicFramePr/>
          <p:nvPr/>
        </p:nvGraphicFramePr>
        <p:xfrm>
          <a:off x="3521610" y="7094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36" name="Google Shape;336;p11"/>
          <p:cNvSpPr txBox="1"/>
          <p:nvPr/>
        </p:nvSpPr>
        <p:spPr>
          <a:xfrm>
            <a:off x="3585788" y="6877648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4186963" y="6883908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4756545" y="6880506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5346049" y="6877648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" name="Google Shape;340;p11"/>
          <p:cNvCxnSpPr>
            <a:stCxn id="341" idx="0"/>
          </p:cNvCxnSpPr>
          <p:nvPr/>
        </p:nvCxnSpPr>
        <p:spPr>
          <a:xfrm flipH="1">
            <a:off x="860928" y="7507981"/>
            <a:ext cx="2593800" cy="65490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1"/>
          <p:cNvSpPr txBox="1"/>
          <p:nvPr/>
        </p:nvSpPr>
        <p:spPr>
          <a:xfrm>
            <a:off x="3276744" y="7507981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" name="Google Shape;342;p11"/>
          <p:cNvCxnSpPr>
            <a:stCxn id="343" idx="0"/>
          </p:cNvCxnSpPr>
          <p:nvPr/>
        </p:nvCxnSpPr>
        <p:spPr>
          <a:xfrm flipH="1">
            <a:off x="2817245" y="7490383"/>
            <a:ext cx="1236600" cy="69630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p11"/>
          <p:cNvSpPr txBox="1"/>
          <p:nvPr/>
        </p:nvSpPr>
        <p:spPr>
          <a:xfrm>
            <a:off x="3875861" y="7490383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4468468" y="7490383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4999285" y="7507981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6" name="Google Shape;346;p11"/>
          <p:cNvCxnSpPr/>
          <p:nvPr/>
        </p:nvCxnSpPr>
        <p:spPr>
          <a:xfrm>
            <a:off x="4597611" y="7499103"/>
            <a:ext cx="143526" cy="71247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47" name="Google Shape;347;p11"/>
          <p:cNvGraphicFramePr/>
          <p:nvPr/>
        </p:nvGraphicFramePr>
        <p:xfrm>
          <a:off x="3838383" y="8186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48" name="Google Shape;348;p11"/>
          <p:cNvSpPr txBox="1"/>
          <p:nvPr/>
        </p:nvSpPr>
        <p:spPr>
          <a:xfrm>
            <a:off x="5524032" y="7524118"/>
            <a:ext cx="35596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49" name="Google Shape;349;p11"/>
          <p:cNvGraphicFramePr/>
          <p:nvPr/>
        </p:nvGraphicFramePr>
        <p:xfrm>
          <a:off x="9425782" y="81841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50" name="Google Shape;350;p11"/>
          <p:cNvCxnSpPr/>
          <p:nvPr/>
        </p:nvCxnSpPr>
        <p:spPr>
          <a:xfrm>
            <a:off x="7545160" y="7473869"/>
            <a:ext cx="2770800" cy="710100"/>
          </a:xfrm>
          <a:prstGeom prst="straightConnector1">
            <a:avLst/>
          </a:prstGeom>
          <a:noFill/>
          <a:ln cap="flat" cmpd="sng" w="952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1" name="Google Shape;351;p11"/>
          <p:cNvCxnSpPr/>
          <p:nvPr/>
        </p:nvCxnSpPr>
        <p:spPr>
          <a:xfrm>
            <a:off x="6443455" y="7507981"/>
            <a:ext cx="175500" cy="686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" name="Google Shape;352;p11"/>
          <p:cNvCxnSpPr/>
          <p:nvPr/>
        </p:nvCxnSpPr>
        <p:spPr>
          <a:xfrm>
            <a:off x="7014343" y="7507981"/>
            <a:ext cx="1471200" cy="6975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53" name="Google Shape;353;p11"/>
          <p:cNvGraphicFramePr/>
          <p:nvPr/>
        </p:nvGraphicFramePr>
        <p:xfrm>
          <a:off x="6419460" y="7077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54" name="Google Shape;354;p11"/>
          <p:cNvGraphicFramePr/>
          <p:nvPr/>
        </p:nvGraphicFramePr>
        <p:xfrm>
          <a:off x="5228911" y="60202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55" name="Google Shape;355;p11"/>
          <p:cNvCxnSpPr/>
          <p:nvPr/>
        </p:nvCxnSpPr>
        <p:spPr>
          <a:xfrm>
            <a:off x="5855407" y="6450533"/>
            <a:ext cx="1689900" cy="6270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" name="Google Shape;356;p11"/>
          <p:cNvCxnSpPr>
            <a:endCxn id="337" idx="3"/>
          </p:cNvCxnSpPr>
          <p:nvPr/>
        </p:nvCxnSpPr>
        <p:spPr>
          <a:xfrm flipH="1">
            <a:off x="4542930" y="6459713"/>
            <a:ext cx="761700" cy="5550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57" name="Google Shape;357;p11"/>
          <p:cNvGraphicFramePr/>
          <p:nvPr/>
        </p:nvGraphicFramePr>
        <p:xfrm>
          <a:off x="12075520" y="4548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58" name="Google Shape;358;p11"/>
          <p:cNvGraphicFramePr/>
          <p:nvPr/>
        </p:nvGraphicFramePr>
        <p:xfrm>
          <a:off x="14126752" y="4548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45100"/>
                <a:gridCol w="445100"/>
                <a:gridCol w="445100"/>
                <a:gridCol w="44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59" name="Google Shape;359;p11"/>
          <p:cNvSpPr txBox="1"/>
          <p:nvPr/>
        </p:nvSpPr>
        <p:spPr>
          <a:xfrm>
            <a:off x="13694582" y="3606075"/>
            <a:ext cx="61214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PE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11"/>
          <p:cNvCxnSpPr/>
          <p:nvPr/>
        </p:nvCxnSpPr>
        <p:spPr>
          <a:xfrm>
            <a:off x="14306725" y="3913852"/>
            <a:ext cx="1098675" cy="634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" name="Google Shape;361;p11"/>
          <p:cNvCxnSpPr/>
          <p:nvPr/>
        </p:nvCxnSpPr>
        <p:spPr>
          <a:xfrm flipH="1">
            <a:off x="12814276" y="3913852"/>
            <a:ext cx="880306" cy="60718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" name="Google Shape;362;p11"/>
          <p:cNvSpPr txBox="1"/>
          <p:nvPr/>
        </p:nvSpPr>
        <p:spPr>
          <a:xfrm>
            <a:off x="13751703" y="5704282"/>
            <a:ext cx="61214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PE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3" name="Google Shape;363;p11"/>
          <p:cNvGraphicFramePr/>
          <p:nvPr/>
        </p:nvGraphicFramePr>
        <p:xfrm>
          <a:off x="11206166" y="6459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64" name="Google Shape;364;p11"/>
          <p:cNvGraphicFramePr/>
          <p:nvPr/>
        </p:nvGraphicFramePr>
        <p:xfrm>
          <a:off x="13865546" y="6459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65" name="Google Shape;365;p11"/>
          <p:cNvCxnSpPr/>
          <p:nvPr/>
        </p:nvCxnSpPr>
        <p:spPr>
          <a:xfrm>
            <a:off x="14304158" y="6020771"/>
            <a:ext cx="687000" cy="438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6" name="Google Shape;366;p11"/>
          <p:cNvCxnSpPr/>
          <p:nvPr/>
        </p:nvCxnSpPr>
        <p:spPr>
          <a:xfrm flipH="1">
            <a:off x="12331816" y="6020771"/>
            <a:ext cx="1360200" cy="438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7" name="Google Shape;367;p11"/>
          <p:cNvSpPr txBox="1"/>
          <p:nvPr/>
        </p:nvSpPr>
        <p:spPr>
          <a:xfrm>
            <a:off x="185926" y="3157201"/>
            <a:ext cx="2603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Insertar 21: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</a:t>
            </a:r>
            <a:endParaRPr b="1"/>
          </a:p>
        </p:txBody>
      </p:sp>
      <p:sp>
        <p:nvSpPr>
          <p:cNvPr id="374" name="Google Shape;374;p12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debe procurar hacer el borrado siempre en las hojas ya que es más simple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Por tanto, si el key a remover no está en una hoja, se debería hacer un cambio con el anterior (elemento más a la derecha del hijo izquierdo) o siguiente (elemento más a la izquierda del hijo derecho) elemento.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Similar a como se trabaja con BST</a:t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375" name="Google Shape;375;p12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76" name="Google Shape;376;p12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77" name="Google Shape;377;p12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78" name="Google Shape;378;p12"/>
          <p:cNvGraphicFramePr/>
          <p:nvPr/>
        </p:nvGraphicFramePr>
        <p:xfrm>
          <a:off x="527693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79" name="Google Shape;379;p12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80" name="Google Shape;380;p12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1" name="Google Shape;381;p12"/>
          <p:cNvCxnSpPr/>
          <p:nvPr/>
        </p:nvCxnSpPr>
        <p:spPr>
          <a:xfrm>
            <a:off x="4626100" y="5302450"/>
            <a:ext cx="15015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" name="Google Shape;382;p12"/>
          <p:cNvCxnSpPr/>
          <p:nvPr/>
        </p:nvCxnSpPr>
        <p:spPr>
          <a:xfrm>
            <a:off x="4071525" y="5315975"/>
            <a:ext cx="5682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" name="Google Shape;383;p12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4" name="Google Shape;384;p12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18: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" name="Google Shape;385;p12"/>
          <p:cNvCxnSpPr/>
          <p:nvPr/>
        </p:nvCxnSpPr>
        <p:spPr>
          <a:xfrm flipH="1">
            <a:off x="4685425" y="4332700"/>
            <a:ext cx="1322400" cy="5415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12"/>
          <p:cNvCxnSpPr/>
          <p:nvPr/>
        </p:nvCxnSpPr>
        <p:spPr>
          <a:xfrm>
            <a:off x="4634975" y="5315100"/>
            <a:ext cx="1423200" cy="4533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87" name="Google Shape;387;p12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88" name="Google Shape;388;p12"/>
          <p:cNvGraphicFramePr/>
          <p:nvPr/>
        </p:nvGraphicFramePr>
        <p:xfrm>
          <a:off x="104834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89" name="Google Shape;389;p12"/>
          <p:cNvGraphicFramePr/>
          <p:nvPr/>
        </p:nvGraphicFramePr>
        <p:xfrm>
          <a:off x="740848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90" name="Google Shape;390;p12"/>
          <p:cNvGraphicFramePr/>
          <p:nvPr/>
        </p:nvGraphicFramePr>
        <p:xfrm>
          <a:off x="123863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91" name="Google Shape;391;p12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p12"/>
          <p:cNvCxnSpPr/>
          <p:nvPr/>
        </p:nvCxnSpPr>
        <p:spPr>
          <a:xfrm flipH="1">
            <a:off x="8275100" y="5302450"/>
            <a:ext cx="666000" cy="5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p12"/>
          <p:cNvCxnSpPr/>
          <p:nvPr/>
        </p:nvCxnSpPr>
        <p:spPr>
          <a:xfrm>
            <a:off x="9495700" y="5302450"/>
            <a:ext cx="328500" cy="5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4" name="Google Shape;394;p12"/>
          <p:cNvCxnSpPr/>
          <p:nvPr/>
        </p:nvCxnSpPr>
        <p:spPr>
          <a:xfrm>
            <a:off x="10077325" y="5302450"/>
            <a:ext cx="1270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5" name="Google Shape;395;p12"/>
          <p:cNvCxnSpPr/>
          <p:nvPr/>
        </p:nvCxnSpPr>
        <p:spPr>
          <a:xfrm>
            <a:off x="10631925" y="5315975"/>
            <a:ext cx="22905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96" name="Google Shape;396;p12"/>
          <p:cNvGraphicFramePr/>
          <p:nvPr/>
        </p:nvGraphicFramePr>
        <p:xfrm>
          <a:off x="92386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</a:t>
            </a:r>
            <a:endParaRPr b="1"/>
          </a:p>
        </p:txBody>
      </p:sp>
      <p:sp>
        <p:nvSpPr>
          <p:cNvPr id="403" name="Google Shape;403;p13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debe procurar hacer el borrado siempre en las hojas ya que es más simple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Por tanto, si el key a remover no está en una hoja, se debería hacer un cambio con el anterior (elemento más a la derecha del hijo izquierdo) o siguiente (elemento más a la izquierda del hijo derecho) elemento.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Similar a como se trabaja con BST</a:t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404" name="Google Shape;404;p13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05" name="Google Shape;405;p13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06" name="Google Shape;406;p13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07" name="Google Shape;407;p13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408" name="Google Shape;408;p13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9" name="Google Shape;409;p13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0" name="Google Shape;410;p13"/>
          <p:cNvCxnSpPr/>
          <p:nvPr/>
        </p:nvCxnSpPr>
        <p:spPr>
          <a:xfrm>
            <a:off x="4071525" y="5315975"/>
            <a:ext cx="5682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1" name="Google Shape;411;p13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2" name="Google Shape;412;p13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18: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3" name="Google Shape;413;p13"/>
          <p:cNvCxnSpPr/>
          <p:nvPr/>
        </p:nvCxnSpPr>
        <p:spPr>
          <a:xfrm flipH="1">
            <a:off x="4685425" y="4332700"/>
            <a:ext cx="1322400" cy="5415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3"/>
          <p:cNvCxnSpPr/>
          <p:nvPr/>
        </p:nvCxnSpPr>
        <p:spPr>
          <a:xfrm>
            <a:off x="4634975" y="5315100"/>
            <a:ext cx="1121100" cy="440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15" name="Google Shape;415;p13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16" name="Google Shape;416;p13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17" name="Google Shape;417;p13"/>
          <p:cNvGraphicFramePr/>
          <p:nvPr/>
        </p:nvGraphicFramePr>
        <p:xfrm>
          <a:off x="104834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18" name="Google Shape;418;p13"/>
          <p:cNvGraphicFramePr/>
          <p:nvPr/>
        </p:nvGraphicFramePr>
        <p:xfrm>
          <a:off x="740848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19" name="Google Shape;419;p13"/>
          <p:cNvGraphicFramePr/>
          <p:nvPr/>
        </p:nvGraphicFramePr>
        <p:xfrm>
          <a:off x="123863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420" name="Google Shape;420;p13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1" name="Google Shape;421;p13"/>
          <p:cNvCxnSpPr/>
          <p:nvPr/>
        </p:nvCxnSpPr>
        <p:spPr>
          <a:xfrm flipH="1">
            <a:off x="8275100" y="5302450"/>
            <a:ext cx="666000" cy="5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2" name="Google Shape;422;p13"/>
          <p:cNvCxnSpPr/>
          <p:nvPr/>
        </p:nvCxnSpPr>
        <p:spPr>
          <a:xfrm>
            <a:off x="9495700" y="5302450"/>
            <a:ext cx="328500" cy="5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3" name="Google Shape;423;p13"/>
          <p:cNvCxnSpPr/>
          <p:nvPr/>
        </p:nvCxnSpPr>
        <p:spPr>
          <a:xfrm>
            <a:off x="10077325" y="5302450"/>
            <a:ext cx="1270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4" name="Google Shape;424;p13"/>
          <p:cNvCxnSpPr/>
          <p:nvPr/>
        </p:nvCxnSpPr>
        <p:spPr>
          <a:xfrm>
            <a:off x="10631925" y="5315975"/>
            <a:ext cx="22905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425" name="Google Shape;425;p13"/>
          <p:cNvGraphicFramePr/>
          <p:nvPr/>
        </p:nvGraphicFramePr>
        <p:xfrm>
          <a:off x="92386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1)</a:t>
            </a:r>
            <a:endParaRPr b="1"/>
          </a:p>
        </p:txBody>
      </p:sp>
      <p:sp>
        <p:nvSpPr>
          <p:cNvPr id="432" name="Google Shape;432;p14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al borrar una key no tenemos suficientes keys para mantener las propiedades, entonces aplicamos una rotación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Lo primero es verificar a los nodos hermanos y ver si están sobre el mínimo de keys.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toma el nodo anterior o siguiente, y su padre baja al nodo de donde estamos borrando el elemento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 key del nodo hermano sube como padre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433" name="Google Shape;433;p14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34" name="Google Shape;434;p14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35" name="Google Shape;435;p14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36" name="Google Shape;436;p14"/>
          <p:cNvGraphicFramePr/>
          <p:nvPr/>
        </p:nvGraphicFramePr>
        <p:xfrm>
          <a:off x="527693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37" name="Google Shape;437;p14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438" name="Google Shape;438;p14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9" name="Google Shape;439;p14"/>
          <p:cNvCxnSpPr/>
          <p:nvPr/>
        </p:nvCxnSpPr>
        <p:spPr>
          <a:xfrm>
            <a:off x="4626100" y="5302450"/>
            <a:ext cx="15015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14"/>
          <p:cNvCxnSpPr/>
          <p:nvPr/>
        </p:nvCxnSpPr>
        <p:spPr>
          <a:xfrm>
            <a:off x="4071525" y="5315975"/>
            <a:ext cx="5682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1" name="Google Shape;441;p14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14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14: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3" name="Google Shape;443;p14"/>
          <p:cNvCxnSpPr/>
          <p:nvPr/>
        </p:nvCxnSpPr>
        <p:spPr>
          <a:xfrm flipH="1">
            <a:off x="4720650" y="4328525"/>
            <a:ext cx="1298700" cy="5274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14"/>
          <p:cNvCxnSpPr/>
          <p:nvPr/>
        </p:nvCxnSpPr>
        <p:spPr>
          <a:xfrm>
            <a:off x="4058000" y="5288900"/>
            <a:ext cx="554700" cy="527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45" name="Google Shape;445;p14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46" name="Google Shape;446;p14"/>
          <p:cNvGraphicFramePr/>
          <p:nvPr/>
        </p:nvGraphicFramePr>
        <p:xfrm>
          <a:off x="104834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47" name="Google Shape;447;p14"/>
          <p:cNvGraphicFramePr/>
          <p:nvPr/>
        </p:nvGraphicFramePr>
        <p:xfrm>
          <a:off x="740848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48" name="Google Shape;448;p14"/>
          <p:cNvGraphicFramePr/>
          <p:nvPr/>
        </p:nvGraphicFramePr>
        <p:xfrm>
          <a:off x="123863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449" name="Google Shape;449;p14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0" name="Google Shape;450;p14"/>
          <p:cNvCxnSpPr/>
          <p:nvPr/>
        </p:nvCxnSpPr>
        <p:spPr>
          <a:xfrm flipH="1">
            <a:off x="8275100" y="5302450"/>
            <a:ext cx="666000" cy="5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1" name="Google Shape;451;p14"/>
          <p:cNvCxnSpPr/>
          <p:nvPr/>
        </p:nvCxnSpPr>
        <p:spPr>
          <a:xfrm>
            <a:off x="9495700" y="5302450"/>
            <a:ext cx="328500" cy="5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14"/>
          <p:cNvCxnSpPr/>
          <p:nvPr/>
        </p:nvCxnSpPr>
        <p:spPr>
          <a:xfrm>
            <a:off x="10077325" y="5302450"/>
            <a:ext cx="1270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14"/>
          <p:cNvCxnSpPr/>
          <p:nvPr/>
        </p:nvCxnSpPr>
        <p:spPr>
          <a:xfrm>
            <a:off x="10631925" y="5315975"/>
            <a:ext cx="22905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454" name="Google Shape;454;p14"/>
          <p:cNvGraphicFramePr/>
          <p:nvPr/>
        </p:nvGraphicFramePr>
        <p:xfrm>
          <a:off x="92386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1)</a:t>
            </a:r>
            <a:endParaRPr b="1"/>
          </a:p>
        </p:txBody>
      </p:sp>
      <p:sp>
        <p:nvSpPr>
          <p:cNvPr id="461" name="Google Shape;461;p15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al borrar una key no tenemos suficientes keys para mantener las propiedades, entonces aplicamos una rotación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Lo primero es verificar a los nodos hermanos y ver si están sobre el mínimo de keys.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toma la key anterior o siguiente, y su padre baja al nodo de donde estamos borrando el elemento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 key del nodo hermano sube como padre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462" name="Google Shape;462;p15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63" name="Google Shape;463;p15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64" name="Google Shape;464;p15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65" name="Google Shape;465;p15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466" name="Google Shape;466;p15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7" name="Google Shape;467;p15"/>
          <p:cNvCxnSpPr/>
          <p:nvPr/>
        </p:nvCxnSpPr>
        <p:spPr>
          <a:xfrm>
            <a:off x="4626100" y="5302450"/>
            <a:ext cx="12309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8" name="Google Shape;468;p15"/>
          <p:cNvCxnSpPr/>
          <p:nvPr/>
        </p:nvCxnSpPr>
        <p:spPr>
          <a:xfrm>
            <a:off x="4071525" y="5315975"/>
            <a:ext cx="5682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9" name="Google Shape;469;p15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0" name="Google Shape;470;p15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14: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1" name="Google Shape;471;p15"/>
          <p:cNvCxnSpPr/>
          <p:nvPr/>
        </p:nvCxnSpPr>
        <p:spPr>
          <a:xfrm flipH="1">
            <a:off x="4720650" y="4328525"/>
            <a:ext cx="1298700" cy="5274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15"/>
          <p:cNvCxnSpPr/>
          <p:nvPr/>
        </p:nvCxnSpPr>
        <p:spPr>
          <a:xfrm>
            <a:off x="4058000" y="5288900"/>
            <a:ext cx="473400" cy="4464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73" name="Google Shape;473;p15"/>
          <p:cNvGraphicFramePr/>
          <p:nvPr/>
        </p:nvGraphicFramePr>
        <p:xfrm>
          <a:off x="5297188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74" name="Google Shape;474;p15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75" name="Google Shape;475;p15"/>
          <p:cNvGraphicFramePr/>
          <p:nvPr/>
        </p:nvGraphicFramePr>
        <p:xfrm>
          <a:off x="104834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76" name="Google Shape;476;p15"/>
          <p:cNvGraphicFramePr/>
          <p:nvPr/>
        </p:nvGraphicFramePr>
        <p:xfrm>
          <a:off x="7408488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77" name="Google Shape;477;p15"/>
          <p:cNvGraphicFramePr/>
          <p:nvPr/>
        </p:nvGraphicFramePr>
        <p:xfrm>
          <a:off x="123863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478" name="Google Shape;478;p15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9" name="Google Shape;479;p15"/>
          <p:cNvCxnSpPr/>
          <p:nvPr/>
        </p:nvCxnSpPr>
        <p:spPr>
          <a:xfrm flipH="1">
            <a:off x="8275100" y="5302450"/>
            <a:ext cx="666000" cy="5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15"/>
          <p:cNvCxnSpPr/>
          <p:nvPr/>
        </p:nvCxnSpPr>
        <p:spPr>
          <a:xfrm>
            <a:off x="9495700" y="5302450"/>
            <a:ext cx="328500" cy="5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15"/>
          <p:cNvCxnSpPr/>
          <p:nvPr/>
        </p:nvCxnSpPr>
        <p:spPr>
          <a:xfrm>
            <a:off x="10077325" y="5302450"/>
            <a:ext cx="1270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15"/>
          <p:cNvCxnSpPr/>
          <p:nvPr/>
        </p:nvCxnSpPr>
        <p:spPr>
          <a:xfrm>
            <a:off x="10631925" y="5315975"/>
            <a:ext cx="22905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483" name="Google Shape;483;p15"/>
          <p:cNvGraphicFramePr/>
          <p:nvPr/>
        </p:nvGraphicFramePr>
        <p:xfrm>
          <a:off x="92386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2)</a:t>
            </a:r>
            <a:endParaRPr b="1"/>
          </a:p>
        </p:txBody>
      </p:sp>
      <p:sp>
        <p:nvSpPr>
          <p:cNvPr id="490" name="Google Shape;490;p16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los nodos hermanos no tienen suficientes elementos para remover una key, entonces se hace un merge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mueve la key padre hacia abajo, y se combinan los dos hijos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 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491" name="Google Shape;491;p16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23: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92" name="Google Shape;492;p16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93" name="Google Shape;493;p16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94" name="Google Shape;494;p16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95" name="Google Shape;495;p16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496" name="Google Shape;496;p16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7" name="Google Shape;497;p16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8" name="Google Shape;498;p16"/>
          <p:cNvCxnSpPr/>
          <p:nvPr/>
        </p:nvCxnSpPr>
        <p:spPr>
          <a:xfrm>
            <a:off x="4071525" y="5315975"/>
            <a:ext cx="5682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9" name="Google Shape;499;p16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00" name="Google Shape;500;p16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01" name="Google Shape;501;p16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02" name="Google Shape;502;p16"/>
          <p:cNvGraphicFramePr/>
          <p:nvPr/>
        </p:nvGraphicFramePr>
        <p:xfrm>
          <a:off x="104834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03" name="Google Shape;503;p16"/>
          <p:cNvGraphicFramePr/>
          <p:nvPr/>
        </p:nvGraphicFramePr>
        <p:xfrm>
          <a:off x="123863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04" name="Google Shape;504;p16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5" name="Google Shape;505;p16"/>
          <p:cNvCxnSpPr/>
          <p:nvPr/>
        </p:nvCxnSpPr>
        <p:spPr>
          <a:xfrm flipH="1">
            <a:off x="8535200" y="5302450"/>
            <a:ext cx="405900" cy="52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6" name="Google Shape;506;p16"/>
          <p:cNvCxnSpPr/>
          <p:nvPr/>
        </p:nvCxnSpPr>
        <p:spPr>
          <a:xfrm>
            <a:off x="9495700" y="5302450"/>
            <a:ext cx="328500" cy="5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7" name="Google Shape;507;p16"/>
          <p:cNvCxnSpPr/>
          <p:nvPr/>
        </p:nvCxnSpPr>
        <p:spPr>
          <a:xfrm>
            <a:off x="10077325" y="5302450"/>
            <a:ext cx="1270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8" name="Google Shape;508;p16"/>
          <p:cNvCxnSpPr/>
          <p:nvPr/>
        </p:nvCxnSpPr>
        <p:spPr>
          <a:xfrm>
            <a:off x="10631925" y="5315975"/>
            <a:ext cx="22905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09" name="Google Shape;509;p16"/>
          <p:cNvGraphicFramePr/>
          <p:nvPr/>
        </p:nvGraphicFramePr>
        <p:xfrm>
          <a:off x="92386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10" name="Google Shape;510;p16"/>
          <p:cNvGraphicFramePr/>
          <p:nvPr/>
        </p:nvGraphicFramePr>
        <p:xfrm>
          <a:off x="79645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11" name="Google Shape;511;p16"/>
          <p:cNvCxnSpPr/>
          <p:nvPr/>
        </p:nvCxnSpPr>
        <p:spPr>
          <a:xfrm>
            <a:off x="6587475" y="4355575"/>
            <a:ext cx="3381600" cy="554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16"/>
          <p:cNvCxnSpPr/>
          <p:nvPr/>
        </p:nvCxnSpPr>
        <p:spPr>
          <a:xfrm flipH="1">
            <a:off x="8603000" y="5315975"/>
            <a:ext cx="338100" cy="4464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2)</a:t>
            </a:r>
            <a:endParaRPr b="1"/>
          </a:p>
        </p:txBody>
      </p:sp>
      <p:sp>
        <p:nvSpPr>
          <p:cNvPr id="519" name="Google Shape;519;p17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los nodos hermanos no tienen suficientes elementos para remover una key, entonces se hace un merge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mueve la key padre hacia abajo, y se combinan los dos hijos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 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520" name="Google Shape;520;p17"/>
          <p:cNvSpPr txBox="1"/>
          <p:nvPr/>
        </p:nvSpPr>
        <p:spPr>
          <a:xfrm>
            <a:off x="783184" y="3199074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23: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21" name="Google Shape;521;p17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22" name="Google Shape;522;p17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23" name="Google Shape;523;p17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24" name="Google Shape;524;p17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25" name="Google Shape;525;p17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6" name="Google Shape;526;p17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7" name="Google Shape;527;p17"/>
          <p:cNvCxnSpPr/>
          <p:nvPr/>
        </p:nvCxnSpPr>
        <p:spPr>
          <a:xfrm>
            <a:off x="4071525" y="5315975"/>
            <a:ext cx="5682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8" name="Google Shape;528;p17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29" name="Google Shape;529;p17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30" name="Google Shape;530;p17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31" name="Google Shape;531;p17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32" name="Google Shape;532;p17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33" name="Google Shape;533;p17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4" name="Google Shape;534;p17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5" name="Google Shape;535;p17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6" name="Google Shape;536;p17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37" name="Google Shape;537;p17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38" name="Google Shape;538;p17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39" name="Google Shape;539;p17"/>
          <p:cNvCxnSpPr/>
          <p:nvPr/>
        </p:nvCxnSpPr>
        <p:spPr>
          <a:xfrm>
            <a:off x="6587475" y="4355575"/>
            <a:ext cx="3381600" cy="554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17"/>
          <p:cNvCxnSpPr/>
          <p:nvPr/>
        </p:nvCxnSpPr>
        <p:spPr>
          <a:xfrm flipH="1">
            <a:off x="8603000" y="5315975"/>
            <a:ext cx="338100" cy="4464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3)</a:t>
            </a:r>
            <a:endParaRPr b="1"/>
          </a:p>
        </p:txBody>
      </p:sp>
      <p:sp>
        <p:nvSpPr>
          <p:cNvPr id="547" name="Google Shape;547;p18"/>
          <p:cNvSpPr txBox="1"/>
          <p:nvPr>
            <p:ph idx="1" type="body"/>
          </p:nvPr>
        </p:nvSpPr>
        <p:spPr>
          <a:xfrm>
            <a:off x="548250" y="6721850"/>
            <a:ext cx="153261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los nodos hermanos no tienen suficientes elementos para remover una key, entonces se hace un merge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mueve la key padre hacia abajo, y se combinan los dos hijos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Para cualquiera de los casos, esto se expande hacia arriba hasta que se cumplan las propiedades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 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548" name="Google Shape;548;p18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23: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9" name="Google Shape;549;p18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50" name="Google Shape;550;p18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51" name="Google Shape;551;p18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52" name="Google Shape;552;p18"/>
          <p:cNvGraphicFramePr/>
          <p:nvPr/>
        </p:nvGraphicFramePr>
        <p:xfrm>
          <a:off x="4075513" y="582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53" name="Google Shape;553;p18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4" name="Google Shape;554;p18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5" name="Google Shape;555;p18"/>
          <p:cNvCxnSpPr/>
          <p:nvPr/>
        </p:nvCxnSpPr>
        <p:spPr>
          <a:xfrm>
            <a:off x="4071525" y="5315975"/>
            <a:ext cx="5682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6" name="Google Shape;556;p18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57" name="Google Shape;557;p18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58" name="Google Shape;558;p18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59" name="Google Shape;559;p18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60" name="Google Shape;560;p18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61" name="Google Shape;561;p18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2" name="Google Shape;562;p18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3" name="Google Shape;563;p18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4" name="Google Shape;564;p18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65" name="Google Shape;565;p18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66" name="Google Shape;566;p18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67" name="Google Shape;567;p18"/>
          <p:cNvCxnSpPr/>
          <p:nvPr/>
        </p:nvCxnSpPr>
        <p:spPr>
          <a:xfrm>
            <a:off x="6587475" y="4355575"/>
            <a:ext cx="3381600" cy="554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18"/>
          <p:cNvCxnSpPr/>
          <p:nvPr/>
        </p:nvCxnSpPr>
        <p:spPr>
          <a:xfrm flipH="1">
            <a:off x="8603000" y="5315975"/>
            <a:ext cx="338100" cy="4464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</a:t>
            </a:r>
            <a:endParaRPr b="1"/>
          </a:p>
        </p:txBody>
      </p:sp>
      <p:sp>
        <p:nvSpPr>
          <p:cNvPr id="575" name="Google Shape;575;p19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28: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76" name="Google Shape;576;p19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77" name="Google Shape;577;p19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78" name="Google Shape;578;p19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79" name="Google Shape;579;p19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80" name="Google Shape;580;p19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1" name="Google Shape;581;p19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2" name="Google Shape;582;p19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3" name="Google Shape;583;p19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84" name="Google Shape;584;p19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85" name="Google Shape;585;p19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86" name="Google Shape;586;p19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87" name="Google Shape;587;p19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88" name="Google Shape;588;p19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9" name="Google Shape;589;p19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0" name="Google Shape;590;p19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1" name="Google Shape;591;p19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92" name="Google Shape;592;p19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93" name="Google Shape;593;p19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94" name="Google Shape;594;p19"/>
          <p:cNvGraphicFramePr/>
          <p:nvPr/>
        </p:nvGraphicFramePr>
        <p:xfrm>
          <a:off x="13255200" y="578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595" name="Google Shape;595;p19"/>
          <p:cNvCxnSpPr/>
          <p:nvPr/>
        </p:nvCxnSpPr>
        <p:spPr>
          <a:xfrm>
            <a:off x="10634007" y="5307455"/>
            <a:ext cx="3183900" cy="48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0)</a:t>
            </a:r>
            <a:endParaRPr b="1"/>
          </a:p>
        </p:txBody>
      </p:sp>
      <p:sp>
        <p:nvSpPr>
          <p:cNvPr id="602" name="Google Shape;602;p20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28: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03" name="Google Shape;603;p20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04" name="Google Shape;604;p20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05" name="Google Shape;605;p20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06" name="Google Shape;606;p20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07" name="Google Shape;607;p20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" name="Google Shape;608;p20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9" name="Google Shape;609;p20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0" name="Google Shape;610;p20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11" name="Google Shape;611;p20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12" name="Google Shape;612;p20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13" name="Google Shape;613;p20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14" name="Google Shape;614;p20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15" name="Google Shape;615;p20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6" name="Google Shape;616;p20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7" name="Google Shape;617;p20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20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19" name="Google Shape;619;p20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20" name="Google Shape;620;p20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21" name="Google Shape;621;p20"/>
          <p:cNvGraphicFramePr/>
          <p:nvPr/>
        </p:nvGraphicFramePr>
        <p:xfrm>
          <a:off x="13255200" y="578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22" name="Google Shape;622;p20"/>
          <p:cNvCxnSpPr/>
          <p:nvPr/>
        </p:nvCxnSpPr>
        <p:spPr>
          <a:xfrm>
            <a:off x="10634007" y="5307455"/>
            <a:ext cx="3183900" cy="48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2)</a:t>
            </a:r>
            <a:endParaRPr b="1"/>
          </a:p>
        </p:txBody>
      </p:sp>
      <p:sp>
        <p:nvSpPr>
          <p:cNvPr id="629" name="Google Shape;629;p21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14: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30" name="Google Shape;630;p21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31" name="Google Shape;631;p21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32" name="Google Shape;632;p21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33" name="Google Shape;633;p21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34" name="Google Shape;634;p21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5" name="Google Shape;635;p21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6" name="Google Shape;636;p21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7" name="Google Shape;637;p21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38" name="Google Shape;638;p21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39" name="Google Shape;639;p21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40" name="Google Shape;640;p21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41" name="Google Shape;641;p21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42" name="Google Shape;642;p21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3" name="Google Shape;643;p21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4" name="Google Shape;644;p21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5" name="Google Shape;645;p21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46" name="Google Shape;646;p21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47" name="Google Shape;647;p21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48" name="Google Shape;648;p21"/>
          <p:cNvGraphicFramePr/>
          <p:nvPr/>
        </p:nvGraphicFramePr>
        <p:xfrm>
          <a:off x="13255200" y="578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49" name="Google Shape;649;p21"/>
          <p:cNvCxnSpPr/>
          <p:nvPr/>
        </p:nvCxnSpPr>
        <p:spPr>
          <a:xfrm>
            <a:off x="10634007" y="5307455"/>
            <a:ext cx="3183900" cy="48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1)</a:t>
            </a:r>
            <a:endParaRPr b="1"/>
          </a:p>
        </p:txBody>
      </p:sp>
      <p:sp>
        <p:nvSpPr>
          <p:cNvPr id="656" name="Google Shape;656;p22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14: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57" name="Google Shape;657;p22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58" name="Google Shape;658;p22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59" name="Google Shape;659;p22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60" name="Google Shape;660;p22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61" name="Google Shape;661;p22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2" name="Google Shape;662;p22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3" name="Google Shape;663;p22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64" name="Google Shape;664;p22"/>
          <p:cNvGraphicFramePr/>
          <p:nvPr/>
        </p:nvGraphicFramePr>
        <p:xfrm>
          <a:off x="4836650" y="57961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{E5C7AC45-62B7-426F-99CB-13A058A08851}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/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65" name="Google Shape;665;p22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66" name="Google Shape;666;p22"/>
          <p:cNvGraphicFramePr/>
          <p:nvPr/>
        </p:nvGraphicFramePr>
        <p:xfrm>
          <a:off x="9169261" y="5779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67" name="Google Shape;667;p22"/>
          <p:cNvGraphicFramePr/>
          <p:nvPr/>
        </p:nvGraphicFramePr>
        <p:xfrm>
          <a:off x="11072223" y="5779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68" name="Google Shape;668;p22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9" name="Google Shape;669;p22"/>
          <p:cNvCxnSpPr/>
          <p:nvPr/>
        </p:nvCxnSpPr>
        <p:spPr>
          <a:xfrm>
            <a:off x="4638375" y="5312460"/>
            <a:ext cx="2837400" cy="44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0" name="Google Shape;670;p22"/>
          <p:cNvCxnSpPr/>
          <p:nvPr/>
        </p:nvCxnSpPr>
        <p:spPr>
          <a:xfrm>
            <a:off x="8923137" y="5330560"/>
            <a:ext cx="1121700" cy="4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1" name="Google Shape;671;p22"/>
          <p:cNvCxnSpPr/>
          <p:nvPr/>
        </p:nvCxnSpPr>
        <p:spPr>
          <a:xfrm>
            <a:off x="9462850" y="5315975"/>
            <a:ext cx="2250575" cy="43151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72" name="Google Shape;672;p22"/>
          <p:cNvGraphicFramePr/>
          <p:nvPr/>
        </p:nvGraphicFramePr>
        <p:xfrm>
          <a:off x="7421362" y="57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73" name="Google Shape;673;p22"/>
          <p:cNvGraphicFramePr/>
          <p:nvPr/>
        </p:nvGraphicFramePr>
        <p:xfrm>
          <a:off x="6299725" y="57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74" name="Google Shape;674;p22"/>
          <p:cNvGraphicFramePr/>
          <p:nvPr/>
        </p:nvGraphicFramePr>
        <p:xfrm>
          <a:off x="12474448" y="57474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75" name="Google Shape;675;p22"/>
          <p:cNvCxnSpPr/>
          <p:nvPr/>
        </p:nvCxnSpPr>
        <p:spPr>
          <a:xfrm>
            <a:off x="10056138" y="5312460"/>
            <a:ext cx="2981100" cy="43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??)</a:t>
            </a:r>
            <a:endParaRPr b="1"/>
          </a:p>
        </p:txBody>
      </p:sp>
      <p:sp>
        <p:nvSpPr>
          <p:cNvPr id="682" name="Google Shape;682;p23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20: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83" name="Google Shape;683;p23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84" name="Google Shape;684;p23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85" name="Google Shape;685;p23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86" name="Google Shape;686;p23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87" name="Google Shape;687;p23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8" name="Google Shape;688;p23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9" name="Google Shape;689;p23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0" name="Google Shape;690;p23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91" name="Google Shape;691;p23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59900"/>
                <a:gridCol w="459900"/>
                <a:gridCol w="45990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92" name="Google Shape;692;p23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93" name="Google Shape;693;p23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94" name="Google Shape;694;p23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695" name="Google Shape;695;p23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6" name="Google Shape;696;p23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7" name="Google Shape;697;p23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8" name="Google Shape;698;p23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99" name="Google Shape;699;p23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00" name="Google Shape;700;p23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3)</a:t>
            </a:r>
            <a:endParaRPr b="1"/>
          </a:p>
        </p:txBody>
      </p:sp>
      <p:sp>
        <p:nvSpPr>
          <p:cNvPr id="707" name="Google Shape;707;p24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20: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08" name="Google Shape;708;p24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09" name="Google Shape;709;p24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10" name="Google Shape;710;p24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11" name="Google Shape;711;p24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712" name="Google Shape;712;p24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3" name="Google Shape;713;p24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4" name="Google Shape;714;p24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5" name="Google Shape;715;p24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16" name="Google Shape;716;p24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59900"/>
                <a:gridCol w="459900"/>
                <a:gridCol w="45990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17" name="Google Shape;717;p24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18" name="Google Shape;718;p24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19" name="Google Shape;719;p24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720" name="Google Shape;720;p24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1" name="Google Shape;721;p24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2" name="Google Shape;722;p24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3" name="Google Shape;723;p24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24" name="Google Shape;724;p24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25" name="Google Shape;725;p24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26" name="Google Shape;726;p24"/>
          <p:cNvSpPr txBox="1"/>
          <p:nvPr/>
        </p:nvSpPr>
        <p:spPr>
          <a:xfrm>
            <a:off x="8416032" y="6876256"/>
            <a:ext cx="405431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Reemplazar por el sucesor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Eliminar el sucesor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3)</a:t>
            </a:r>
            <a:endParaRPr b="1"/>
          </a:p>
        </p:txBody>
      </p:sp>
      <p:sp>
        <p:nvSpPr>
          <p:cNvPr id="733" name="Google Shape;733;p25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30: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34" name="Google Shape;734;p25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35" name="Google Shape;735;p25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36" name="Google Shape;736;p25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37" name="Google Shape;737;p25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738" name="Google Shape;738;p25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9" name="Google Shape;739;p25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0" name="Google Shape;740;p25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1" name="Google Shape;741;p25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42" name="Google Shape;742;p25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59900"/>
                <a:gridCol w="459900"/>
                <a:gridCol w="45990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43" name="Google Shape;743;p25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44" name="Google Shape;744;p25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45" name="Google Shape;745;p25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746" name="Google Shape;746;p25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7" name="Google Shape;747;p25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8" name="Google Shape;748;p25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9" name="Google Shape;749;p25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50" name="Google Shape;750;p25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51" name="Google Shape;751;p25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3)</a:t>
            </a:r>
            <a:endParaRPr b="1"/>
          </a:p>
        </p:txBody>
      </p:sp>
      <p:sp>
        <p:nvSpPr>
          <p:cNvPr id="758" name="Google Shape;758;p26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30: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59" name="Google Shape;759;p26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60" name="Google Shape;760;p26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61" name="Google Shape;761;p26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62" name="Google Shape;762;p26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763" name="Google Shape;763;p26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4" name="Google Shape;764;p26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5" name="Google Shape;765;p26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6" name="Google Shape;766;p26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67" name="Google Shape;767;p26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59900"/>
                <a:gridCol w="459900"/>
                <a:gridCol w="45990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68" name="Google Shape;768;p26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69" name="Google Shape;769;p26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70" name="Google Shape;770;p26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771" name="Google Shape;771;p26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2" name="Google Shape;772;p26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3" name="Google Shape;773;p26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4" name="Google Shape;774;p26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75" name="Google Shape;775;p26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76" name="Google Shape;776;p26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77" name="Google Shape;777;p26"/>
          <p:cNvSpPr txBox="1"/>
          <p:nvPr/>
        </p:nvSpPr>
        <p:spPr>
          <a:xfrm>
            <a:off x="8416032" y="6876256"/>
            <a:ext cx="405431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Reemplazar por el sucesor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Eliminar el sucesor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3)</a:t>
            </a:r>
            <a:endParaRPr b="1"/>
          </a:p>
        </p:txBody>
      </p:sp>
      <p:sp>
        <p:nvSpPr>
          <p:cNvPr id="784" name="Google Shape;784;p27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35: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85" name="Google Shape;785;p27"/>
          <p:cNvGraphicFramePr/>
          <p:nvPr/>
        </p:nvGraphicFramePr>
        <p:xfrm>
          <a:off x="6019650" y="39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86" name="Google Shape;786;p27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87" name="Google Shape;787;p27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88" name="Google Shape;788;p27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789" name="Google Shape;789;p27"/>
          <p:cNvCxnSpPr/>
          <p:nvPr/>
        </p:nvCxnSpPr>
        <p:spPr>
          <a:xfrm flipH="1">
            <a:off x="4639650" y="4342050"/>
            <a:ext cx="13797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0" name="Google Shape;790;p27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1" name="Google Shape;791;p27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2" name="Google Shape;792;p27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793" name="Google Shape;793;p27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59900"/>
                <a:gridCol w="459900"/>
                <a:gridCol w="45990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94" name="Google Shape;794;p27"/>
          <p:cNvGraphicFramePr/>
          <p:nvPr/>
        </p:nvGraphicFramePr>
        <p:xfrm>
          <a:off x="8930438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95" name="Google Shape;795;p27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96" name="Google Shape;796;p27"/>
          <p:cNvGraphicFramePr/>
          <p:nvPr/>
        </p:nvGraphicFramePr>
        <p:xfrm>
          <a:off x="1185297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797" name="Google Shape;797;p27"/>
          <p:cNvCxnSpPr/>
          <p:nvPr/>
        </p:nvCxnSpPr>
        <p:spPr>
          <a:xfrm>
            <a:off x="6587475" y="4369100"/>
            <a:ext cx="3476400" cy="5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8" name="Google Shape;798;p27"/>
          <p:cNvCxnSpPr/>
          <p:nvPr/>
        </p:nvCxnSpPr>
        <p:spPr>
          <a:xfrm flipH="1">
            <a:off x="8603000" y="5302450"/>
            <a:ext cx="3381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9" name="Google Shape;799;p27"/>
          <p:cNvCxnSpPr/>
          <p:nvPr/>
        </p:nvCxnSpPr>
        <p:spPr>
          <a:xfrm>
            <a:off x="9495700" y="5302450"/>
            <a:ext cx="1271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0" name="Google Shape;800;p27"/>
          <p:cNvCxnSpPr/>
          <p:nvPr/>
        </p:nvCxnSpPr>
        <p:spPr>
          <a:xfrm>
            <a:off x="10077325" y="5302450"/>
            <a:ext cx="22860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801" name="Google Shape;801;p27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02" name="Google Shape;802;p27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03" name="Google Shape;803;p27"/>
          <p:cNvSpPr txBox="1"/>
          <p:nvPr/>
        </p:nvSpPr>
        <p:spPr>
          <a:xfrm>
            <a:off x="8416032" y="6876256"/>
            <a:ext cx="405431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Reemplazar por el sucesor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Eliminar el sucesor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 en árboles B (caso 3)</a:t>
            </a:r>
            <a:endParaRPr b="1"/>
          </a:p>
        </p:txBody>
      </p:sp>
      <p:sp>
        <p:nvSpPr>
          <p:cNvPr id="810" name="Google Shape;810;p28"/>
          <p:cNvSpPr txBox="1"/>
          <p:nvPr/>
        </p:nvSpPr>
        <p:spPr>
          <a:xfrm>
            <a:off x="973925" y="3368125"/>
            <a:ext cx="2042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35: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11" name="Google Shape;811;p28"/>
          <p:cNvGraphicFramePr/>
          <p:nvPr/>
        </p:nvGraphicFramePr>
        <p:xfrm>
          <a:off x="3512675" y="49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  <a:gridCol w="562850"/>
                <a:gridCol w="5628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12" name="Google Shape;812;p28"/>
          <p:cNvGraphicFramePr/>
          <p:nvPr/>
        </p:nvGraphicFramePr>
        <p:xfrm>
          <a:off x="2228525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13" name="Google Shape;813;p28"/>
          <p:cNvGraphicFramePr/>
          <p:nvPr/>
        </p:nvGraphicFramePr>
        <p:xfrm>
          <a:off x="3738150" y="5809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814" name="Google Shape;814;p28"/>
          <p:cNvCxnSpPr/>
          <p:nvPr/>
        </p:nvCxnSpPr>
        <p:spPr>
          <a:xfrm>
            <a:off x="4626100" y="5302450"/>
            <a:ext cx="1255800" cy="50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5" name="Google Shape;815;p28"/>
          <p:cNvCxnSpPr/>
          <p:nvPr/>
        </p:nvCxnSpPr>
        <p:spPr>
          <a:xfrm>
            <a:off x="4071525" y="5315975"/>
            <a:ext cx="2295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6" name="Google Shape;816;p28"/>
          <p:cNvCxnSpPr/>
          <p:nvPr/>
        </p:nvCxnSpPr>
        <p:spPr>
          <a:xfrm flipH="1">
            <a:off x="3097525" y="5302450"/>
            <a:ext cx="4194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817" name="Google Shape;817;p28"/>
          <p:cNvGraphicFramePr/>
          <p:nvPr/>
        </p:nvGraphicFramePr>
        <p:xfrm>
          <a:off x="52972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459900"/>
                <a:gridCol w="459900"/>
                <a:gridCol w="45990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18" name="Google Shape;818;p28"/>
          <p:cNvGraphicFramePr/>
          <p:nvPr/>
        </p:nvGraphicFramePr>
        <p:xfrm>
          <a:off x="995001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83675"/>
                <a:gridCol w="583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19" name="Google Shape;819;p28"/>
          <p:cNvGraphicFramePr/>
          <p:nvPr/>
        </p:nvGraphicFramePr>
        <p:xfrm>
          <a:off x="11117363" y="5816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820" name="Google Shape;820;p28"/>
          <p:cNvCxnSpPr/>
          <p:nvPr/>
        </p:nvCxnSpPr>
        <p:spPr>
          <a:xfrm>
            <a:off x="5163637" y="5320955"/>
            <a:ext cx="3439363" cy="46839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1" name="Google Shape;821;p28"/>
          <p:cNvCxnSpPr/>
          <p:nvPr/>
        </p:nvCxnSpPr>
        <p:spPr>
          <a:xfrm>
            <a:off x="5689194" y="5302450"/>
            <a:ext cx="5077906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822" name="Google Shape;822;p28"/>
          <p:cNvGraphicFramePr/>
          <p:nvPr/>
        </p:nvGraphicFramePr>
        <p:xfrm>
          <a:off x="8629000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23" name="Google Shape;823;p28"/>
          <p:cNvGraphicFramePr/>
          <p:nvPr/>
        </p:nvGraphicFramePr>
        <p:xfrm>
          <a:off x="7507363" y="58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{52892A19-8DC6-4B60-A98E-E29363A3EE23}</a:tableStyleId>
              </a:tblPr>
              <a:tblGrid>
                <a:gridCol w="562850"/>
                <a:gridCol w="562850"/>
              </a:tblGrid>
              <a:tr h="2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24" name="Google Shape;824;p28"/>
          <p:cNvSpPr txBox="1"/>
          <p:nvPr/>
        </p:nvSpPr>
        <p:spPr>
          <a:xfrm>
            <a:off x="8361510" y="7740352"/>
            <a:ext cx="405431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Reemplazar por el sucesor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Eliminar el sucesor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 </a:t>
            </a:r>
            <a:endParaRPr b="1"/>
          </a:p>
        </p:txBody>
      </p:sp>
      <p:sp>
        <p:nvSpPr>
          <p:cNvPr id="831" name="Google Shape;831;p29"/>
          <p:cNvSpPr txBox="1"/>
          <p:nvPr>
            <p:ph idx="1" type="body"/>
          </p:nvPr>
        </p:nvSpPr>
        <p:spPr>
          <a:xfrm>
            <a:off x="548250" y="3199150"/>
            <a:ext cx="4565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Considerando un árbol de orden M=3. Insertar: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832" name="Google Shape;832;p29"/>
          <p:cNvSpPr txBox="1"/>
          <p:nvPr>
            <p:ph idx="1" type="body"/>
          </p:nvPr>
        </p:nvSpPr>
        <p:spPr>
          <a:xfrm>
            <a:off x="4959648" y="3228380"/>
            <a:ext cx="1430700" cy="5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Eliminar</a:t>
            </a:r>
            <a:r>
              <a:rPr lang="es-PE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100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111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45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833" name="Google Shape;833;p29"/>
          <p:cNvSpPr txBox="1"/>
          <p:nvPr/>
        </p:nvSpPr>
        <p:spPr>
          <a:xfrm>
            <a:off x="604550" y="4043050"/>
            <a:ext cx="8061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 </a:t>
            </a:r>
            <a:endParaRPr b="1"/>
          </a:p>
        </p:txBody>
      </p:sp>
      <p:sp>
        <p:nvSpPr>
          <p:cNvPr id="840" name="Google Shape;840;p30"/>
          <p:cNvSpPr txBox="1"/>
          <p:nvPr>
            <p:ph idx="1" type="body"/>
          </p:nvPr>
        </p:nvSpPr>
        <p:spPr>
          <a:xfrm>
            <a:off x="548250" y="3199150"/>
            <a:ext cx="4565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Considerando un árbol de orden 3. Insertar: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841" name="Google Shape;841;p30"/>
          <p:cNvSpPr txBox="1"/>
          <p:nvPr>
            <p:ph idx="1" type="body"/>
          </p:nvPr>
        </p:nvSpPr>
        <p:spPr>
          <a:xfrm>
            <a:off x="4579925" y="3199150"/>
            <a:ext cx="1430700" cy="5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Eliminar</a:t>
            </a:r>
            <a:r>
              <a:rPr lang="es-PE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100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111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45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842" name="Google Shape;842;p30"/>
          <p:cNvSpPr txBox="1"/>
          <p:nvPr/>
        </p:nvSpPr>
        <p:spPr>
          <a:xfrm>
            <a:off x="604550" y="4043050"/>
            <a:ext cx="8061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43" name="Google Shape;843;p30"/>
          <p:cNvGraphicFramePr/>
          <p:nvPr/>
        </p:nvGraphicFramePr>
        <p:xfrm>
          <a:off x="7376729" y="52737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36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44" name="Google Shape;844;p30"/>
          <p:cNvCxnSpPr/>
          <p:nvPr/>
        </p:nvCxnSpPr>
        <p:spPr>
          <a:xfrm>
            <a:off x="11278350" y="4696520"/>
            <a:ext cx="207600" cy="576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845" name="Google Shape;845;p30"/>
          <p:cNvGraphicFramePr/>
          <p:nvPr/>
        </p:nvGraphicFramePr>
        <p:xfrm>
          <a:off x="10873897" y="5273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612075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100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6" name="Google Shape;846;p30"/>
          <p:cNvGraphicFramePr/>
          <p:nvPr/>
        </p:nvGraphicFramePr>
        <p:xfrm>
          <a:off x="9486559" y="42839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612075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45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7" name="Google Shape;847;p30"/>
          <p:cNvGraphicFramePr/>
          <p:nvPr/>
        </p:nvGraphicFramePr>
        <p:xfrm>
          <a:off x="9217713" y="5273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47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70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48" name="Google Shape;848;p30"/>
          <p:cNvCxnSpPr/>
          <p:nvPr/>
        </p:nvCxnSpPr>
        <p:spPr>
          <a:xfrm flipH="1">
            <a:off x="9738327" y="4728061"/>
            <a:ext cx="360300" cy="545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9" name="Google Shape;849;p30"/>
          <p:cNvCxnSpPr/>
          <p:nvPr/>
        </p:nvCxnSpPr>
        <p:spPr>
          <a:xfrm flipH="1">
            <a:off x="7897181" y="4728061"/>
            <a:ext cx="1600800" cy="545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850" name="Google Shape;850;p30"/>
          <p:cNvGraphicFramePr/>
          <p:nvPr/>
        </p:nvGraphicFramePr>
        <p:xfrm>
          <a:off x="12458073" y="52735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527375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114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120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51" name="Google Shape;851;p30"/>
          <p:cNvCxnSpPr/>
          <p:nvPr/>
        </p:nvCxnSpPr>
        <p:spPr>
          <a:xfrm>
            <a:off x="11890418" y="4728061"/>
            <a:ext cx="775270" cy="545474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852" name="Google Shape;852;p30"/>
          <p:cNvGraphicFramePr/>
          <p:nvPr/>
        </p:nvGraphicFramePr>
        <p:xfrm>
          <a:off x="11257582" y="42208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612075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111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3" name="Google Shape;853;p30"/>
          <p:cNvGraphicFramePr/>
          <p:nvPr/>
        </p:nvGraphicFramePr>
        <p:xfrm>
          <a:off x="10409621" y="33902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612075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75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54" name="Google Shape;854;p30"/>
          <p:cNvCxnSpPr/>
          <p:nvPr/>
        </p:nvCxnSpPr>
        <p:spPr>
          <a:xfrm flipH="1">
            <a:off x="10098673" y="3897458"/>
            <a:ext cx="268800" cy="386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5" name="Google Shape;855;p30"/>
          <p:cNvCxnSpPr/>
          <p:nvPr/>
        </p:nvCxnSpPr>
        <p:spPr>
          <a:xfrm>
            <a:off x="11021689" y="3834376"/>
            <a:ext cx="848100" cy="386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 </a:t>
            </a:r>
            <a:endParaRPr b="1"/>
          </a:p>
        </p:txBody>
      </p:sp>
      <p:sp>
        <p:nvSpPr>
          <p:cNvPr id="862" name="Google Shape;862;p31"/>
          <p:cNvSpPr txBox="1"/>
          <p:nvPr>
            <p:ph idx="1" type="body"/>
          </p:nvPr>
        </p:nvSpPr>
        <p:spPr>
          <a:xfrm>
            <a:off x="548250" y="3199150"/>
            <a:ext cx="4565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Considerando un árbol de orden 3. Insertar: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863" name="Google Shape;863;p31"/>
          <p:cNvSpPr txBox="1"/>
          <p:nvPr>
            <p:ph idx="1" type="body"/>
          </p:nvPr>
        </p:nvSpPr>
        <p:spPr>
          <a:xfrm>
            <a:off x="4579925" y="3199150"/>
            <a:ext cx="1430700" cy="5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Eliminar</a:t>
            </a:r>
            <a:r>
              <a:rPr lang="es-PE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100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111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45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864" name="Google Shape;864;p31"/>
          <p:cNvSpPr txBox="1"/>
          <p:nvPr/>
        </p:nvSpPr>
        <p:spPr>
          <a:xfrm>
            <a:off x="604550" y="4043050"/>
            <a:ext cx="8061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5" name="Google Shape;865;p31"/>
          <p:cNvGraphicFramePr/>
          <p:nvPr/>
        </p:nvGraphicFramePr>
        <p:xfrm>
          <a:off x="7376729" y="52737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36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66" name="Google Shape;866;p31"/>
          <p:cNvCxnSpPr/>
          <p:nvPr/>
        </p:nvCxnSpPr>
        <p:spPr>
          <a:xfrm>
            <a:off x="10710695" y="4728061"/>
            <a:ext cx="775200" cy="545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867" name="Google Shape;867;p31"/>
          <p:cNvGraphicFramePr/>
          <p:nvPr/>
        </p:nvGraphicFramePr>
        <p:xfrm>
          <a:off x="10873897" y="5273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612075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114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120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8" name="Google Shape;868;p31"/>
          <p:cNvGraphicFramePr/>
          <p:nvPr/>
        </p:nvGraphicFramePr>
        <p:xfrm>
          <a:off x="9486559" y="42839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612075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47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75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9" name="Google Shape;869;p31"/>
          <p:cNvGraphicFramePr/>
          <p:nvPr/>
        </p:nvGraphicFramePr>
        <p:xfrm>
          <a:off x="9217713" y="5273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612075"/>
              </a:tblGrid>
              <a:tr h="44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rgbClr val="000000"/>
                          </a:solidFill>
                        </a:rPr>
                        <a:t>70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70" name="Google Shape;870;p31"/>
          <p:cNvCxnSpPr/>
          <p:nvPr/>
        </p:nvCxnSpPr>
        <p:spPr>
          <a:xfrm flipH="1">
            <a:off x="9738327" y="4728061"/>
            <a:ext cx="360300" cy="545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1" name="Google Shape;871;p31"/>
          <p:cNvCxnSpPr/>
          <p:nvPr/>
        </p:nvCxnSpPr>
        <p:spPr>
          <a:xfrm flipH="1">
            <a:off x="7897181" y="4728061"/>
            <a:ext cx="1600800" cy="545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</a:t>
            </a:r>
            <a:endParaRPr b="1"/>
          </a:p>
        </p:txBody>
      </p:sp>
      <p:sp>
        <p:nvSpPr>
          <p:cNvPr id="877" name="Google Shape;877;p32"/>
          <p:cNvSpPr txBox="1"/>
          <p:nvPr>
            <p:ph idx="1" type="body"/>
          </p:nvPr>
        </p:nvSpPr>
        <p:spPr>
          <a:xfrm>
            <a:off x="326117" y="3411699"/>
            <a:ext cx="7799293" cy="41126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Son una extensión de los árboles B, por tanto su estructura es bastante similar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Una diferencia importante es que toda la data se almacena en las hojas y están conectadas con la siguiente hoja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Igual que en los árboles B, todas las hojas están en el mismo nivel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Los nodos internos son solo marcadores que nos indican a donde ir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878" name="Google Shape;87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7597" y="3411699"/>
            <a:ext cx="8178782" cy="4225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8080" y="3238285"/>
            <a:ext cx="10820400" cy="5380613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3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</a:t>
            </a:r>
            <a:endParaRPr b="1"/>
          </a:p>
        </p:txBody>
      </p:sp>
      <p:sp>
        <p:nvSpPr>
          <p:cNvPr id="890" name="Google Shape;890;p34"/>
          <p:cNvSpPr txBox="1"/>
          <p:nvPr>
            <p:ph idx="1" type="body"/>
          </p:nvPr>
        </p:nvSpPr>
        <p:spPr>
          <a:xfrm>
            <a:off x="838925" y="3411700"/>
            <a:ext cx="82170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Cuál creen que es la optimización que nos brindan los árboles B+?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Un ejemplo son range queries en bases de datos. Por ejemplo podríamos obtener los datos con índice 3 hasta 8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Como no hay datos asociados en los nodos y sólo keys, los nodos pueden tener más valores que encajan en un bloque de memoria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Obtener todos los datos almacenados solo requiere una pasada linear sobre las hojas, mientras que en un árbol B se necesitaría recorrer todos los niveles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891" name="Google Shape;89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953" y="4179113"/>
            <a:ext cx="6416771" cy="3283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</a:t>
            </a:r>
            <a:endParaRPr b="1"/>
          </a:p>
        </p:txBody>
      </p:sp>
      <p:sp>
        <p:nvSpPr>
          <p:cNvPr id="897" name="Google Shape;897;p35"/>
          <p:cNvSpPr txBox="1"/>
          <p:nvPr>
            <p:ph idx="1" type="body"/>
          </p:nvPr>
        </p:nvSpPr>
        <p:spPr>
          <a:xfrm>
            <a:off x="838925" y="3411700"/>
            <a:ext cx="82170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Qué problema creen que traen los árboles B+?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 implementación del insertar y borrado es más compleja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 los árboles B los nodos internos también contiene data, se podría ubicar los nodos más requeridos cerca a la raíz.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 el B+, cuando se encuentra la key en un nodo interno, se debe continuar hasta llegar a las hojas.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Las keys se repiten en los nodos internos y hojas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898" name="Google Shape;8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953" y="4179113"/>
            <a:ext cx="6416771" cy="3283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</a:t>
            </a:r>
            <a:endParaRPr b="1"/>
          </a:p>
        </p:txBody>
      </p:sp>
      <p:sp>
        <p:nvSpPr>
          <p:cNvPr id="904" name="Google Shape;904;p36"/>
          <p:cNvSpPr txBox="1"/>
          <p:nvPr>
            <p:ph idx="1" type="body"/>
          </p:nvPr>
        </p:nvSpPr>
        <p:spPr>
          <a:xfrm>
            <a:off x="838925" y="3411700"/>
            <a:ext cx="80067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Insertar: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Recuerden que en un B+, los valores internos siempre estarán en las hojas. Por ejemplo, root estará a la derecha más a la izquierda o izquierda más a la derecha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Al insertar siempre recuerden mantener el valor en último nivel y solo subir un puntero a los nodos internos/root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debe elegir el lado del cual se subirá el elemento, puede ser un elemento de la izquierda o derecha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905" name="Google Shape;9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5925" y="3650824"/>
            <a:ext cx="6326875" cy="18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1725" y="6154124"/>
            <a:ext cx="6895275" cy="2075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</a:t>
            </a:r>
            <a:endParaRPr b="1"/>
          </a:p>
        </p:txBody>
      </p:sp>
      <p:sp>
        <p:nvSpPr>
          <p:cNvPr id="912" name="Google Shape;912;p37"/>
          <p:cNvSpPr txBox="1"/>
          <p:nvPr>
            <p:ph idx="1" type="body"/>
          </p:nvPr>
        </p:nvSpPr>
        <p:spPr>
          <a:xfrm>
            <a:off x="838925" y="3411700"/>
            <a:ext cx="80067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Remover: 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Al eliminar un elemento, primero deben encontrarlo en la hojas, marcando los nodos internos con el mismo valor.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También se deben actualizar todos los punteros de los nodos internos/root que apuntaban a ese valor con su sucesor.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El sucesor normalmente es el siguiente (derecha más a la izquierda) o anterior (izquierda más a la derecha).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913" name="Google Shape;9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5925" y="3650824"/>
            <a:ext cx="6326875" cy="18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1725" y="6154124"/>
            <a:ext cx="6895275" cy="2075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</a:t>
            </a:r>
            <a:endParaRPr b="1"/>
          </a:p>
        </p:txBody>
      </p:sp>
      <p:sp>
        <p:nvSpPr>
          <p:cNvPr id="920" name="Google Shape;920;p38"/>
          <p:cNvSpPr txBox="1"/>
          <p:nvPr>
            <p:ph idx="1" type="body"/>
          </p:nvPr>
        </p:nvSpPr>
        <p:spPr>
          <a:xfrm>
            <a:off x="838925" y="3411700"/>
            <a:ext cx="80067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Remover casos: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Si hay suficientes keys, solo se elimina.</a:t>
            </a:r>
            <a:endParaRPr sz="2400">
              <a:solidFill>
                <a:srgbClr val="000000"/>
              </a:solidFill>
            </a:endParaRPr>
          </a:p>
          <a:p>
            <a:pPr indent="-254000" lvl="0" marL="9144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Si no hay suficientes keys, se debe prestar de uno de los hermanos inmediatos. No se olviden de actualizar el padre. </a:t>
            </a:r>
            <a:endParaRPr sz="2400">
              <a:solidFill>
                <a:srgbClr val="000000"/>
              </a:solidFill>
            </a:endParaRPr>
          </a:p>
          <a:p>
            <a:pPr indent="-254000" lvl="0" marL="9144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En caso no se puedan prestar, se deberá hacer un merge. Posterior se deberán actualizar los nodos internos con el sucesor de ser necesario.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921" name="Google Shape;9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5925" y="3650824"/>
            <a:ext cx="6326875" cy="18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1725" y="6154124"/>
            <a:ext cx="6895275" cy="2075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 </a:t>
            </a:r>
            <a:endParaRPr b="1"/>
          </a:p>
        </p:txBody>
      </p:sp>
      <p:sp>
        <p:nvSpPr>
          <p:cNvPr id="929" name="Google Shape;929;p39"/>
          <p:cNvSpPr txBox="1"/>
          <p:nvPr>
            <p:ph idx="1" type="body"/>
          </p:nvPr>
        </p:nvSpPr>
        <p:spPr>
          <a:xfrm>
            <a:off x="548250" y="3199150"/>
            <a:ext cx="4565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Considerando un árbol de orden 3. Insertar: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930" name="Google Shape;930;p39"/>
          <p:cNvSpPr txBox="1"/>
          <p:nvPr>
            <p:ph idx="1" type="body"/>
          </p:nvPr>
        </p:nvSpPr>
        <p:spPr>
          <a:xfrm>
            <a:off x="4579925" y="3199150"/>
            <a:ext cx="1430700" cy="5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Eliminar</a:t>
            </a:r>
            <a:r>
              <a:rPr lang="es-PE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75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100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931" name="Google Shape;931;p39"/>
          <p:cNvSpPr txBox="1"/>
          <p:nvPr/>
        </p:nvSpPr>
        <p:spPr>
          <a:xfrm>
            <a:off x="604550" y="4043050"/>
            <a:ext cx="8061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9"/>
          <p:cNvSpPr txBox="1"/>
          <p:nvPr/>
        </p:nvSpPr>
        <p:spPr>
          <a:xfrm>
            <a:off x="7767960" y="7380312"/>
            <a:ext cx="7883490" cy="698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criterio de distribucion en el split para una cantidad impar, seria asignar la mitad + 1  al nodo de la  izquierda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llave en un nodo interno, es el máximo del subárbol izquierdo.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 </a:t>
            </a:r>
            <a:endParaRPr b="1"/>
          </a:p>
        </p:txBody>
      </p:sp>
      <p:sp>
        <p:nvSpPr>
          <p:cNvPr id="939" name="Google Shape;939;p40"/>
          <p:cNvSpPr txBox="1"/>
          <p:nvPr>
            <p:ph idx="1" type="body"/>
          </p:nvPr>
        </p:nvSpPr>
        <p:spPr>
          <a:xfrm>
            <a:off x="548250" y="3199150"/>
            <a:ext cx="4565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Considerando un árbol de orden 3. Insertar: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940" name="Google Shape;940;p40"/>
          <p:cNvSpPr txBox="1"/>
          <p:nvPr>
            <p:ph idx="1" type="body"/>
          </p:nvPr>
        </p:nvSpPr>
        <p:spPr>
          <a:xfrm>
            <a:off x="4579925" y="3199150"/>
            <a:ext cx="1430700" cy="5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Eliminar</a:t>
            </a:r>
            <a:r>
              <a:rPr lang="es-PE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75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100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941" name="Google Shape;941;p40"/>
          <p:cNvSpPr txBox="1"/>
          <p:nvPr/>
        </p:nvSpPr>
        <p:spPr>
          <a:xfrm>
            <a:off x="604550" y="4043050"/>
            <a:ext cx="8061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2" name="Google Shape;942;p40"/>
          <p:cNvGraphicFramePr/>
          <p:nvPr/>
        </p:nvGraphicFramePr>
        <p:xfrm>
          <a:off x="12480256" y="47752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576925"/>
                <a:gridCol w="51842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43" name="Google Shape;943;p40"/>
          <p:cNvGraphicFramePr/>
          <p:nvPr/>
        </p:nvGraphicFramePr>
        <p:xfrm>
          <a:off x="11184552" y="4788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75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44" name="Google Shape;944;p40"/>
          <p:cNvCxnSpPr/>
          <p:nvPr/>
        </p:nvCxnSpPr>
        <p:spPr>
          <a:xfrm flipH="1" rot="10800000">
            <a:off x="12141554" y="4957467"/>
            <a:ext cx="338700" cy="12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45" name="Google Shape;945;p40"/>
          <p:cNvGraphicFramePr/>
          <p:nvPr/>
        </p:nvGraphicFramePr>
        <p:xfrm>
          <a:off x="10600866" y="37901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57910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46" name="Google Shape;946;p40"/>
          <p:cNvCxnSpPr/>
          <p:nvPr/>
        </p:nvCxnSpPr>
        <p:spPr>
          <a:xfrm>
            <a:off x="10980480" y="4149242"/>
            <a:ext cx="682500" cy="638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7" name="Google Shape;947;p40"/>
          <p:cNvCxnSpPr/>
          <p:nvPr/>
        </p:nvCxnSpPr>
        <p:spPr>
          <a:xfrm>
            <a:off x="12158603" y="4149242"/>
            <a:ext cx="869400" cy="626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48" name="Google Shape;948;p40"/>
          <p:cNvGraphicFramePr/>
          <p:nvPr/>
        </p:nvGraphicFramePr>
        <p:xfrm>
          <a:off x="8753880" y="4788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49" name="Google Shape;949;p40"/>
          <p:cNvCxnSpPr/>
          <p:nvPr/>
        </p:nvCxnSpPr>
        <p:spPr>
          <a:xfrm flipH="1" rot="10800000">
            <a:off x="9603247" y="4965784"/>
            <a:ext cx="376200" cy="23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0" name="Google Shape;950;p40"/>
          <p:cNvCxnSpPr/>
          <p:nvPr/>
        </p:nvCxnSpPr>
        <p:spPr>
          <a:xfrm>
            <a:off x="9029287" y="4184220"/>
            <a:ext cx="203100" cy="603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51" name="Google Shape;951;p40"/>
          <p:cNvGraphicFramePr/>
          <p:nvPr/>
        </p:nvGraphicFramePr>
        <p:xfrm>
          <a:off x="7119888" y="4788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52" name="Google Shape;952;p40"/>
          <p:cNvCxnSpPr/>
          <p:nvPr/>
        </p:nvCxnSpPr>
        <p:spPr>
          <a:xfrm>
            <a:off x="8076890" y="4957592"/>
            <a:ext cx="529944" cy="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3" name="Google Shape;953;p40"/>
          <p:cNvCxnSpPr/>
          <p:nvPr/>
        </p:nvCxnSpPr>
        <p:spPr>
          <a:xfrm flipH="1">
            <a:off x="7767960" y="4154860"/>
            <a:ext cx="859714" cy="596626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54" name="Google Shape;954;p40"/>
          <p:cNvGraphicFramePr/>
          <p:nvPr/>
        </p:nvGraphicFramePr>
        <p:xfrm>
          <a:off x="8588343" y="3819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4529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55" name="Google Shape;955;p40"/>
          <p:cNvGraphicFramePr/>
          <p:nvPr/>
        </p:nvGraphicFramePr>
        <p:xfrm>
          <a:off x="9856192" y="30664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504050"/>
                <a:gridCol w="4529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75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56" name="Google Shape;956;p40"/>
          <p:cNvCxnSpPr/>
          <p:nvPr/>
        </p:nvCxnSpPr>
        <p:spPr>
          <a:xfrm flipH="1">
            <a:off x="9029366" y="3501660"/>
            <a:ext cx="801300" cy="3180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7" name="Google Shape;957;p40"/>
          <p:cNvCxnSpPr/>
          <p:nvPr/>
        </p:nvCxnSpPr>
        <p:spPr>
          <a:xfrm>
            <a:off x="10334693" y="3431104"/>
            <a:ext cx="770100" cy="359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58" name="Google Shape;958;p40"/>
          <p:cNvGraphicFramePr/>
          <p:nvPr/>
        </p:nvGraphicFramePr>
        <p:xfrm>
          <a:off x="13945415" y="47514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576925"/>
                <a:gridCol w="51842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59" name="Google Shape;959;p40"/>
          <p:cNvCxnSpPr/>
          <p:nvPr/>
        </p:nvCxnSpPr>
        <p:spPr>
          <a:xfrm>
            <a:off x="12668237" y="4133821"/>
            <a:ext cx="1561500" cy="617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60" name="Google Shape;960;p40"/>
          <p:cNvGraphicFramePr/>
          <p:nvPr/>
        </p:nvGraphicFramePr>
        <p:xfrm>
          <a:off x="12104470" y="37691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548425"/>
                <a:gridCol w="57910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61" name="Google Shape;961;p40"/>
          <p:cNvGraphicFramePr/>
          <p:nvPr/>
        </p:nvGraphicFramePr>
        <p:xfrm>
          <a:off x="9979310" y="4783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47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62" name="Google Shape;962;p40"/>
          <p:cNvCxnSpPr/>
          <p:nvPr/>
        </p:nvCxnSpPr>
        <p:spPr>
          <a:xfrm flipH="1">
            <a:off x="10334693" y="4184220"/>
            <a:ext cx="282417" cy="567266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3" name="Google Shape;963;p40"/>
          <p:cNvCxnSpPr/>
          <p:nvPr/>
        </p:nvCxnSpPr>
        <p:spPr>
          <a:xfrm>
            <a:off x="10813194" y="3248760"/>
            <a:ext cx="1667100" cy="491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4" name="Google Shape;964;p40"/>
          <p:cNvCxnSpPr/>
          <p:nvPr/>
        </p:nvCxnSpPr>
        <p:spPr>
          <a:xfrm flipH="1" rot="10800000">
            <a:off x="13575609" y="4928792"/>
            <a:ext cx="321600" cy="28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5" name="Google Shape;965;p40"/>
          <p:cNvSpPr txBox="1"/>
          <p:nvPr/>
        </p:nvSpPr>
        <p:spPr>
          <a:xfrm>
            <a:off x="7380021" y="7397009"/>
            <a:ext cx="7883490" cy="698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criterio de distribucion en el split para una cantidad impar, seria asignar la mitad + 1  al nodo de la  izquierda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llave en un nodo interno, es el máximo del subárbol izquierdo.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 </a:t>
            </a:r>
            <a:endParaRPr b="1"/>
          </a:p>
        </p:txBody>
      </p:sp>
      <p:sp>
        <p:nvSpPr>
          <p:cNvPr id="972" name="Google Shape;972;p41"/>
          <p:cNvSpPr txBox="1"/>
          <p:nvPr>
            <p:ph idx="1" type="body"/>
          </p:nvPr>
        </p:nvSpPr>
        <p:spPr>
          <a:xfrm>
            <a:off x="548250" y="3199150"/>
            <a:ext cx="4565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Considerando un árbol de orden 3. Insertar: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973" name="Google Shape;973;p41"/>
          <p:cNvSpPr txBox="1"/>
          <p:nvPr>
            <p:ph idx="1" type="body"/>
          </p:nvPr>
        </p:nvSpPr>
        <p:spPr>
          <a:xfrm>
            <a:off x="4579925" y="3199150"/>
            <a:ext cx="1430700" cy="5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Eliminar</a:t>
            </a:r>
            <a:r>
              <a:rPr lang="es-PE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75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100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974" name="Google Shape;974;p41"/>
          <p:cNvSpPr txBox="1"/>
          <p:nvPr/>
        </p:nvSpPr>
        <p:spPr>
          <a:xfrm>
            <a:off x="604550" y="4043050"/>
            <a:ext cx="8061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5" name="Google Shape;975;p41"/>
          <p:cNvGraphicFramePr/>
          <p:nvPr/>
        </p:nvGraphicFramePr>
        <p:xfrm>
          <a:off x="11737146" y="48222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576925"/>
                <a:gridCol w="51842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76" name="Google Shape;976;p41"/>
          <p:cNvCxnSpPr/>
          <p:nvPr/>
        </p:nvCxnSpPr>
        <p:spPr>
          <a:xfrm flipH="1" rot="10800000">
            <a:off x="11273322" y="5004516"/>
            <a:ext cx="463800" cy="12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7" name="Google Shape;977;p41"/>
          <p:cNvCxnSpPr/>
          <p:nvPr/>
        </p:nvCxnSpPr>
        <p:spPr>
          <a:xfrm>
            <a:off x="11415493" y="4196291"/>
            <a:ext cx="869400" cy="626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78" name="Google Shape;978;p41"/>
          <p:cNvGraphicFramePr/>
          <p:nvPr/>
        </p:nvGraphicFramePr>
        <p:xfrm>
          <a:off x="8753880" y="4788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79" name="Google Shape;979;p41"/>
          <p:cNvCxnSpPr/>
          <p:nvPr/>
        </p:nvCxnSpPr>
        <p:spPr>
          <a:xfrm flipH="1" rot="10800000">
            <a:off x="9603247" y="4965784"/>
            <a:ext cx="376200" cy="23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0" name="Google Shape;980;p41"/>
          <p:cNvCxnSpPr/>
          <p:nvPr/>
        </p:nvCxnSpPr>
        <p:spPr>
          <a:xfrm>
            <a:off x="9029287" y="4184220"/>
            <a:ext cx="203100" cy="603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81" name="Google Shape;981;p41"/>
          <p:cNvGraphicFramePr/>
          <p:nvPr/>
        </p:nvGraphicFramePr>
        <p:xfrm>
          <a:off x="7119888" y="4788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82" name="Google Shape;982;p41"/>
          <p:cNvCxnSpPr/>
          <p:nvPr/>
        </p:nvCxnSpPr>
        <p:spPr>
          <a:xfrm>
            <a:off x="8076890" y="4957592"/>
            <a:ext cx="529944" cy="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3" name="Google Shape;983;p41"/>
          <p:cNvCxnSpPr/>
          <p:nvPr/>
        </p:nvCxnSpPr>
        <p:spPr>
          <a:xfrm flipH="1">
            <a:off x="7767960" y="4154860"/>
            <a:ext cx="859714" cy="596626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84" name="Google Shape;984;p41"/>
          <p:cNvGraphicFramePr/>
          <p:nvPr/>
        </p:nvGraphicFramePr>
        <p:xfrm>
          <a:off x="8588343" y="3819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4529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85" name="Google Shape;985;p41"/>
          <p:cNvGraphicFramePr/>
          <p:nvPr/>
        </p:nvGraphicFramePr>
        <p:xfrm>
          <a:off x="9856192" y="30664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504050"/>
                <a:gridCol w="4529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47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86" name="Google Shape;986;p41"/>
          <p:cNvCxnSpPr/>
          <p:nvPr/>
        </p:nvCxnSpPr>
        <p:spPr>
          <a:xfrm flipH="1">
            <a:off x="9029366" y="3501660"/>
            <a:ext cx="801300" cy="3180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87" name="Google Shape;987;p41"/>
          <p:cNvGraphicFramePr/>
          <p:nvPr/>
        </p:nvGraphicFramePr>
        <p:xfrm>
          <a:off x="13202305" y="4798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576925"/>
                <a:gridCol w="51842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88" name="Google Shape;988;p41"/>
          <p:cNvCxnSpPr/>
          <p:nvPr/>
        </p:nvCxnSpPr>
        <p:spPr>
          <a:xfrm>
            <a:off x="11925127" y="4180870"/>
            <a:ext cx="1561500" cy="617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89" name="Google Shape;989;p41"/>
          <p:cNvGraphicFramePr/>
          <p:nvPr/>
        </p:nvGraphicFramePr>
        <p:xfrm>
          <a:off x="11361360" y="38161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548425"/>
                <a:gridCol w="57910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90" name="Google Shape;990;p41"/>
          <p:cNvGraphicFramePr/>
          <p:nvPr/>
        </p:nvGraphicFramePr>
        <p:xfrm>
          <a:off x="9979310" y="4783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{DD377342-D15B-46CB-BBA6-7DD3FD517ED8}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47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91" name="Google Shape;991;p41"/>
          <p:cNvCxnSpPr/>
          <p:nvPr/>
        </p:nvCxnSpPr>
        <p:spPr>
          <a:xfrm>
            <a:off x="9464637" y="4184220"/>
            <a:ext cx="870056" cy="567266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2" name="Google Shape;992;p41"/>
          <p:cNvCxnSpPr/>
          <p:nvPr/>
        </p:nvCxnSpPr>
        <p:spPr>
          <a:xfrm>
            <a:off x="10334693" y="3431104"/>
            <a:ext cx="1590300" cy="385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3" name="Google Shape;993;p41"/>
          <p:cNvCxnSpPr/>
          <p:nvPr/>
        </p:nvCxnSpPr>
        <p:spPr>
          <a:xfrm flipH="1" rot="10800000">
            <a:off x="12832499" y="4975841"/>
            <a:ext cx="321600" cy="28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4" name="Google Shape;994;p41"/>
          <p:cNvSpPr txBox="1"/>
          <p:nvPr/>
        </p:nvSpPr>
        <p:spPr>
          <a:xfrm>
            <a:off x="7380021" y="7397009"/>
            <a:ext cx="7883490" cy="847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criterio de distribucion en el split para una cantidad impar, seria asignar la mitad + 1  al nodo de la  izquierda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llave en un nodo interno, es el máximo del subárbol izquierdo.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 </a:t>
            </a:r>
            <a:endParaRPr b="1"/>
          </a:p>
        </p:txBody>
      </p:sp>
      <p:sp>
        <p:nvSpPr>
          <p:cNvPr id="1001" name="Google Shape;1001;p42"/>
          <p:cNvSpPr txBox="1"/>
          <p:nvPr>
            <p:ph idx="1" type="body"/>
          </p:nvPr>
        </p:nvSpPr>
        <p:spPr>
          <a:xfrm>
            <a:off x="548250" y="3199150"/>
            <a:ext cx="4565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Considerando un árbol de orden 3. Insertar: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002" name="Google Shape;1002;p42"/>
          <p:cNvSpPr txBox="1"/>
          <p:nvPr>
            <p:ph idx="1" type="body"/>
          </p:nvPr>
        </p:nvSpPr>
        <p:spPr>
          <a:xfrm>
            <a:off x="4579925" y="3199150"/>
            <a:ext cx="1430700" cy="5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Eliminar</a:t>
            </a:r>
            <a:r>
              <a:rPr lang="es-PE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75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100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003" name="Google Shape;1003;p42"/>
          <p:cNvSpPr txBox="1"/>
          <p:nvPr/>
        </p:nvSpPr>
        <p:spPr>
          <a:xfrm>
            <a:off x="604550" y="4043050"/>
            <a:ext cx="8061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4" name="Google Shape;100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8625" y="3368351"/>
            <a:ext cx="6839724" cy="21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8375" y="5694250"/>
            <a:ext cx="7740225" cy="23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 </a:t>
            </a:r>
            <a:endParaRPr b="1"/>
          </a:p>
        </p:txBody>
      </p:sp>
      <p:sp>
        <p:nvSpPr>
          <p:cNvPr id="1012" name="Google Shape;1012;p43"/>
          <p:cNvSpPr txBox="1"/>
          <p:nvPr>
            <p:ph idx="1" type="body"/>
          </p:nvPr>
        </p:nvSpPr>
        <p:spPr>
          <a:xfrm>
            <a:off x="548250" y="3199150"/>
            <a:ext cx="4565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Considerando un árbol de orden 4. Insertar: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013" name="Google Shape;1013;p43"/>
          <p:cNvSpPr txBox="1"/>
          <p:nvPr>
            <p:ph idx="1" type="body"/>
          </p:nvPr>
        </p:nvSpPr>
        <p:spPr>
          <a:xfrm>
            <a:off x="4579925" y="3199150"/>
            <a:ext cx="1430700" cy="5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Eliminar</a:t>
            </a:r>
            <a:r>
              <a:rPr lang="es-PE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75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100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114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014" name="Google Shape;1014;p43"/>
          <p:cNvSpPr txBox="1"/>
          <p:nvPr/>
        </p:nvSpPr>
        <p:spPr>
          <a:xfrm>
            <a:off x="604550" y="4043050"/>
            <a:ext cx="8061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/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43"/>
          <p:cNvSpPr txBox="1"/>
          <p:nvPr/>
        </p:nvSpPr>
        <p:spPr>
          <a:xfrm>
            <a:off x="7767960" y="7380312"/>
            <a:ext cx="7883490" cy="108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criterio de distribucion en el split para una cantidad impar, seria asignar la mitad + 1  al nodo de la  izquierda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llave en un nodo interno, es el máximo del subárbol izquierdo.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4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 B+ </a:t>
            </a:r>
            <a:endParaRPr b="1"/>
          </a:p>
        </p:txBody>
      </p:sp>
      <p:sp>
        <p:nvSpPr>
          <p:cNvPr id="1022" name="Google Shape;1022;p44"/>
          <p:cNvSpPr txBox="1"/>
          <p:nvPr>
            <p:ph idx="1" type="body"/>
          </p:nvPr>
        </p:nvSpPr>
        <p:spPr>
          <a:xfrm>
            <a:off x="548250" y="3199150"/>
            <a:ext cx="4565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Considerando un árbol de orden 4. Insertar: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023" name="Google Shape;1023;p44"/>
          <p:cNvSpPr txBox="1"/>
          <p:nvPr>
            <p:ph idx="1" type="body"/>
          </p:nvPr>
        </p:nvSpPr>
        <p:spPr>
          <a:xfrm>
            <a:off x="4579925" y="3199150"/>
            <a:ext cx="1430700" cy="5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1800">
                <a:solidFill>
                  <a:srgbClr val="000000"/>
                </a:solidFill>
              </a:rPr>
              <a:t>Eliminar</a:t>
            </a:r>
            <a:r>
              <a:rPr lang="es-PE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75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100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1800">
                <a:solidFill>
                  <a:srgbClr val="000000"/>
                </a:solidFill>
              </a:rPr>
              <a:t>114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024" name="Google Shape;1024;p44"/>
          <p:cNvSpPr txBox="1"/>
          <p:nvPr/>
        </p:nvSpPr>
        <p:spPr>
          <a:xfrm>
            <a:off x="604550" y="4043050"/>
            <a:ext cx="8061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/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44"/>
          <p:cNvSpPr txBox="1"/>
          <p:nvPr/>
        </p:nvSpPr>
        <p:spPr>
          <a:xfrm>
            <a:off x="7767960" y="7380312"/>
            <a:ext cx="7883490" cy="108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criterio de distribucion en el split para una cantidad impar, seria asignar la mitad + 1  al nodo de la  izquierda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llave en un nodo interno, es el máximo del subárbol izquierdo.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Google Shape;102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0664" y="3882221"/>
            <a:ext cx="7760946" cy="235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45"/>
          <p:cNvSpPr txBox="1"/>
          <p:nvPr/>
        </p:nvSpPr>
        <p:spPr>
          <a:xfrm>
            <a:off x="1076825" y="660450"/>
            <a:ext cx="14487900" cy="80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to </a:t>
            </a:r>
            <a:b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 and Data Structures! - CS2100  </a:t>
            </a:r>
            <a:endParaRPr b="1" i="0" sz="6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2" name="Google Shape;10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