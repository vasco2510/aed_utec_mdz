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9144000" cx="16256000"/>
  <p:notesSz cx="16256000" cy="9144000"/>
  <p:embeddedFontLst>
    <p:embeddedFont>
      <p:font typeface="Roboto"/>
      <p:regular r:id="rId50"/>
      <p:bold r:id="rId51"/>
      <p:italic r:id="rId52"/>
      <p:boldItalic r:id="rId53"/>
    </p:embeddedFont>
    <p:embeddedFont>
      <p:font typeface="Tahoma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6" roundtripDataSignature="AMtx7mjQYt+Q4QJe+ir8ws3QN2Uurut1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E206BB-F40C-4FD8-9582-2AABE81C43D5}">
  <a:tblStyle styleId="{8DE206BB-F40C-4FD8-9582-2AABE81C43D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4"/>
          </a:solidFill>
        </a:fill>
      </a:tcStyle>
    </a:wholeTbl>
    <a:band1H>
      <a:tcTxStyle/>
      <a:tcStyle>
        <a:fill>
          <a:solidFill>
            <a:srgbClr val="CAD5E7"/>
          </a:solidFill>
        </a:fill>
      </a:tcStyle>
    </a:band1H>
    <a:band2H>
      <a:tcTxStyle/>
    </a:band2H>
    <a:band1V>
      <a:tcTxStyle/>
      <a:tcStyle>
        <a:fill>
          <a:solidFill>
            <a:srgbClr val="CAD5E7"/>
          </a:solidFill>
        </a:fill>
      </a:tcStyle>
    </a:band1V>
    <a:band2V>
      <a:tcTxStyle/>
      <a:tcStyle>
        <a:fill>
          <a:solidFill>
            <a:srgbClr val="CAD5E7"/>
          </a:solidFill>
        </a:fill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5.xml"/><Relationship Id="rId55" Type="http://schemas.openxmlformats.org/officeDocument/2006/relationships/font" Target="fonts/Tahoma-bold.fntdata"/><Relationship Id="rId10" Type="http://schemas.openxmlformats.org/officeDocument/2006/relationships/slide" Target="slides/slide4.xml"/><Relationship Id="rId54" Type="http://schemas.openxmlformats.org/officeDocument/2006/relationships/font" Target="fonts/Tahoma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4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6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7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8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0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0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1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2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2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5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5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6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6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8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9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9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0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1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2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3:notes"/>
          <p:cNvSpPr txBox="1"/>
          <p:nvPr>
            <p:ph idx="1" type="body"/>
          </p:nvPr>
        </p:nvSpPr>
        <p:spPr>
          <a:xfrm>
            <a:off x="1625600" y="4343400"/>
            <a:ext cx="1300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3:notes"/>
          <p:cNvSpPr/>
          <p:nvPr>
            <p:ph idx="2" type="sldImg"/>
          </p:nvPr>
        </p:nvSpPr>
        <p:spPr>
          <a:xfrm>
            <a:off x="2709875" y="685800"/>
            <a:ext cx="108378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6"/>
          <p:cNvSpPr/>
          <p:nvPr/>
        </p:nvSpPr>
        <p:spPr>
          <a:xfrm>
            <a:off x="0" y="2997333"/>
            <a:ext cx="16256101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46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4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7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0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7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8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48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2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558800" lvl="0" marL="457200" marR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520700" lvl="1" marL="914400" marR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b="0" i="0" sz="4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476250" lvl="2" marL="13716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b="0" i="0" sz="3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4381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4381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5588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5588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5588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5588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" name="Google Shape;35;p50"/>
          <p:cNvSpPr txBox="1"/>
          <p:nvPr>
            <p:ph idx="1" type="subTitle"/>
          </p:nvPr>
        </p:nvSpPr>
        <p:spPr>
          <a:xfrm>
            <a:off x="2438400" y="5120639"/>
            <a:ext cx="113792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0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0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" name="Google Shape;41;p51"/>
          <p:cNvSpPr txBox="1"/>
          <p:nvPr>
            <p:ph idx="1" type="body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1"/>
          <p:cNvSpPr txBox="1"/>
          <p:nvPr>
            <p:ph idx="11" type="ftr"/>
          </p:nvPr>
        </p:nvSpPr>
        <p:spPr>
          <a:xfrm>
            <a:off x="5527038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51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51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2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2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2"/>
          <p:cNvSpPr txBox="1"/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8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" name="Google Shape;49;p52"/>
          <p:cNvSpPr txBox="1"/>
          <p:nvPr>
            <p:ph idx="1" type="subTitle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52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3"/>
          <p:cNvSpPr txBox="1"/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4"/>
          <p:cNvSpPr/>
          <p:nvPr/>
        </p:nvSpPr>
        <p:spPr>
          <a:xfrm>
            <a:off x="0" y="2997333"/>
            <a:ext cx="16256101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54"/>
          <p:cNvSpPr txBox="1"/>
          <p:nvPr>
            <p:ph idx="1" type="body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54"/>
          <p:cNvSpPr txBox="1"/>
          <p:nvPr>
            <p:ph idx="2" type="body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/>
          <p:nvPr/>
        </p:nvSpPr>
        <p:spPr>
          <a:xfrm flipH="1" rot="10800000">
            <a:off x="0" y="1167000"/>
            <a:ext cx="16256101" cy="79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5"/>
          <p:cNvSpPr/>
          <p:nvPr/>
        </p:nvSpPr>
        <p:spPr>
          <a:xfrm>
            <a:off x="0" y="1166844"/>
            <a:ext cx="16256101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5"/>
          <p:cNvSpPr txBox="1"/>
          <p:nvPr>
            <p:ph type="title"/>
          </p:nvPr>
        </p:nvSpPr>
        <p:spPr>
          <a:xfrm>
            <a:off x="174666" y="29066"/>
            <a:ext cx="156918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55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 txBox="1"/>
          <p:nvPr/>
        </p:nvSpPr>
        <p:spPr>
          <a:xfrm flipH="1" rot="10800000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6"/>
          <p:cNvSpPr/>
          <p:nvPr/>
        </p:nvSpPr>
        <p:spPr>
          <a:xfrm rot="-5400000">
            <a:off x="1349666" y="4475400"/>
            <a:ext cx="9144000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6"/>
          <p:cNvSpPr txBox="1"/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5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7"/>
          <p:cNvSpPr/>
          <p:nvPr/>
        </p:nvSpPr>
        <p:spPr>
          <a:xfrm rot="5400000">
            <a:off x="3460311" y="4475866"/>
            <a:ext cx="9142800" cy="1931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7"/>
          <p:cNvSpPr txBox="1"/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57"/>
          <p:cNvSpPr txBox="1"/>
          <p:nvPr>
            <p:ph idx="1" type="subTitle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" name="Google Shape;77;p57"/>
          <p:cNvSpPr txBox="1"/>
          <p:nvPr>
            <p:ph idx="2" type="body"/>
          </p:nvPr>
        </p:nvSpPr>
        <p:spPr>
          <a:xfrm>
            <a:off x="8781333" y="1287466"/>
            <a:ext cx="6821399" cy="6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57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8"/>
          <p:cNvSpPr txBox="1"/>
          <p:nvPr/>
        </p:nvSpPr>
        <p:spPr>
          <a:xfrm flipH="1" rot="10800000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8"/>
          <p:cNvSpPr/>
          <p:nvPr/>
        </p:nvSpPr>
        <p:spPr>
          <a:xfrm flipH="1" rot="10800000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8"/>
          <p:cNvSpPr txBox="1"/>
          <p:nvPr>
            <p:ph idx="1" type="body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5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9"/>
          <p:cNvSpPr txBox="1"/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59"/>
          <p:cNvSpPr txBox="1"/>
          <p:nvPr>
            <p:ph idx="1" type="body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ctr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ctr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59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0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rtl="0" algn="l">
              <a:lnSpc>
                <a:spcPct val="114999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1076825" y="660450"/>
            <a:ext cx="14487900" cy="777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E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E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 </a:t>
            </a:r>
            <a:endParaRPr b="1" i="0" sz="6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838934" y="3411688"/>
            <a:ext cx="7643329" cy="5599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Consiste en encontrar un string corto (patrón), en un string largo (texto).</a:t>
            </a:r>
            <a:endParaRPr b="1"/>
          </a:p>
          <a:p>
            <a:pPr indent="-387350" lvl="1" marL="91440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Aplicaciones sobre editores de texto.</a:t>
            </a:r>
            <a:endParaRPr/>
          </a:p>
          <a:p>
            <a:pPr indent="0" lvl="1" marL="52705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descr="Using the Web Console Text Editor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8473" y="3291372"/>
            <a:ext cx="6987203" cy="5226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934" y="3411688"/>
            <a:ext cx="7643329" cy="5599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Consiste en encontrar un string corto (patrón), en un string largo (texto).</a:t>
            </a:r>
            <a:endParaRPr b="1"/>
          </a:p>
          <a:p>
            <a:pPr indent="-387350" lvl="1" marL="91440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Aplicación en el operador “like” del SQL.</a:t>
            </a:r>
            <a:endParaRPr/>
          </a:p>
          <a:p>
            <a:pPr indent="0" lvl="1" marL="52705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descr="Temario:Búsqueda de patrones (like y not like)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6032" y="3491880"/>
            <a:ext cx="7416824" cy="511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935" y="3411688"/>
            <a:ext cx="10693264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En bioinformática lo más frecuente es buscar un fragmento nuevo de ADN (un gen) en una colección de secuencias</a:t>
            </a:r>
            <a:endParaRPr/>
          </a:p>
          <a:p>
            <a:pPr indent="-387350" lvl="1" marL="914400" rtl="0" algn="l">
              <a:lnSpc>
                <a:spcPct val="114999"/>
              </a:lnSpc>
              <a:spcBef>
                <a:spcPts val="28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En este caso permitimos un cierto error, pero el pattern matching exacto es una subrutina.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descr="Partial Matches • Overview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6640" y="3611825"/>
            <a:ext cx="2661191" cy="479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NA Match Explainer | AncestryDNA® Learning Hub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1378" y="5857994"/>
            <a:ext cx="7495451" cy="3286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838936" y="3411688"/>
            <a:ext cx="7277548" cy="5575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Entrada</a:t>
            </a:r>
            <a:endParaRPr/>
          </a:p>
          <a:p>
            <a:pPr indent="-387350" lvl="1" marL="9144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Dos strings sobre el alfabeto ∑</a:t>
            </a:r>
            <a:endParaRPr/>
          </a:p>
          <a:p>
            <a:pPr indent="-387350" lvl="2" marL="13716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■"/>
            </a:pPr>
            <a:r>
              <a:rPr lang="es-ES" sz="2400">
                <a:solidFill>
                  <a:srgbClr val="000000"/>
                </a:solidFill>
              </a:rPr>
              <a:t>T = {t1, t2, …, tn}</a:t>
            </a:r>
            <a:endParaRPr/>
          </a:p>
          <a:p>
            <a:pPr indent="-387350" lvl="2" marL="13716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■"/>
            </a:pPr>
            <a:r>
              <a:rPr lang="es-ES" sz="2400">
                <a:solidFill>
                  <a:srgbClr val="000000"/>
                </a:solidFill>
              </a:rPr>
              <a:t>P={p1, p2, …, pm}</a:t>
            </a:r>
            <a:endParaRPr/>
          </a:p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Salida</a:t>
            </a:r>
            <a:endParaRPr/>
          </a:p>
          <a:p>
            <a:pPr indent="-387350" lvl="1" marL="9144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El conjunto de posiciones de T donde aparece P.</a:t>
            </a:r>
            <a:endParaRPr/>
          </a:p>
        </p:txBody>
      </p:sp>
      <p:pic>
        <p:nvPicPr>
          <p:cNvPr descr="Pattern Searching - GeeksforGeeks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6484" y="3861140"/>
            <a:ext cx="7277548" cy="3969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Intuitivo) 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838936" y="3411688"/>
            <a:ext cx="7277548" cy="5575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StringMatching(Patron P, Texto T):</a:t>
            </a:r>
            <a:endParaRPr/>
          </a:p>
          <a:p>
            <a:pPr indent="-2285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2813"/>
          <a:stretch/>
        </p:blipFill>
        <p:spPr>
          <a:xfrm>
            <a:off x="9023628" y="4364823"/>
            <a:ext cx="6784508" cy="346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Intuitivo) 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838936" y="3411688"/>
            <a:ext cx="7277548" cy="5575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StringMatching(Patron P, Texto T):</a:t>
            </a:r>
            <a:endParaRPr/>
          </a:p>
          <a:p>
            <a:pPr indent="-387350" lvl="1" marL="9144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000">
                <a:solidFill>
                  <a:srgbClr val="000000"/>
                </a:solidFill>
              </a:rPr>
              <a:t>Result = {}</a:t>
            </a:r>
            <a:endParaRPr/>
          </a:p>
          <a:p>
            <a:pPr indent="-387350" lvl="1" marL="9144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000">
                <a:solidFill>
                  <a:srgbClr val="000000"/>
                </a:solidFill>
              </a:rPr>
              <a:t>For j=0 to n – m:</a:t>
            </a:r>
            <a:endParaRPr/>
          </a:p>
          <a:p>
            <a:pPr indent="-387350" lvl="2" marL="13716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■"/>
            </a:pPr>
            <a:r>
              <a:rPr lang="es-ES" sz="2000">
                <a:solidFill>
                  <a:srgbClr val="000000"/>
                </a:solidFill>
              </a:rPr>
              <a:t>i = 0</a:t>
            </a:r>
            <a:endParaRPr/>
          </a:p>
          <a:p>
            <a:pPr indent="-387350" lvl="2" marL="13716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■"/>
            </a:pPr>
            <a:r>
              <a:rPr lang="es-ES" sz="2000">
                <a:solidFill>
                  <a:srgbClr val="000000"/>
                </a:solidFill>
              </a:rPr>
              <a:t>While p[i] = T[i+j] and i &lt; m :</a:t>
            </a:r>
            <a:endParaRPr/>
          </a:p>
          <a:p>
            <a:pPr indent="-387350" lvl="3" marL="18288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●"/>
            </a:pPr>
            <a:r>
              <a:rPr lang="es-ES" sz="2000">
                <a:solidFill>
                  <a:srgbClr val="000000"/>
                </a:solidFill>
              </a:rPr>
              <a:t>i++</a:t>
            </a:r>
            <a:endParaRPr/>
          </a:p>
          <a:p>
            <a:pPr indent="-387350" lvl="2" marL="13716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■"/>
            </a:pPr>
            <a:r>
              <a:rPr lang="es-ES" sz="2000">
                <a:solidFill>
                  <a:srgbClr val="000000"/>
                </a:solidFill>
              </a:rPr>
              <a:t>If i = m :</a:t>
            </a:r>
            <a:endParaRPr/>
          </a:p>
          <a:p>
            <a:pPr indent="-387350" lvl="3" marL="18288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2500"/>
              <a:buChar char="●"/>
            </a:pPr>
            <a:r>
              <a:rPr lang="es-ES" sz="2000">
                <a:solidFill>
                  <a:srgbClr val="000000"/>
                </a:solidFill>
              </a:rPr>
              <a:t>Result U {j}</a:t>
            </a:r>
            <a:endParaRPr/>
          </a:p>
          <a:p>
            <a:pPr indent="-2285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10022305" y="3880029"/>
            <a:ext cx="26068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¿Complejidad?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9731408" y="6553102"/>
            <a:ext cx="38250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¿Cómo lo mejoramos?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0723618" y="4954956"/>
            <a:ext cx="12041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O(mn)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838933" y="3200377"/>
            <a:ext cx="12576276" cy="3179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Mueve el patrón sobre el texto al igual que el algoritmo anterior, con la diferencia de:</a:t>
            </a:r>
            <a:endParaRPr/>
          </a:p>
          <a:p>
            <a:pPr indent="-38735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Cada comparación del patrón con el texto la hacemos empezando por el final</a:t>
            </a:r>
            <a:endParaRPr/>
          </a:p>
          <a:p>
            <a:pPr indent="-38735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b="1" lang="es-ES" sz="2400">
                <a:solidFill>
                  <a:srgbClr val="000000"/>
                </a:solidFill>
              </a:rPr>
              <a:t>Si podemos, nos movemos más de una posición en el texto.</a:t>
            </a:r>
            <a:endParaRPr/>
          </a:p>
          <a:p>
            <a:pPr indent="-38735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Se debe mantener guardado la posición de cada letra del patrón 🡪 RAM</a:t>
            </a:r>
            <a:endParaRPr/>
          </a:p>
          <a:p>
            <a:pPr indent="-38735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Char char="○"/>
            </a:pPr>
            <a:r>
              <a:rPr lang="es-ES" sz="2400">
                <a:solidFill>
                  <a:srgbClr val="000000"/>
                </a:solidFill>
              </a:rPr>
              <a:t>Ejemplo:</a:t>
            </a:r>
            <a:endParaRPr/>
          </a:p>
        </p:txBody>
      </p:sp>
      <p:graphicFrame>
        <p:nvGraphicFramePr>
          <p:cNvPr id="147" name="Google Shape;147;p8"/>
          <p:cNvGraphicFramePr/>
          <p:nvPr/>
        </p:nvGraphicFramePr>
        <p:xfrm>
          <a:off x="13586899" y="5943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784250"/>
                <a:gridCol w="784250"/>
              </a:tblGrid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8" name="Google Shape;148;p8"/>
          <p:cNvGraphicFramePr/>
          <p:nvPr/>
        </p:nvGraphicFramePr>
        <p:xfrm>
          <a:off x="10490455" y="7375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8"/>
          <p:cNvSpPr txBox="1"/>
          <p:nvPr/>
        </p:nvSpPr>
        <p:spPr>
          <a:xfrm>
            <a:off x="11369210" y="6511598"/>
            <a:ext cx="9108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patrón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8"/>
          <p:cNvGraphicFramePr/>
          <p:nvPr/>
        </p:nvGraphicFramePr>
        <p:xfrm>
          <a:off x="10490455" y="7027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1" name="Google Shape;151;p8"/>
          <p:cNvGraphicFramePr/>
          <p:nvPr/>
        </p:nvGraphicFramePr>
        <p:xfrm>
          <a:off x="1583882" y="7375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" name="Google Shape;152;p8"/>
          <p:cNvGraphicFramePr/>
          <p:nvPr/>
        </p:nvGraphicFramePr>
        <p:xfrm>
          <a:off x="1542318" y="7013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8"/>
          <p:cNvSpPr txBox="1"/>
          <p:nvPr/>
        </p:nvSpPr>
        <p:spPr>
          <a:xfrm>
            <a:off x="4268756" y="6507121"/>
            <a:ext cx="7393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3708756" y="5543554"/>
            <a:ext cx="11977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838933" y="3200376"/>
            <a:ext cx="2080912" cy="655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</a:t>
            </a:r>
            <a:br>
              <a:rPr lang="es-ES" sz="1800"/>
            </a:br>
            <a:endParaRPr sz="17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161" name="Google Shape;161;p9"/>
          <p:cNvGraphicFramePr/>
          <p:nvPr/>
        </p:nvGraphicFramePr>
        <p:xfrm>
          <a:off x="2515280" y="497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" name="Google Shape;162;p9"/>
          <p:cNvGraphicFramePr/>
          <p:nvPr/>
        </p:nvGraphicFramePr>
        <p:xfrm>
          <a:off x="2473716" y="4617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9"/>
          <p:cNvSpPr txBox="1"/>
          <p:nvPr/>
        </p:nvSpPr>
        <p:spPr>
          <a:xfrm>
            <a:off x="2575323" y="4378062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4780153" y="6578063"/>
            <a:ext cx="4273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9"/>
          <p:cNvGraphicFramePr/>
          <p:nvPr/>
        </p:nvGraphicFramePr>
        <p:xfrm>
          <a:off x="2473716" y="5948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9"/>
          <p:cNvGraphicFramePr/>
          <p:nvPr/>
        </p:nvGraphicFramePr>
        <p:xfrm>
          <a:off x="2473716" y="6303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9"/>
          <p:cNvSpPr txBox="1"/>
          <p:nvPr/>
        </p:nvSpPr>
        <p:spPr>
          <a:xfrm>
            <a:off x="4719693" y="4357575"/>
            <a:ext cx="5100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+ 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838933" y="3200376"/>
            <a:ext cx="2080912" cy="655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</a:t>
            </a:r>
            <a:br>
              <a:rPr lang="es-ES" sz="1800"/>
            </a:br>
            <a:endParaRPr sz="17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174" name="Google Shape;174;p10"/>
          <p:cNvGraphicFramePr/>
          <p:nvPr/>
        </p:nvGraphicFramePr>
        <p:xfrm>
          <a:off x="2515280" y="497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FF0000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10"/>
          <p:cNvGraphicFramePr/>
          <p:nvPr/>
        </p:nvGraphicFramePr>
        <p:xfrm>
          <a:off x="2473716" y="4617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0"/>
          <p:cNvSpPr txBox="1"/>
          <p:nvPr/>
        </p:nvSpPr>
        <p:spPr>
          <a:xfrm>
            <a:off x="2575323" y="4378062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916620" y="6701767"/>
            <a:ext cx="4273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2473716" y="5948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FF0000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Google Shape;179;p10"/>
          <p:cNvGraphicFramePr/>
          <p:nvPr/>
        </p:nvGraphicFramePr>
        <p:xfrm>
          <a:off x="2473716" y="6310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10"/>
          <p:cNvSpPr txBox="1"/>
          <p:nvPr/>
        </p:nvSpPr>
        <p:spPr>
          <a:xfrm>
            <a:off x="3817654" y="4357575"/>
            <a:ext cx="5100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+ 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0"/>
          <p:cNvCxnSpPr/>
          <p:nvPr/>
        </p:nvCxnSpPr>
        <p:spPr>
          <a:xfrm flipH="1">
            <a:off x="3192651" y="5383254"/>
            <a:ext cx="852407" cy="564764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82" name="Google Shape;182;p10"/>
          <p:cNvGraphicFramePr/>
          <p:nvPr/>
        </p:nvGraphicFramePr>
        <p:xfrm>
          <a:off x="13586899" y="5943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784250"/>
                <a:gridCol w="784250"/>
              </a:tblGrid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3" name="Google Shape;183;p10"/>
          <p:cNvSpPr txBox="1"/>
          <p:nvPr/>
        </p:nvSpPr>
        <p:spPr>
          <a:xfrm>
            <a:off x="13708756" y="5543554"/>
            <a:ext cx="11977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838933" y="3200376"/>
            <a:ext cx="2080912" cy="655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</a:t>
            </a:r>
            <a:br>
              <a:rPr lang="es-ES" sz="1800"/>
            </a:br>
            <a:endParaRPr sz="17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190" name="Google Shape;190;p11"/>
          <p:cNvGraphicFramePr/>
          <p:nvPr/>
        </p:nvGraphicFramePr>
        <p:xfrm>
          <a:off x="2515280" y="497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FF0000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1" name="Google Shape;191;p11"/>
          <p:cNvGraphicFramePr/>
          <p:nvPr/>
        </p:nvGraphicFramePr>
        <p:xfrm>
          <a:off x="2473716" y="4617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1"/>
          <p:cNvSpPr txBox="1"/>
          <p:nvPr/>
        </p:nvSpPr>
        <p:spPr>
          <a:xfrm>
            <a:off x="2575323" y="4378062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11"/>
          <p:cNvGraphicFramePr/>
          <p:nvPr/>
        </p:nvGraphicFramePr>
        <p:xfrm>
          <a:off x="2473716" y="5948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0C5ADB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0C5ADB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FF0000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" name="Google Shape;194;p11"/>
          <p:cNvGraphicFramePr/>
          <p:nvPr/>
        </p:nvGraphicFramePr>
        <p:xfrm>
          <a:off x="2473716" y="6303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1"/>
          <p:cNvSpPr/>
          <p:nvPr/>
        </p:nvSpPr>
        <p:spPr>
          <a:xfrm>
            <a:off x="3127022" y="6683022"/>
            <a:ext cx="891822" cy="237179"/>
          </a:xfrm>
          <a:custGeom>
            <a:rect b="b" l="l" r="r" t="t"/>
            <a:pathLst>
              <a:path extrusionOk="0" h="237179" w="891822">
                <a:moveTo>
                  <a:pt x="891822" y="0"/>
                </a:moveTo>
                <a:cubicBezTo>
                  <a:pt x="723429" y="115711"/>
                  <a:pt x="555037" y="231423"/>
                  <a:pt x="406400" y="237067"/>
                </a:cubicBezTo>
                <a:cubicBezTo>
                  <a:pt x="257763" y="242711"/>
                  <a:pt x="0" y="33867"/>
                  <a:pt x="0" y="33867"/>
                </a:cubicBezTo>
                <a:lnTo>
                  <a:pt x="0" y="33867"/>
                </a:lnTo>
                <a:lnTo>
                  <a:pt x="22578" y="33867"/>
                </a:lnTo>
              </a:path>
            </a:pathLst>
          </a:custGeom>
          <a:noFill/>
          <a:ln cap="flat" cmpd="sng" w="127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2690098" y="7082093"/>
            <a:ext cx="19152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– 1 = 2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3916620" y="6701767"/>
            <a:ext cx="4273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3817654" y="4357575"/>
            <a:ext cx="5100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+ 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5282280" y="6683022"/>
            <a:ext cx="19431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positions[A] = 1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11"/>
          <p:cNvGraphicFramePr/>
          <p:nvPr/>
        </p:nvGraphicFramePr>
        <p:xfrm>
          <a:off x="13586899" y="5943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784250"/>
                <a:gridCol w="784250"/>
              </a:tblGrid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1" name="Google Shape;201;p11"/>
          <p:cNvSpPr txBox="1"/>
          <p:nvPr/>
        </p:nvSpPr>
        <p:spPr>
          <a:xfrm>
            <a:off x="13708756" y="5543554"/>
            <a:ext cx="11977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207" name="Google Shape;207;p12"/>
          <p:cNvSpPr txBox="1"/>
          <p:nvPr>
            <p:ph idx="1" type="body"/>
          </p:nvPr>
        </p:nvSpPr>
        <p:spPr>
          <a:xfrm>
            <a:off x="838933" y="3200376"/>
            <a:ext cx="2080912" cy="655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</a:t>
            </a:r>
            <a:br>
              <a:rPr lang="es-ES" sz="1800"/>
            </a:br>
            <a:endParaRPr sz="17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208" name="Google Shape;208;p12"/>
          <p:cNvGraphicFramePr/>
          <p:nvPr/>
        </p:nvGraphicFramePr>
        <p:xfrm>
          <a:off x="2515280" y="497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0C5ADB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0C5ADB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12"/>
          <p:cNvGraphicFramePr/>
          <p:nvPr/>
        </p:nvGraphicFramePr>
        <p:xfrm>
          <a:off x="2473716" y="4617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2"/>
          <p:cNvSpPr txBox="1"/>
          <p:nvPr/>
        </p:nvSpPr>
        <p:spPr>
          <a:xfrm>
            <a:off x="2575323" y="4378062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12"/>
          <p:cNvGraphicFramePr/>
          <p:nvPr/>
        </p:nvGraphicFramePr>
        <p:xfrm>
          <a:off x="3466504" y="5860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0C5ADB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rgbClr val="0C5ADB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12"/>
          <p:cNvGraphicFramePr/>
          <p:nvPr/>
        </p:nvGraphicFramePr>
        <p:xfrm>
          <a:off x="3466504" y="6216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12"/>
          <p:cNvSpPr txBox="1"/>
          <p:nvPr/>
        </p:nvSpPr>
        <p:spPr>
          <a:xfrm>
            <a:off x="2169373" y="3778313"/>
            <a:ext cx="19152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3466504" y="4402493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 rot="-10307812">
            <a:off x="2681111" y="4205966"/>
            <a:ext cx="891822" cy="237179"/>
          </a:xfrm>
          <a:custGeom>
            <a:rect b="b" l="l" r="r" t="t"/>
            <a:pathLst>
              <a:path extrusionOk="0" h="237179" w="891822">
                <a:moveTo>
                  <a:pt x="891822" y="0"/>
                </a:moveTo>
                <a:cubicBezTo>
                  <a:pt x="723429" y="115711"/>
                  <a:pt x="555037" y="231423"/>
                  <a:pt x="406400" y="237067"/>
                </a:cubicBezTo>
                <a:cubicBezTo>
                  <a:pt x="257763" y="242711"/>
                  <a:pt x="0" y="33867"/>
                  <a:pt x="0" y="33867"/>
                </a:cubicBezTo>
                <a:lnTo>
                  <a:pt x="0" y="33867"/>
                </a:lnTo>
                <a:lnTo>
                  <a:pt x="22578" y="33867"/>
                </a:lnTo>
              </a:path>
            </a:pathLst>
          </a:custGeom>
          <a:noFill/>
          <a:ln cap="flat" cmpd="sng" w="127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5826525" y="6573048"/>
            <a:ext cx="4273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838933" y="3200376"/>
            <a:ext cx="2080912" cy="655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</a:t>
            </a:r>
            <a:br>
              <a:rPr lang="es-ES" sz="1800"/>
            </a:br>
            <a:endParaRPr sz="17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223" name="Google Shape;223;p13"/>
          <p:cNvGraphicFramePr/>
          <p:nvPr/>
        </p:nvGraphicFramePr>
        <p:xfrm>
          <a:off x="2515280" y="497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FF0000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13"/>
          <p:cNvGraphicFramePr/>
          <p:nvPr/>
        </p:nvGraphicFramePr>
        <p:xfrm>
          <a:off x="2473716" y="4617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13"/>
          <p:cNvGraphicFramePr/>
          <p:nvPr/>
        </p:nvGraphicFramePr>
        <p:xfrm>
          <a:off x="3396654" y="5860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FF0000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13"/>
          <p:cNvGraphicFramePr/>
          <p:nvPr/>
        </p:nvGraphicFramePr>
        <p:xfrm>
          <a:off x="3396654" y="6216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13"/>
          <p:cNvSpPr txBox="1"/>
          <p:nvPr/>
        </p:nvSpPr>
        <p:spPr>
          <a:xfrm>
            <a:off x="3466504" y="4402493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5756675" y="6573048"/>
            <a:ext cx="4273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6568155" y="5864597"/>
            <a:ext cx="2042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positions[C] = -1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3313852" y="6870412"/>
            <a:ext cx="2374619" cy="237179"/>
          </a:xfrm>
          <a:custGeom>
            <a:rect b="b" l="l" r="r" t="t"/>
            <a:pathLst>
              <a:path extrusionOk="0" h="237179" w="891822">
                <a:moveTo>
                  <a:pt x="891822" y="0"/>
                </a:moveTo>
                <a:cubicBezTo>
                  <a:pt x="723429" y="115711"/>
                  <a:pt x="555037" y="231423"/>
                  <a:pt x="406400" y="237067"/>
                </a:cubicBezTo>
                <a:cubicBezTo>
                  <a:pt x="257763" y="242711"/>
                  <a:pt x="0" y="33867"/>
                  <a:pt x="0" y="33867"/>
                </a:cubicBezTo>
                <a:lnTo>
                  <a:pt x="0" y="33867"/>
                </a:lnTo>
                <a:lnTo>
                  <a:pt x="22578" y="33867"/>
                </a:lnTo>
              </a:path>
            </a:pathLst>
          </a:custGeom>
          <a:noFill/>
          <a:ln cap="flat" cmpd="sng" w="127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3773174" y="7225921"/>
            <a:ext cx="19152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 – (-1) = 6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" name="Google Shape;232;p13"/>
          <p:cNvGraphicFramePr/>
          <p:nvPr/>
        </p:nvGraphicFramePr>
        <p:xfrm>
          <a:off x="13586899" y="5943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784250"/>
                <a:gridCol w="784250"/>
              </a:tblGrid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3" name="Google Shape;233;p13"/>
          <p:cNvSpPr txBox="1"/>
          <p:nvPr/>
        </p:nvSpPr>
        <p:spPr>
          <a:xfrm>
            <a:off x="13708756" y="5543554"/>
            <a:ext cx="11977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</a:t>
            </a:r>
            <a:endParaRPr b="0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239" name="Google Shape;239;p14"/>
          <p:cNvSpPr txBox="1"/>
          <p:nvPr>
            <p:ph idx="1" type="body"/>
          </p:nvPr>
        </p:nvSpPr>
        <p:spPr>
          <a:xfrm>
            <a:off x="838933" y="3200376"/>
            <a:ext cx="2080912" cy="655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799" lvl="0" marL="457200" rtl="0" algn="l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</a:t>
            </a:r>
            <a:br>
              <a:rPr lang="es-ES" sz="1800"/>
            </a:br>
            <a:endParaRPr sz="17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240" name="Google Shape;240;p14"/>
          <p:cNvGraphicFramePr/>
          <p:nvPr/>
        </p:nvGraphicFramePr>
        <p:xfrm>
          <a:off x="2515280" y="497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1" name="Google Shape;241;p14"/>
          <p:cNvGraphicFramePr/>
          <p:nvPr/>
        </p:nvGraphicFramePr>
        <p:xfrm>
          <a:off x="2473716" y="4617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9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16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2" name="Google Shape;242;p14"/>
          <p:cNvGraphicFramePr/>
          <p:nvPr/>
        </p:nvGraphicFramePr>
        <p:xfrm>
          <a:off x="6135888" y="56357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800"/>
                <a:gridCol w="444800"/>
                <a:gridCol w="444800"/>
                <a:gridCol w="444800"/>
                <a:gridCol w="444800"/>
                <a:gridCol w="444800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rgbClr val="212121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rgbClr val="21212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T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cap="none" strike="noStrike">
                          <a:solidFill>
                            <a:schemeClr val="dk2"/>
                          </a:solidFill>
                        </a:rPr>
                        <a:t>G</a:t>
                      </a:r>
                      <a:endParaRPr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3" name="Google Shape;243;p14"/>
          <p:cNvGraphicFramePr/>
          <p:nvPr/>
        </p:nvGraphicFramePr>
        <p:xfrm>
          <a:off x="6082116" y="6046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{8DE206BB-F40C-4FD8-9582-2AABE81C43D5}</a:tableStyleId>
              </a:tblPr>
              <a:tblGrid>
                <a:gridCol w="444725"/>
                <a:gridCol w="444725"/>
                <a:gridCol w="444725"/>
                <a:gridCol w="444725"/>
                <a:gridCol w="444725"/>
                <a:gridCol w="444725"/>
              </a:tblGrid>
              <a:tr h="4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6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b="0" sz="16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14"/>
          <p:cNvSpPr txBox="1"/>
          <p:nvPr/>
        </p:nvSpPr>
        <p:spPr>
          <a:xfrm>
            <a:off x="3466504" y="4402493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8395100" y="6443248"/>
            <a:ext cx="4273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/>
          <p:nvPr/>
        </p:nvSpPr>
        <p:spPr>
          <a:xfrm rot="-10518624">
            <a:off x="3701776" y="4269806"/>
            <a:ext cx="2374619" cy="237179"/>
          </a:xfrm>
          <a:custGeom>
            <a:rect b="b" l="l" r="r" t="t"/>
            <a:pathLst>
              <a:path extrusionOk="0" h="237179" w="891822">
                <a:moveTo>
                  <a:pt x="891822" y="0"/>
                </a:moveTo>
                <a:cubicBezTo>
                  <a:pt x="723429" y="115711"/>
                  <a:pt x="555037" y="231423"/>
                  <a:pt x="406400" y="237067"/>
                </a:cubicBezTo>
                <a:cubicBezTo>
                  <a:pt x="257763" y="242711"/>
                  <a:pt x="0" y="33867"/>
                  <a:pt x="0" y="33867"/>
                </a:cubicBezTo>
                <a:lnTo>
                  <a:pt x="0" y="33867"/>
                </a:lnTo>
                <a:lnTo>
                  <a:pt x="22578" y="33867"/>
                </a:lnTo>
              </a:path>
            </a:pathLst>
          </a:custGeom>
          <a:noFill/>
          <a:ln cap="flat" cmpd="sng" w="127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3841378" y="3899959"/>
            <a:ext cx="19152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+6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6082116" y="4388395"/>
            <a:ext cx="2295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(Algoritmo Boyer-Moore) </a:t>
            </a:r>
            <a:endParaRPr/>
          </a:p>
        </p:txBody>
      </p:sp>
      <p:sp>
        <p:nvSpPr>
          <p:cNvPr id="254" name="Google Shape;254;p15"/>
          <p:cNvSpPr txBox="1"/>
          <p:nvPr/>
        </p:nvSpPr>
        <p:spPr>
          <a:xfrm>
            <a:off x="10022305" y="3880029"/>
            <a:ext cx="26068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¿Complejidad?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696564" y="3755339"/>
            <a:ext cx="6701764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StringMatching(Text, Pattern)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= Text.size()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= Pattern.size()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positions = buildPositions(Pattern)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= 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for(i=0; i&lt;n-m; 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j=m-1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while(j &gt;= 0 &amp;&amp; Pattern[j] == Text[i+j])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j--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if (j &gt;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i = i +  (j - positions[Text[i+j]])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results.add(i)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i = i + m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results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10022305" y="4938508"/>
            <a:ext cx="22749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O(|∑|) + O(n)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TRIES</a:t>
            </a:r>
            <a:br>
              <a:rPr lang="es-ES"/>
            </a:br>
            <a:r>
              <a:rPr lang="es-ES"/>
              <a:t>TDA Diccionario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</a:t>
            </a:r>
            <a:endParaRPr b="1"/>
          </a:p>
        </p:txBody>
      </p:sp>
      <p:sp>
        <p:nvSpPr>
          <p:cNvPr id="267" name="Google Shape;267;p17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Los árboles de prefijos </a:t>
            </a:r>
            <a:r>
              <a:rPr i="1" lang="es-ES" sz="2400">
                <a:solidFill>
                  <a:srgbClr val="000000"/>
                </a:solidFill>
              </a:rPr>
              <a:t>(efficient information reTRIEval data structure)</a:t>
            </a:r>
            <a:r>
              <a:rPr lang="es-ES" sz="2400">
                <a:solidFill>
                  <a:srgbClr val="000000"/>
                </a:solidFill>
              </a:rPr>
              <a:t>, es un tipo de árbol que es usualmente usado para almacenar caracteres. </a:t>
            </a:r>
            <a:r>
              <a:rPr b="1" lang="es-ES" sz="2400">
                <a:solidFill>
                  <a:srgbClr val="000000"/>
                </a:solidFill>
              </a:rPr>
              <a:t>Normalmente, un trie representa un diccionario de palabras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 pesar de que cada nodo es utilizado para almacenar caracteres (también las aristas podrían representar los caracteres), los caminos entre estos representan palabras o partes de palabras. No olvidar el carácter de fin de cadena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Qué usos se les ocurren para las estructuras de datos que almacenan strings?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Autocompletar, editores de texto, procesadores de texto, etc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268" name="Google Shape;2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626" y="3488825"/>
            <a:ext cx="5350725" cy="545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 (insertar)</a:t>
            </a:r>
            <a:endParaRPr b="1"/>
          </a:p>
        </p:txBody>
      </p:sp>
      <p:sp>
        <p:nvSpPr>
          <p:cNvPr id="274" name="Google Shape;274;p18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Cómo agregar una nueva palabra?  </a:t>
            </a:r>
            <a:r>
              <a:rPr lang="es-ES" sz="1800">
                <a:solidFill>
                  <a:srgbClr val="000000"/>
                </a:solidFill>
              </a:rPr>
              <a:t>O(WORD SIZE)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Buscar el camino del string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Si se encuentra un null pointer, entonces se crea un nuevo nodo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Se adiciona una secuencia de hijos como letras falten de la palabra, finalizando con el fin de cadena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En el diccionario actual tenemos palabras como: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ROMANE, ROMANES, ROMANUS, ROMULUS, RUBENS, RUBES, RUBER, RUBICON, RUBICUNDUS y RUBRIC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Cómo agregar RUB?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275" name="Google Shape;2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626" y="3488825"/>
            <a:ext cx="5350725" cy="5452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18"/>
          <p:cNvGrpSpPr/>
          <p:nvPr/>
        </p:nvGrpSpPr>
        <p:grpSpPr>
          <a:xfrm>
            <a:off x="14383500" y="4864200"/>
            <a:ext cx="1311850" cy="333200"/>
            <a:chOff x="14383500" y="4864200"/>
            <a:chExt cx="1311850" cy="333200"/>
          </a:xfrm>
        </p:grpSpPr>
        <p:pic>
          <p:nvPicPr>
            <p:cNvPr id="277" name="Google Shape;27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52600" y="4864200"/>
              <a:ext cx="442750" cy="333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8" name="Google Shape;278;p18"/>
            <p:cNvCxnSpPr>
              <a:endCxn id="277" idx="1"/>
            </p:cNvCxnSpPr>
            <p:nvPr/>
          </p:nvCxnSpPr>
          <p:spPr>
            <a:xfrm>
              <a:off x="14383500" y="5025400"/>
              <a:ext cx="869100" cy="5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</a:t>
            </a:r>
            <a:endParaRPr b="1"/>
          </a:p>
        </p:txBody>
      </p:sp>
      <p:sp>
        <p:nvSpPr>
          <p:cNvPr id="284" name="Google Shape;284;p19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Entonces creemos el siguiente diccionario: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AN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ANCESTOR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AND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IN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IS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TAVERN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THERE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THE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TOWN</a:t>
            </a:r>
            <a:endParaRPr b="1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</a:t>
            </a:r>
            <a:endParaRPr b="1"/>
          </a:p>
        </p:txBody>
      </p:sp>
      <p:sp>
        <p:nvSpPr>
          <p:cNvPr id="290" name="Google Shape;290;p20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Entonces creemos el siguiente diccionario: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AN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ANCESTOR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AND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IN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IS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TAVERN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THERE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THE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TOWN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291" name="Google Shape;2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625" y="3156267"/>
            <a:ext cx="523875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/>
          <p:nvPr/>
        </p:nvSpPr>
        <p:spPr>
          <a:xfrm>
            <a:off x="11023600" y="3312160"/>
            <a:ext cx="640080" cy="3251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 (eliminar)</a:t>
            </a:r>
            <a:endParaRPr b="1"/>
          </a:p>
        </p:txBody>
      </p:sp>
      <p:sp>
        <p:nvSpPr>
          <p:cNvPr id="298" name="Google Shape;298;p21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Cómo eliminar una palabra? </a:t>
            </a:r>
            <a:r>
              <a:rPr lang="es-ES" sz="1400">
                <a:solidFill>
                  <a:srgbClr val="000000"/>
                </a:solidFill>
              </a:rPr>
              <a:t>O(WORD SIZE)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Se busca la hoja </a:t>
            </a:r>
            <a:r>
              <a:rPr i="1" lang="es-ES" sz="2400">
                <a:solidFill>
                  <a:srgbClr val="000000"/>
                </a:solidFill>
              </a:rPr>
              <a:t>“s”</a:t>
            </a:r>
            <a:r>
              <a:rPr lang="es-ES" sz="2400">
                <a:solidFill>
                  <a:srgbClr val="000000"/>
                </a:solidFill>
              </a:rPr>
              <a:t> que represente nuestra palabra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Empezamos a eliminar los nodos desde </a:t>
            </a:r>
            <a:r>
              <a:rPr i="1" lang="es-ES" sz="2400">
                <a:solidFill>
                  <a:srgbClr val="000000"/>
                </a:solidFill>
              </a:rPr>
              <a:t>“s” </a:t>
            </a:r>
            <a:r>
              <a:rPr lang="es-ES" sz="2400">
                <a:solidFill>
                  <a:srgbClr val="000000"/>
                </a:solidFill>
              </a:rPr>
              <a:t>hacia el root hasta encontrar un nodo que tenga más de un hijo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Cómo eliminar RUBENS?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299" name="Google Shape;2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626" y="3488825"/>
            <a:ext cx="5350725" cy="54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1814" y="3507764"/>
            <a:ext cx="5332050" cy="54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 (buscar)</a:t>
            </a:r>
            <a:endParaRPr b="1"/>
          </a:p>
        </p:txBody>
      </p:sp>
      <p:sp>
        <p:nvSpPr>
          <p:cNvPr id="306" name="Google Shape;306;p22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Cómo buscar una palabra? </a:t>
            </a:r>
            <a:r>
              <a:rPr lang="es-ES" sz="1400">
                <a:solidFill>
                  <a:srgbClr val="000000"/>
                </a:solidFill>
              </a:rPr>
              <a:t>O(WORD SIZE)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Se va buscando cada carácter de la palabra en el árbol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Si llegamos a una nodo hoja que represente nuestra palabra, retornamos verdadero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De otra manera, la palabra no existe en el trie.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Buscar ROMANE?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07" name="Google Shape;3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626" y="3488825"/>
            <a:ext cx="5350725" cy="545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 (buscar)</a:t>
            </a:r>
            <a:endParaRPr b="1"/>
          </a:p>
        </p:txBody>
      </p:sp>
      <p:sp>
        <p:nvSpPr>
          <p:cNvPr id="313" name="Google Shape;313;p23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Cómo buscar una palabra? </a:t>
            </a:r>
            <a:r>
              <a:rPr lang="es-ES" sz="1400">
                <a:solidFill>
                  <a:srgbClr val="000000"/>
                </a:solidFill>
              </a:rPr>
              <a:t>O(WORD SIZE)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Se va buscando cada carácter de la palabra en el árbol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Si llegamos a una nodo hoja que represente nuestra palabra, retornamos verdadero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ES" sz="2400">
                <a:solidFill>
                  <a:srgbClr val="000000"/>
                </a:solidFill>
              </a:rPr>
              <a:t>De otra manera, la palabra no existe en el trie.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Buscar ROMANE?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14" name="Google Shape;3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626" y="3488825"/>
            <a:ext cx="5350725" cy="545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 (Ideas de Implementación)</a:t>
            </a:r>
            <a:endParaRPr b="1"/>
          </a:p>
        </p:txBody>
      </p:sp>
      <p:sp>
        <p:nvSpPr>
          <p:cNvPr id="320" name="Google Shape;320;p24"/>
          <p:cNvSpPr txBox="1"/>
          <p:nvPr>
            <p:ph idx="1" type="body"/>
          </p:nvPr>
        </p:nvSpPr>
        <p:spPr>
          <a:xfrm>
            <a:off x="748617" y="3222838"/>
            <a:ext cx="8695500" cy="825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1- Cada nodo como array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21" name="Google Shape;3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2864" y="3222838"/>
            <a:ext cx="9171692" cy="579571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748617" y="6856481"/>
            <a:ext cx="8695500" cy="16260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¿Problema?</a:t>
            </a:r>
            <a:endParaRPr b="0" i="0" sz="32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Demasiado espacio</a:t>
            </a:r>
            <a:endParaRPr b="0" i="0" sz="32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13648267" y="3742081"/>
            <a:ext cx="2777067" cy="61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Insertar “cru”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Tries (Ideas de Implementación)</a:t>
            </a:r>
            <a:endParaRPr b="1"/>
          </a:p>
        </p:txBody>
      </p:sp>
      <p:sp>
        <p:nvSpPr>
          <p:cNvPr id="329" name="Google Shape;329;p25"/>
          <p:cNvSpPr txBox="1"/>
          <p:nvPr>
            <p:ph idx="1" type="body"/>
          </p:nvPr>
        </p:nvSpPr>
        <p:spPr>
          <a:xfrm>
            <a:off x="838928" y="3154873"/>
            <a:ext cx="8695500" cy="825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2- Cada nodo como lista</a:t>
            </a:r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30" name="Google Shape;3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924" y="3154873"/>
            <a:ext cx="7095807" cy="586815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5"/>
          <p:cNvSpPr txBox="1"/>
          <p:nvPr/>
        </p:nvSpPr>
        <p:spPr>
          <a:xfrm>
            <a:off x="838928" y="6732303"/>
            <a:ext cx="9869712" cy="18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¿Problema?</a:t>
            </a:r>
            <a:endParaRPr b="0" i="0" sz="32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Mayor tiempo de búsqueda pero ocupa menos espacio que el array</a:t>
            </a:r>
            <a:endParaRPr b="0" i="0" sz="32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13919201" y="3261391"/>
            <a:ext cx="2777067" cy="61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Insertar “cru”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(Compact Trie) </a:t>
            </a:r>
            <a:endParaRPr b="1"/>
          </a:p>
        </p:txBody>
      </p:sp>
      <p:sp>
        <p:nvSpPr>
          <p:cNvPr id="338" name="Google Shape;338;p26"/>
          <p:cNvSpPr txBox="1"/>
          <p:nvPr>
            <p:ph idx="1" type="body"/>
          </p:nvPr>
        </p:nvSpPr>
        <p:spPr>
          <a:xfrm>
            <a:off x="838928" y="3411700"/>
            <a:ext cx="8639924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Es un tipo de trie que optimiza el espacio utilizado para representar el diccionario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El problema con los tries es que su conjunto de keys tiende a ser muy disperso. En muchos de los casos un nodo interno termina teniendo solo un descendiente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El problema anterior causa que los tries tengan una complejidad alta en términos de espacio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En los Patricia Tries, en vez de almacenar un solo carácter en un nodo, se almacena la mayor cantidad de caracteres posibles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339" name="Google Shape;3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1038" y="3540389"/>
            <a:ext cx="6310833" cy="4490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(Insertar)</a:t>
            </a:r>
            <a:endParaRPr b="1"/>
          </a:p>
        </p:txBody>
      </p:sp>
      <p:sp>
        <p:nvSpPr>
          <p:cNvPr id="345" name="Google Shape;345;p27"/>
          <p:cNvSpPr txBox="1"/>
          <p:nvPr/>
        </p:nvSpPr>
        <p:spPr>
          <a:xfrm>
            <a:off x="540913" y="3387802"/>
            <a:ext cx="4687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insertar   “ababb</a:t>
            </a: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1143224" y="5364088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ababb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 txBox="1"/>
          <p:nvPr/>
        </p:nvSpPr>
        <p:spPr>
          <a:xfrm>
            <a:off x="5761527" y="3402451"/>
            <a:ext cx="4687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insertar   “ababa</a:t>
            </a: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 txBox="1"/>
          <p:nvPr/>
        </p:nvSpPr>
        <p:spPr>
          <a:xfrm>
            <a:off x="11027177" y="3402451"/>
            <a:ext cx="4687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insertar   “ababba</a:t>
            </a: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1143224" y="4201413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7"/>
          <p:cNvCxnSpPr>
            <a:stCxn id="349" idx="2"/>
            <a:endCxn id="346" idx="0"/>
          </p:cNvCxnSpPr>
          <p:nvPr/>
        </p:nvCxnSpPr>
        <p:spPr>
          <a:xfrm>
            <a:off x="1832244" y="4523384"/>
            <a:ext cx="0" cy="840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27"/>
          <p:cNvSpPr txBox="1"/>
          <p:nvPr/>
        </p:nvSpPr>
        <p:spPr>
          <a:xfrm>
            <a:off x="1910438" y="470672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6615832" y="5346397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abab</a:t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6615832" y="4183722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27"/>
          <p:cNvCxnSpPr>
            <a:stCxn id="353" idx="2"/>
            <a:endCxn id="352" idx="0"/>
          </p:cNvCxnSpPr>
          <p:nvPr/>
        </p:nvCxnSpPr>
        <p:spPr>
          <a:xfrm>
            <a:off x="7304852" y="4505693"/>
            <a:ext cx="0" cy="840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27"/>
          <p:cNvSpPr txBox="1"/>
          <p:nvPr/>
        </p:nvSpPr>
        <p:spPr>
          <a:xfrm>
            <a:off x="7383046" y="468903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5535712" y="6348086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7682467" y="6348085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358" name="Google Shape;358;p27"/>
          <p:cNvCxnSpPr>
            <a:stCxn id="352" idx="2"/>
            <a:endCxn id="356" idx="0"/>
          </p:cNvCxnSpPr>
          <p:nvPr/>
        </p:nvCxnSpPr>
        <p:spPr>
          <a:xfrm flipH="1">
            <a:off x="6224852" y="5668368"/>
            <a:ext cx="10800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9" name="Google Shape;359;p27"/>
          <p:cNvCxnSpPr>
            <a:stCxn id="352" idx="2"/>
            <a:endCxn id="357" idx="0"/>
          </p:cNvCxnSpPr>
          <p:nvPr/>
        </p:nvCxnSpPr>
        <p:spPr>
          <a:xfrm>
            <a:off x="7304852" y="5668368"/>
            <a:ext cx="10665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27"/>
          <p:cNvSpPr txBox="1"/>
          <p:nvPr/>
        </p:nvSpPr>
        <p:spPr>
          <a:xfrm>
            <a:off x="6302926" y="5771734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7949029" y="578222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11944424" y="4069241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27"/>
          <p:cNvCxnSpPr>
            <a:stCxn id="362" idx="2"/>
          </p:cNvCxnSpPr>
          <p:nvPr/>
        </p:nvCxnSpPr>
        <p:spPr>
          <a:xfrm>
            <a:off x="12633444" y="4391212"/>
            <a:ext cx="0" cy="840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27"/>
          <p:cNvSpPr txBox="1"/>
          <p:nvPr/>
        </p:nvSpPr>
        <p:spPr>
          <a:xfrm>
            <a:off x="12711638" y="4574552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11934537" y="5238970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10854417" y="6348085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13043306" y="6370630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aabba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27"/>
          <p:cNvCxnSpPr/>
          <p:nvPr/>
        </p:nvCxnSpPr>
        <p:spPr>
          <a:xfrm flipH="1">
            <a:off x="11512376" y="5567995"/>
            <a:ext cx="1086244" cy="78009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9" name="Google Shape;369;p27"/>
          <p:cNvCxnSpPr>
            <a:stCxn id="365" idx="2"/>
            <a:endCxn id="367" idx="0"/>
          </p:cNvCxnSpPr>
          <p:nvPr/>
        </p:nvCxnSpPr>
        <p:spPr>
          <a:xfrm>
            <a:off x="12623557" y="5560941"/>
            <a:ext cx="1108800" cy="809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27"/>
          <p:cNvSpPr txBox="1"/>
          <p:nvPr/>
        </p:nvSpPr>
        <p:spPr>
          <a:xfrm>
            <a:off x="11762710" y="5708213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13274022" y="571870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9760492" y="7374223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11907247" y="7374222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374" name="Google Shape;374;p27"/>
          <p:cNvCxnSpPr>
            <a:endCxn id="372" idx="0"/>
          </p:cNvCxnSpPr>
          <p:nvPr/>
        </p:nvCxnSpPr>
        <p:spPr>
          <a:xfrm flipH="1">
            <a:off x="10449512" y="6694423"/>
            <a:ext cx="10800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27"/>
          <p:cNvCxnSpPr>
            <a:endCxn id="373" idx="0"/>
          </p:cNvCxnSpPr>
          <p:nvPr/>
        </p:nvCxnSpPr>
        <p:spPr>
          <a:xfrm>
            <a:off x="11529767" y="6694422"/>
            <a:ext cx="10665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6" name="Google Shape;376;p27"/>
          <p:cNvSpPr txBox="1"/>
          <p:nvPr/>
        </p:nvSpPr>
        <p:spPr>
          <a:xfrm>
            <a:off x="10527706" y="6797871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7"/>
          <p:cNvSpPr txBox="1"/>
          <p:nvPr/>
        </p:nvSpPr>
        <p:spPr>
          <a:xfrm>
            <a:off x="12173809" y="680836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(Insertar)</a:t>
            </a:r>
            <a:endParaRPr b="1"/>
          </a:p>
        </p:txBody>
      </p:sp>
      <p:sp>
        <p:nvSpPr>
          <p:cNvPr id="383" name="Google Shape;383;p28"/>
          <p:cNvSpPr/>
          <p:nvPr/>
        </p:nvSpPr>
        <p:spPr>
          <a:xfrm>
            <a:off x="3375472" y="4041570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28"/>
          <p:cNvCxnSpPr>
            <a:stCxn id="383" idx="2"/>
            <a:endCxn id="385" idx="0"/>
          </p:cNvCxnSpPr>
          <p:nvPr/>
        </p:nvCxnSpPr>
        <p:spPr>
          <a:xfrm flipH="1">
            <a:off x="3190592" y="4363541"/>
            <a:ext cx="873900" cy="946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28"/>
          <p:cNvSpPr txBox="1"/>
          <p:nvPr/>
        </p:nvSpPr>
        <p:spPr>
          <a:xfrm>
            <a:off x="3278590" y="464526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2501489" y="5309681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1421369" y="6418796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3610258" y="6441341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aabba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8"/>
          <p:cNvCxnSpPr/>
          <p:nvPr/>
        </p:nvCxnSpPr>
        <p:spPr>
          <a:xfrm flipH="1">
            <a:off x="2079328" y="5638706"/>
            <a:ext cx="1086244" cy="78009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0" name="Google Shape;390;p28"/>
          <p:cNvCxnSpPr>
            <a:stCxn id="385" idx="2"/>
            <a:endCxn id="388" idx="0"/>
          </p:cNvCxnSpPr>
          <p:nvPr/>
        </p:nvCxnSpPr>
        <p:spPr>
          <a:xfrm>
            <a:off x="3190509" y="5631652"/>
            <a:ext cx="1108800" cy="809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1" name="Google Shape;391;p28"/>
          <p:cNvSpPr txBox="1"/>
          <p:nvPr/>
        </p:nvSpPr>
        <p:spPr>
          <a:xfrm>
            <a:off x="2329662" y="5778924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3840974" y="578941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327444" y="7444934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2474199" y="7444933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395" name="Google Shape;395;p28"/>
          <p:cNvCxnSpPr>
            <a:endCxn id="393" idx="0"/>
          </p:cNvCxnSpPr>
          <p:nvPr/>
        </p:nvCxnSpPr>
        <p:spPr>
          <a:xfrm flipH="1">
            <a:off x="1016463" y="6765134"/>
            <a:ext cx="10800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6" name="Google Shape;396;p28"/>
          <p:cNvCxnSpPr>
            <a:endCxn id="394" idx="0"/>
          </p:cNvCxnSpPr>
          <p:nvPr/>
        </p:nvCxnSpPr>
        <p:spPr>
          <a:xfrm>
            <a:off x="2096719" y="6765133"/>
            <a:ext cx="10665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7" name="Google Shape;397;p28"/>
          <p:cNvSpPr txBox="1"/>
          <p:nvPr/>
        </p:nvSpPr>
        <p:spPr>
          <a:xfrm>
            <a:off x="1094658" y="6868582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8"/>
          <p:cNvSpPr txBox="1"/>
          <p:nvPr/>
        </p:nvSpPr>
        <p:spPr>
          <a:xfrm>
            <a:off x="2740761" y="687907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 txBox="1"/>
          <p:nvPr/>
        </p:nvSpPr>
        <p:spPr>
          <a:xfrm>
            <a:off x="553259" y="3273442"/>
            <a:ext cx="4687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insertar   “ba</a:t>
            </a: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8454665" y="3387802"/>
            <a:ext cx="4687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insertar  “ab” y “ac</a:t>
            </a: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5175672" y="5316735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28"/>
          <p:cNvCxnSpPr>
            <a:stCxn id="383" idx="2"/>
            <a:endCxn id="401" idx="0"/>
          </p:cNvCxnSpPr>
          <p:nvPr/>
        </p:nvCxnSpPr>
        <p:spPr>
          <a:xfrm>
            <a:off x="4064492" y="4363541"/>
            <a:ext cx="1800300" cy="953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3" name="Google Shape;403;p28"/>
          <p:cNvSpPr txBox="1"/>
          <p:nvPr/>
        </p:nvSpPr>
        <p:spPr>
          <a:xfrm>
            <a:off x="4849942" y="4470806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10391310" y="4041570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28"/>
          <p:cNvCxnSpPr>
            <a:stCxn id="404" idx="2"/>
            <a:endCxn id="406" idx="0"/>
          </p:cNvCxnSpPr>
          <p:nvPr/>
        </p:nvCxnSpPr>
        <p:spPr>
          <a:xfrm flipH="1">
            <a:off x="10206430" y="4363541"/>
            <a:ext cx="873900" cy="946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7" name="Google Shape;407;p28"/>
          <p:cNvSpPr txBox="1"/>
          <p:nvPr/>
        </p:nvSpPr>
        <p:spPr>
          <a:xfrm>
            <a:off x="10294428" y="464526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9517327" y="5309681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8466349" y="7293441"/>
            <a:ext cx="1378039" cy="3219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10161126" y="6418796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aabba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8"/>
          <p:cNvCxnSpPr/>
          <p:nvPr/>
        </p:nvCxnSpPr>
        <p:spPr>
          <a:xfrm flipH="1">
            <a:off x="9095166" y="5638706"/>
            <a:ext cx="1086244" cy="78009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1" name="Google Shape;411;p28"/>
          <p:cNvCxnSpPr>
            <a:stCxn id="406" idx="2"/>
            <a:endCxn id="409" idx="0"/>
          </p:cNvCxnSpPr>
          <p:nvPr/>
        </p:nvCxnSpPr>
        <p:spPr>
          <a:xfrm>
            <a:off x="10206347" y="5631652"/>
            <a:ext cx="643800" cy="787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2" name="Google Shape;412;p28"/>
          <p:cNvSpPr txBox="1"/>
          <p:nvPr/>
        </p:nvSpPr>
        <p:spPr>
          <a:xfrm>
            <a:off x="9345500" y="5778924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10643338" y="5804732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7372424" y="8319579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9519179" y="8319578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416" name="Google Shape;416;p28"/>
          <p:cNvCxnSpPr>
            <a:endCxn id="414" idx="0"/>
          </p:cNvCxnSpPr>
          <p:nvPr/>
        </p:nvCxnSpPr>
        <p:spPr>
          <a:xfrm flipH="1">
            <a:off x="8061444" y="7639779"/>
            <a:ext cx="10800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p28"/>
          <p:cNvCxnSpPr>
            <a:endCxn id="415" idx="0"/>
          </p:cNvCxnSpPr>
          <p:nvPr/>
        </p:nvCxnSpPr>
        <p:spPr>
          <a:xfrm>
            <a:off x="9141699" y="7639778"/>
            <a:ext cx="1066500" cy="679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28"/>
          <p:cNvSpPr txBox="1"/>
          <p:nvPr/>
        </p:nvSpPr>
        <p:spPr>
          <a:xfrm>
            <a:off x="8139638" y="774322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9785741" y="7753719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12191510" y="5316735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28"/>
          <p:cNvCxnSpPr>
            <a:stCxn id="404" idx="2"/>
            <a:endCxn id="420" idx="0"/>
          </p:cNvCxnSpPr>
          <p:nvPr/>
        </p:nvCxnSpPr>
        <p:spPr>
          <a:xfrm>
            <a:off x="11080330" y="4363541"/>
            <a:ext cx="1800300" cy="953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2" name="Google Shape;422;p28"/>
          <p:cNvSpPr txBox="1"/>
          <p:nvPr/>
        </p:nvSpPr>
        <p:spPr>
          <a:xfrm>
            <a:off x="11865780" y="4470806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8455202" y="6441341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28"/>
          <p:cNvCxnSpPr>
            <a:stCxn id="423" idx="2"/>
            <a:endCxn id="408" idx="0"/>
          </p:cNvCxnSpPr>
          <p:nvPr/>
        </p:nvCxnSpPr>
        <p:spPr>
          <a:xfrm>
            <a:off x="9144222" y="6763312"/>
            <a:ext cx="11100" cy="530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5" name="Google Shape;425;p28"/>
          <p:cNvSpPr txBox="1"/>
          <p:nvPr/>
        </p:nvSpPr>
        <p:spPr>
          <a:xfrm>
            <a:off x="9204421" y="6791989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11769349" y="6414813"/>
            <a:ext cx="1378039" cy="321971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28"/>
          <p:cNvCxnSpPr>
            <a:stCxn id="406" idx="2"/>
            <a:endCxn id="426" idx="0"/>
          </p:cNvCxnSpPr>
          <p:nvPr/>
        </p:nvCxnSpPr>
        <p:spPr>
          <a:xfrm>
            <a:off x="10206347" y="5631652"/>
            <a:ext cx="2252100" cy="783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28"/>
          <p:cNvSpPr txBox="1"/>
          <p:nvPr/>
        </p:nvSpPr>
        <p:spPr>
          <a:xfrm>
            <a:off x="11488811" y="576704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(Insertar)</a:t>
            </a:r>
            <a:endParaRPr b="1"/>
          </a:p>
        </p:txBody>
      </p:sp>
      <p:sp>
        <p:nvSpPr>
          <p:cNvPr id="434" name="Google Shape;434;p29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Creear el siguiente diccionario: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TEST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TOASTER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TOASTED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TASTING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SLOW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SLOWLY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TESTIMONY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TESTAMENT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SLOWEST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(Insertar)</a:t>
            </a:r>
            <a:endParaRPr b="1"/>
          </a:p>
        </p:txBody>
      </p:sp>
      <p:sp>
        <p:nvSpPr>
          <p:cNvPr id="440" name="Google Shape;440;p30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Creear el siguiente diccionario: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TEST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TOASTER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TOASTED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TASTING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SLOW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SLOWLY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TESTIMONY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TESTAMENT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SLOWEST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441" name="Google Shape;441;p30"/>
          <p:cNvPicPr preferRelativeResize="0"/>
          <p:nvPr/>
        </p:nvPicPr>
        <p:blipFill rotWithShape="1">
          <a:blip r:embed="rId3">
            <a:alphaModFix/>
          </a:blip>
          <a:srcRect b="0" l="21184" r="0" t="0"/>
          <a:stretch/>
        </p:blipFill>
        <p:spPr>
          <a:xfrm>
            <a:off x="6831856" y="3131840"/>
            <a:ext cx="8792052" cy="571257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0"/>
          <p:cNvSpPr txBox="1"/>
          <p:nvPr/>
        </p:nvSpPr>
        <p:spPr>
          <a:xfrm>
            <a:off x="11227882" y="3904183"/>
            <a:ext cx="2936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13068171" y="3885554"/>
            <a:ext cx="3048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9640168" y="5364088"/>
            <a:ext cx="3048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0"/>
          <p:cNvSpPr txBox="1"/>
          <p:nvPr/>
        </p:nvSpPr>
        <p:spPr>
          <a:xfrm>
            <a:off x="10792296" y="5627241"/>
            <a:ext cx="3241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0"/>
          <p:cNvSpPr txBox="1"/>
          <p:nvPr/>
        </p:nvSpPr>
        <p:spPr>
          <a:xfrm>
            <a:off x="11669495" y="5329914"/>
            <a:ext cx="3048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8776072" y="6084168"/>
            <a:ext cx="936104" cy="504056"/>
          </a:xfrm>
          <a:prstGeom prst="rect">
            <a:avLst/>
          </a:prstGeom>
          <a:noFill/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13168560" y="4647182"/>
            <a:ext cx="988161" cy="436091"/>
          </a:xfrm>
          <a:prstGeom prst="rect">
            <a:avLst/>
          </a:prstGeom>
          <a:noFill/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11892367" y="6152133"/>
            <a:ext cx="988161" cy="436091"/>
          </a:xfrm>
          <a:prstGeom prst="rect">
            <a:avLst/>
          </a:prstGeom>
          <a:noFill/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(Buscar y Eliminar)</a:t>
            </a:r>
            <a:endParaRPr b="1"/>
          </a:p>
        </p:txBody>
      </p:sp>
      <p:sp>
        <p:nvSpPr>
          <p:cNvPr id="455" name="Google Shape;455;p31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¿Cómo seria la búsqueda?</a:t>
            </a:r>
            <a:endParaRPr b="1" sz="2400">
              <a:solidFill>
                <a:srgbClr val="000000"/>
              </a:solidFill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11277600" y="3522133"/>
            <a:ext cx="20297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838928" y="5820700"/>
            <a:ext cx="8695500" cy="2573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¿Cómo seria la eliminación?</a:t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11172423" y="6004348"/>
            <a:ext cx="20297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Patricia Tries (Idea de Implementación)</a:t>
            </a:r>
            <a:endParaRPr b="1"/>
          </a:p>
        </p:txBody>
      </p:sp>
      <p:sp>
        <p:nvSpPr>
          <p:cNvPr id="464" name="Google Shape;464;p32"/>
          <p:cNvSpPr txBox="1"/>
          <p:nvPr>
            <p:ph idx="1" type="body"/>
          </p:nvPr>
        </p:nvSpPr>
        <p:spPr>
          <a:xfrm>
            <a:off x="309094" y="3324001"/>
            <a:ext cx="8695500" cy="8887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¿Cómo sería la estructura de datos?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-139700" lvl="0" marL="3429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Suffix Tree</a:t>
            </a:r>
            <a:br>
              <a:rPr lang="es-ES"/>
            </a:br>
            <a:r>
              <a:rPr lang="es-ES"/>
              <a:t>String Matching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Tree) </a:t>
            </a:r>
            <a:endParaRPr/>
          </a:p>
        </p:txBody>
      </p:sp>
      <p:sp>
        <p:nvSpPr>
          <p:cNvPr id="475" name="Google Shape;475;p34"/>
          <p:cNvSpPr txBox="1"/>
          <p:nvPr>
            <p:ph idx="1" type="body"/>
          </p:nvPr>
        </p:nvSpPr>
        <p:spPr>
          <a:xfrm>
            <a:off x="592429" y="3398810"/>
            <a:ext cx="7959144" cy="4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Estructura eficientemente todos los sufijos del texto en un Trie </a:t>
            </a:r>
            <a:endParaRPr/>
          </a:p>
          <a:p>
            <a:pPr indent="-4317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Esto es útil cuando se quieren encontrar muchos patrones en el mismo texto (por ejemplo, muchos genes en el mismo DNA)</a:t>
            </a:r>
            <a:endParaRPr/>
          </a:p>
          <a:p>
            <a:pPr indent="-4317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El patrón P ocurre en T cuando P es el prefijo de algún sufijo de T</a:t>
            </a:r>
            <a:endParaRPr/>
          </a:p>
          <a:p>
            <a:pPr indent="-2285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4317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s-ES" sz="2400">
                <a:solidFill>
                  <a:srgbClr val="000000"/>
                </a:solidFill>
              </a:rPr>
              <a:t>Ejemplo, sea el suffix tree del texto T = dabdac</a:t>
            </a:r>
            <a:br>
              <a:rPr lang="es-ES" sz="1400"/>
            </a:br>
            <a:endParaRPr sz="2400">
              <a:solidFill>
                <a:srgbClr val="000000"/>
              </a:solidFill>
            </a:endParaRPr>
          </a:p>
        </p:txBody>
      </p:sp>
      <p:pic>
        <p:nvPicPr>
          <p:cNvPr id="476" name="Google Shape;476;p34"/>
          <p:cNvPicPr preferRelativeResize="0"/>
          <p:nvPr/>
        </p:nvPicPr>
        <p:blipFill rotWithShape="1">
          <a:blip r:embed="rId3">
            <a:alphaModFix/>
          </a:blip>
          <a:srcRect b="0" l="2390" r="0" t="0"/>
          <a:stretch/>
        </p:blipFill>
        <p:spPr>
          <a:xfrm>
            <a:off x="8396963" y="4127273"/>
            <a:ext cx="7698409" cy="3440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4"/>
          <p:cNvSpPr txBox="1"/>
          <p:nvPr/>
        </p:nvSpPr>
        <p:spPr>
          <a:xfrm>
            <a:off x="9073164" y="7630657"/>
            <a:ext cx="63829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buscar el patrón P = “ac”,  P = “bd” y P= “da”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6400800" y="7722990"/>
            <a:ext cx="10566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1,2,3,4,5,6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/>
          </a:p>
        </p:txBody>
      </p:sp>
      <p:sp>
        <p:nvSpPr>
          <p:cNvPr id="484" name="Google Shape;484;p35"/>
          <p:cNvSpPr txBox="1"/>
          <p:nvPr>
            <p:ph idx="1" type="body"/>
          </p:nvPr>
        </p:nvSpPr>
        <p:spPr>
          <a:xfrm>
            <a:off x="412124" y="3334957"/>
            <a:ext cx="8371267" cy="13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ES" sz="2400">
                <a:solidFill>
                  <a:srgbClr val="000000"/>
                </a:solidFill>
              </a:rPr>
              <a:t>Construcción del suffix tree para T=“abab”</a:t>
            </a:r>
            <a:br>
              <a:rPr lang="es-ES" sz="1400"/>
            </a:br>
            <a:endParaRPr sz="2400">
              <a:solidFill>
                <a:srgbClr val="000000"/>
              </a:solidFill>
            </a:endParaRPr>
          </a:p>
        </p:txBody>
      </p:sp>
      <p:pic>
        <p:nvPicPr>
          <p:cNvPr id="485" name="Google Shape;485;p35"/>
          <p:cNvPicPr preferRelativeResize="0"/>
          <p:nvPr/>
        </p:nvPicPr>
        <p:blipFill rotWithShape="1">
          <a:blip r:embed="rId3">
            <a:alphaModFix/>
          </a:blip>
          <a:srcRect b="49989" l="0" r="0" t="0"/>
          <a:stretch/>
        </p:blipFill>
        <p:spPr>
          <a:xfrm>
            <a:off x="92333" y="5119417"/>
            <a:ext cx="8589964" cy="3321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5"/>
          <p:cNvPicPr preferRelativeResize="0"/>
          <p:nvPr/>
        </p:nvPicPr>
        <p:blipFill rotWithShape="1">
          <a:blip r:embed="rId3">
            <a:alphaModFix/>
          </a:blip>
          <a:srcRect b="691" l="12732" r="6795" t="48125"/>
          <a:stretch/>
        </p:blipFill>
        <p:spPr>
          <a:xfrm>
            <a:off x="9200348" y="5016387"/>
            <a:ext cx="6963319" cy="342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/>
          </a:p>
        </p:txBody>
      </p:sp>
      <p:sp>
        <p:nvSpPr>
          <p:cNvPr id="492" name="Google Shape;492;p36"/>
          <p:cNvSpPr txBox="1"/>
          <p:nvPr/>
        </p:nvSpPr>
        <p:spPr>
          <a:xfrm>
            <a:off x="714778" y="3323408"/>
            <a:ext cx="8126568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BuildSuffixTree(Texto 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crear arbol vacio con solo raiz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for i = 1 ... 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sufijo = ti, ti+1, ..., tn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empezar desde la raiz buscando un camino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desde ti hasta tj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(conicidencia del prefijo en algun sufijo)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sea el nodo X de tj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- añadir al arbol los nodos restantes: tj+1  hasta tn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agregar posicion como etiqueta del nodo hoja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retornar el arbol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6"/>
          <p:cNvSpPr txBox="1"/>
          <p:nvPr/>
        </p:nvSpPr>
        <p:spPr>
          <a:xfrm>
            <a:off x="9969917" y="4799744"/>
            <a:ext cx="45255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sería la búsqueda?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6"/>
          <p:cNvSpPr txBox="1"/>
          <p:nvPr/>
        </p:nvSpPr>
        <p:spPr>
          <a:xfrm>
            <a:off x="10929314" y="6373087"/>
            <a:ext cx="26068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¿Complejidad?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6"/>
          <p:cNvSpPr txBox="1"/>
          <p:nvPr/>
        </p:nvSpPr>
        <p:spPr>
          <a:xfrm>
            <a:off x="10360248" y="3226401"/>
            <a:ext cx="37449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sería el nodo?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/>
          </a:p>
        </p:txBody>
      </p:sp>
      <p:sp>
        <p:nvSpPr>
          <p:cNvPr id="501" name="Google Shape;501;p37"/>
          <p:cNvSpPr txBox="1"/>
          <p:nvPr/>
        </p:nvSpPr>
        <p:spPr>
          <a:xfrm>
            <a:off x="838933" y="3233256"/>
            <a:ext cx="81265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Optimización: </a:t>
            </a: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nodos con un solo hijo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37"/>
          <p:cNvPicPr preferRelativeResize="0"/>
          <p:nvPr/>
        </p:nvPicPr>
        <p:blipFill rotWithShape="1">
          <a:blip r:embed="rId3">
            <a:alphaModFix/>
          </a:blip>
          <a:srcRect b="6521" l="0" r="0" t="0"/>
          <a:stretch/>
        </p:blipFill>
        <p:spPr>
          <a:xfrm>
            <a:off x="917637" y="3856016"/>
            <a:ext cx="5354374" cy="487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7"/>
          <p:cNvSpPr/>
          <p:nvPr/>
        </p:nvSpPr>
        <p:spPr>
          <a:xfrm>
            <a:off x="7289442" y="6291777"/>
            <a:ext cx="978795" cy="6885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/>
          </a:p>
        </p:txBody>
      </p:sp>
      <p:sp>
        <p:nvSpPr>
          <p:cNvPr id="509" name="Google Shape;509;p38"/>
          <p:cNvSpPr txBox="1"/>
          <p:nvPr/>
        </p:nvSpPr>
        <p:spPr>
          <a:xfrm>
            <a:off x="838933" y="3233256"/>
            <a:ext cx="81265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Optimización: </a:t>
            </a: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nodos con un solo hijo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5701" y="2638753"/>
            <a:ext cx="6300685" cy="331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8"/>
          <p:cNvPicPr preferRelativeResize="0"/>
          <p:nvPr/>
        </p:nvPicPr>
        <p:blipFill rotWithShape="1">
          <a:blip r:embed="rId4">
            <a:alphaModFix/>
          </a:blip>
          <a:srcRect b="6521" l="0" r="0" t="0"/>
          <a:stretch/>
        </p:blipFill>
        <p:spPr>
          <a:xfrm>
            <a:off x="917637" y="3856016"/>
            <a:ext cx="5354374" cy="487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8"/>
          <p:cNvSpPr/>
          <p:nvPr/>
        </p:nvSpPr>
        <p:spPr>
          <a:xfrm>
            <a:off x="7168737" y="4572000"/>
            <a:ext cx="978795" cy="6885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5701" y="5830004"/>
            <a:ext cx="6170464" cy="324550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8"/>
          <p:cNvSpPr/>
          <p:nvPr/>
        </p:nvSpPr>
        <p:spPr>
          <a:xfrm>
            <a:off x="9280128" y="7494711"/>
            <a:ext cx="1117600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abbbc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11196319" y="7759591"/>
            <a:ext cx="852868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bbbc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12202160" y="6991091"/>
            <a:ext cx="852868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bbbc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9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/>
          </a:p>
        </p:txBody>
      </p:sp>
      <p:sp>
        <p:nvSpPr>
          <p:cNvPr id="522" name="Google Shape;522;p39"/>
          <p:cNvSpPr txBox="1"/>
          <p:nvPr/>
        </p:nvSpPr>
        <p:spPr>
          <a:xfrm>
            <a:off x="838933" y="3233256"/>
            <a:ext cx="81265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Optimización: </a:t>
            </a: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nodos con un solo hijo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39"/>
          <p:cNvGrpSpPr/>
          <p:nvPr/>
        </p:nvGrpSpPr>
        <p:grpSpPr>
          <a:xfrm>
            <a:off x="8666113" y="4250190"/>
            <a:ext cx="6190784" cy="3245504"/>
            <a:chOff x="838933" y="4346644"/>
            <a:chExt cx="6190784" cy="3245504"/>
          </a:xfrm>
        </p:grpSpPr>
        <p:pic>
          <p:nvPicPr>
            <p:cNvPr id="524" name="Google Shape;524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253" y="4346644"/>
              <a:ext cx="6170464" cy="3245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39"/>
            <p:cNvSpPr/>
            <p:nvPr/>
          </p:nvSpPr>
          <p:spPr>
            <a:xfrm>
              <a:off x="838933" y="6019303"/>
              <a:ext cx="1117600" cy="46166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2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abbbc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2739425" y="6218250"/>
              <a:ext cx="852868" cy="46166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2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3775745" y="5507731"/>
              <a:ext cx="852868" cy="46166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2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bbbc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39"/>
          <p:cNvSpPr/>
          <p:nvPr/>
        </p:nvSpPr>
        <p:spPr>
          <a:xfrm>
            <a:off x="9043115" y="7812026"/>
            <a:ext cx="5119619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¿Insertar un nuevo sufijo?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9" name="Google Shape;529;p39"/>
          <p:cNvGrpSpPr/>
          <p:nvPr/>
        </p:nvGrpSpPr>
        <p:grpSpPr>
          <a:xfrm>
            <a:off x="991333" y="4499044"/>
            <a:ext cx="6190784" cy="3245504"/>
            <a:chOff x="838933" y="4346644"/>
            <a:chExt cx="6190784" cy="3245504"/>
          </a:xfrm>
        </p:grpSpPr>
        <p:pic>
          <p:nvPicPr>
            <p:cNvPr id="530" name="Google Shape;53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253" y="4346644"/>
              <a:ext cx="6170464" cy="3245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39"/>
            <p:cNvSpPr/>
            <p:nvPr/>
          </p:nvSpPr>
          <p:spPr>
            <a:xfrm>
              <a:off x="838933" y="6045399"/>
              <a:ext cx="1117600" cy="46166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2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abbbc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2769905" y="6276231"/>
              <a:ext cx="852868" cy="46166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2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bbbc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3775745" y="5507731"/>
              <a:ext cx="852868" cy="46166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2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bbbc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39"/>
          <p:cNvSpPr/>
          <p:nvPr/>
        </p:nvSpPr>
        <p:spPr>
          <a:xfrm>
            <a:off x="8994909" y="8425948"/>
            <a:ext cx="5119619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¿Eliminar un sufijo?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 b="1"/>
          </a:p>
        </p:txBody>
      </p:sp>
      <p:sp>
        <p:nvSpPr>
          <p:cNvPr id="540" name="Google Shape;540;p40"/>
          <p:cNvSpPr txBox="1"/>
          <p:nvPr>
            <p:ph idx="1" type="body"/>
          </p:nvPr>
        </p:nvSpPr>
        <p:spPr>
          <a:xfrm>
            <a:off x="999208" y="3419872"/>
            <a:ext cx="8325392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Crear el diccionario para el siguiente texto “BANANA” y aplicar la búsqueda del patrón “ANA”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 b="1"/>
          </a:p>
        </p:txBody>
      </p:sp>
      <p:sp>
        <p:nvSpPr>
          <p:cNvPr id="546" name="Google Shape;546;p41"/>
          <p:cNvSpPr txBox="1"/>
          <p:nvPr>
            <p:ph idx="1" type="body"/>
          </p:nvPr>
        </p:nvSpPr>
        <p:spPr>
          <a:xfrm>
            <a:off x="838933" y="3347864"/>
            <a:ext cx="8325392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Crear el siguiente diccionario para el siguiente texto “BANANA” y aplicar la búsqueda del patrón “ANA”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2400">
                <a:solidFill>
                  <a:srgbClr val="000000"/>
                </a:solidFill>
              </a:rPr>
              <a:t>  012345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547" name="Google Shape;54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5992" y="3419872"/>
            <a:ext cx="6763694" cy="484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String Matching (Suffix Tree, Algoritmo) </a:t>
            </a:r>
            <a:endParaRPr/>
          </a:p>
        </p:txBody>
      </p:sp>
      <p:sp>
        <p:nvSpPr>
          <p:cNvPr id="553" name="Google Shape;553;p42"/>
          <p:cNvSpPr txBox="1"/>
          <p:nvPr/>
        </p:nvSpPr>
        <p:spPr>
          <a:xfrm>
            <a:off x="714778" y="3323408"/>
            <a:ext cx="81265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ConstruirArbolSufijosCompacto(Texto 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2"/>
          <p:cNvSpPr txBox="1"/>
          <p:nvPr/>
        </p:nvSpPr>
        <p:spPr>
          <a:xfrm>
            <a:off x="10022305" y="3880029"/>
            <a:ext cx="45255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sería la búsqueda?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2"/>
          <p:cNvSpPr txBox="1"/>
          <p:nvPr/>
        </p:nvSpPr>
        <p:spPr>
          <a:xfrm>
            <a:off x="10537460" y="6453658"/>
            <a:ext cx="26068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¿Complejidad?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3"/>
          <p:cNvSpPr txBox="1"/>
          <p:nvPr/>
        </p:nvSpPr>
        <p:spPr>
          <a:xfrm>
            <a:off x="1076825" y="660450"/>
            <a:ext cx="14487900" cy="7775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E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E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 </a:t>
            </a:r>
            <a:endParaRPr b="1" i="0" sz="6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1" name="Google Shape;5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