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16256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iTNMBqZX6vQicDl4OSwso1WEku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84068F-6B91-4BE0-AA45-7CF7F89FFB6F}">
  <a:tblStyle styleId="{D784068F-6B91-4BE0-AA45-7CF7F89FFB6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Tahoma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9207500" y="0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9207500" y="8685213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7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7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2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558800" lvl="0" marL="457200" marR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520700" lvl="1" marL="914400" marR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b="0" i="0" sz="4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476250" lvl="2" marL="13716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b="0" i="0" sz="3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4381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4381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5588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5588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5588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5588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2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2"/>
          <p:cNvSpPr txBox="1"/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8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24"/>
          <p:cNvSpPr txBox="1"/>
          <p:nvPr>
            <p:ph idx="1" type="body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24"/>
          <p:cNvSpPr txBox="1"/>
          <p:nvPr>
            <p:ph idx="2" type="body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/>
          <p:nvPr/>
        </p:nvSpPr>
        <p:spPr>
          <a:xfrm flipH="1" rot="10800000">
            <a:off x="0" y="1167000"/>
            <a:ext cx="16256101" cy="79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5"/>
          <p:cNvSpPr/>
          <p:nvPr/>
        </p:nvSpPr>
        <p:spPr>
          <a:xfrm>
            <a:off x="0" y="1166844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5"/>
          <p:cNvSpPr txBox="1"/>
          <p:nvPr>
            <p:ph type="title"/>
          </p:nvPr>
        </p:nvSpPr>
        <p:spPr>
          <a:xfrm>
            <a:off x="174666" y="29066"/>
            <a:ext cx="156918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/>
          <p:nvPr/>
        </p:nvSpPr>
        <p:spPr>
          <a:xfrm flipH="1" rot="10800000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6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6"/>
          <p:cNvSpPr txBox="1"/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0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8"/>
          <p:cNvSpPr/>
          <p:nvPr/>
        </p:nvSpPr>
        <p:spPr>
          <a:xfrm rot="5400000">
            <a:off x="3460311" y="4475866"/>
            <a:ext cx="91428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 txBox="1"/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" name="Google Shape;80;p28"/>
          <p:cNvSpPr txBox="1"/>
          <p:nvPr>
            <p:ph idx="1" type="subTitle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28"/>
          <p:cNvSpPr txBox="1"/>
          <p:nvPr>
            <p:ph idx="2" type="body"/>
          </p:nvPr>
        </p:nvSpPr>
        <p:spPr>
          <a:xfrm>
            <a:off x="8781333" y="1287466"/>
            <a:ext cx="6821400" cy="6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 txBox="1"/>
          <p:nvPr/>
        </p:nvSpPr>
        <p:spPr>
          <a:xfrm flipH="1" rot="10800000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9"/>
          <p:cNvSpPr/>
          <p:nvPr/>
        </p:nvSpPr>
        <p:spPr>
          <a:xfrm flipH="1" rot="10800000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9"/>
          <p:cNvSpPr txBox="1"/>
          <p:nvPr>
            <p:ph idx="1" type="body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/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30"/>
          <p:cNvSpPr txBox="1"/>
          <p:nvPr>
            <p:ph idx="1" type="body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ctr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1" name="Google Shape;91;p30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1076825" y="1353625"/>
            <a:ext cx="14487900" cy="70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</a:t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Grafos dispersos</a:t>
            </a:r>
            <a:endParaRPr b="1"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es un grafo disperso?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Cuando la mayoría de sus vértices no están conectadas por aristas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Cómo podemos representar un grafo?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Listas y matrices de adyacencia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Cuál sería el problema de usar matrices de adyacencia para grafos dispersos?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Que la mayoría de valores serían 0 (o algún valor que represente ausencia)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2999" y="4223627"/>
            <a:ext cx="4283125" cy="35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</a:t>
            </a:r>
            <a:endParaRPr b="1"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Problema: </a:t>
            </a:r>
            <a:endParaRPr b="1"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➔"/>
            </a:pPr>
            <a:r>
              <a:rPr lang="es-PE" sz="2400">
                <a:solidFill>
                  <a:srgbClr val="000000"/>
                </a:solidFill>
              </a:rPr>
              <a:t>En el caso de ser matrices muy grandes se ve que se tiene una gran cantidad de espacio desperdiciado </a:t>
            </a:r>
            <a:endParaRPr sz="2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➔"/>
            </a:pPr>
            <a:r>
              <a:rPr lang="es-PE" sz="2400">
                <a:solidFill>
                  <a:srgbClr val="000000"/>
                </a:solidFill>
              </a:rPr>
              <a:t>Las matrices son bastante eficientes en el acceso de datos, por tanto se busca poder utilizarlas sin desperdiciar memoria</a:t>
            </a:r>
            <a:endParaRPr sz="2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➔"/>
            </a:pPr>
            <a:r>
              <a:rPr lang="es-PE" sz="2400">
                <a:solidFill>
                  <a:srgbClr val="000000"/>
                </a:solidFill>
              </a:rPr>
              <a:t>Muchas aplicaciones reales tienden a ser matrices dispersas de gran tamaño (e.g. redes sociales)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0097" y="4239760"/>
            <a:ext cx="4956025" cy="31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</a:t>
            </a:r>
            <a:endParaRPr b="1"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2532646" y="3134600"/>
            <a:ext cx="11536645" cy="2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800">
                <a:solidFill>
                  <a:srgbClr val="000000"/>
                </a:solidFill>
              </a:rPr>
              <a:t>Son estructuras ampliamente usadas en computación científica, sobretodo en optimización a gran escala, teoría de redes y grafos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800">
                <a:solidFill>
                  <a:srgbClr val="000000"/>
                </a:solidFill>
              </a:rPr>
              <a:t>Dado que este tipo de matrices ocurren de manera muy natural, se han desarrollado distintas maneras de representarlas.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descr="Newman/dolphins sparse matrix" id="123" name="Google Shape;123;p4"/>
          <p:cNvPicPr preferRelativeResize="0"/>
          <p:nvPr/>
        </p:nvPicPr>
        <p:blipFill rotWithShape="1">
          <a:blip r:embed="rId3">
            <a:alphaModFix/>
          </a:blip>
          <a:srcRect b="9373" l="19909" r="16303" t="6251"/>
          <a:stretch/>
        </p:blipFill>
        <p:spPr>
          <a:xfrm>
            <a:off x="3730335" y="6145896"/>
            <a:ext cx="2805546" cy="278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croelement and Macropatch Approaches to Structural Topology Optimization  Using the Ground Structure Method | Journal of Structural Engineering | Vol  142, No 11" id="124" name="Google Shape;124;p4"/>
          <p:cNvPicPr preferRelativeResize="0"/>
          <p:nvPr/>
        </p:nvPicPr>
        <p:blipFill rotWithShape="1">
          <a:blip r:embed="rId4">
            <a:alphaModFix/>
          </a:blip>
          <a:srcRect b="8589" l="0" r="0" t="0"/>
          <a:stretch/>
        </p:blipFill>
        <p:spPr>
          <a:xfrm>
            <a:off x="7020793" y="6310602"/>
            <a:ext cx="5504872" cy="26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(array compacto)</a:t>
            </a:r>
            <a:endParaRPr b="1"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838925" y="3411700"/>
            <a:ext cx="86955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soluciones se les ocurren para poder evitar almacenar los ceros en nuestra matriz?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Quizás un array compacto?  Cada celda almacena el índice de la columna y fila (de manera ordenada), y la data.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784205" y="5884027"/>
            <a:ext cx="8801549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Cuál sería el problema con esta implementación?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Su falta de eficiencia para las operaciones básicas de inserción, eliminación, etc. Al ser un array los tiempos de acceso son en O(n). </a:t>
            </a:r>
            <a:endParaRPr sz="2400">
              <a:solidFill>
                <a:srgbClr val="000000"/>
              </a:solidFill>
            </a:endParaRPr>
          </a:p>
        </p:txBody>
      </p:sp>
      <p:grpSp>
        <p:nvGrpSpPr>
          <p:cNvPr id="133" name="Google Shape;133;p5"/>
          <p:cNvGrpSpPr/>
          <p:nvPr/>
        </p:nvGrpSpPr>
        <p:grpSpPr>
          <a:xfrm>
            <a:off x="10572280" y="5639091"/>
            <a:ext cx="4460630" cy="649200"/>
            <a:chOff x="9896544" y="5775850"/>
            <a:chExt cx="4460630" cy="649200"/>
          </a:xfrm>
        </p:grpSpPr>
        <p:sp>
          <p:nvSpPr>
            <p:cNvPr id="134" name="Google Shape;134;p5"/>
            <p:cNvSpPr/>
            <p:nvPr/>
          </p:nvSpPr>
          <p:spPr>
            <a:xfrm>
              <a:off x="9896544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1, 1 (5)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0802763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1, 3 (1)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11692214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2, 2 (9)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12597644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4, 1 (3)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3503074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4, 4 (11)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(listas enlazadas)</a:t>
            </a:r>
            <a:endParaRPr b="1"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838925" y="3411700"/>
            <a:ext cx="86955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soluciones se les ocurren para poder evitar almacenar los ceros en nuestra matriz?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Quizás una lista simplemente enlazada? Cada nodo almacena el índice de la columna y fila (de manera ordenada), y la data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grpSp>
        <p:nvGrpSpPr>
          <p:cNvPr id="146" name="Google Shape;146;p6"/>
          <p:cNvGrpSpPr/>
          <p:nvPr/>
        </p:nvGrpSpPr>
        <p:grpSpPr>
          <a:xfrm>
            <a:off x="9686825" y="6276400"/>
            <a:ext cx="5859825" cy="649200"/>
            <a:chOff x="9534425" y="5775850"/>
            <a:chExt cx="5859825" cy="649200"/>
          </a:xfrm>
        </p:grpSpPr>
        <p:sp>
          <p:nvSpPr>
            <p:cNvPr id="147" name="Google Shape;147;p6"/>
            <p:cNvSpPr/>
            <p:nvPr/>
          </p:nvSpPr>
          <p:spPr>
            <a:xfrm>
              <a:off x="9534425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1, 1 (5)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10802763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1, 3 (1)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12071100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2, 2 (9)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13305625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4, 1 (3)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14540150" y="5775850"/>
              <a:ext cx="854100" cy="64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4, 4 (11)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2" name="Google Shape;152;p6"/>
            <p:cNvCxnSpPr>
              <a:stCxn id="147" idx="3"/>
              <a:endCxn id="148" idx="1"/>
            </p:cNvCxnSpPr>
            <p:nvPr/>
          </p:nvCxnSpPr>
          <p:spPr>
            <a:xfrm>
              <a:off x="10388525" y="6100450"/>
              <a:ext cx="41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3" name="Google Shape;153;p6"/>
            <p:cNvCxnSpPr>
              <a:endCxn id="149" idx="1"/>
            </p:cNvCxnSpPr>
            <p:nvPr/>
          </p:nvCxnSpPr>
          <p:spPr>
            <a:xfrm>
              <a:off x="11656800" y="6100450"/>
              <a:ext cx="41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4" name="Google Shape;154;p6"/>
            <p:cNvCxnSpPr>
              <a:stCxn id="149" idx="3"/>
              <a:endCxn id="150" idx="1"/>
            </p:cNvCxnSpPr>
            <p:nvPr/>
          </p:nvCxnSpPr>
          <p:spPr>
            <a:xfrm>
              <a:off x="12925200" y="6100450"/>
              <a:ext cx="380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5" name="Google Shape;155;p6"/>
            <p:cNvCxnSpPr>
              <a:stCxn id="150" idx="3"/>
              <a:endCxn id="151" idx="1"/>
            </p:cNvCxnSpPr>
            <p:nvPr/>
          </p:nvCxnSpPr>
          <p:spPr>
            <a:xfrm>
              <a:off x="14159725" y="6100450"/>
              <a:ext cx="380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838925" y="6279173"/>
            <a:ext cx="86955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Cuál sería el problema con esta implementación?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Su falta de eficiencia para las operaciones sobre matrices. Al ser una lista los tiempos de acceso son en O(n). Las operaciones como multiplicación, suma tardarían mucho.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(coordenado)</a:t>
            </a:r>
            <a:endParaRPr b="1"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838925" y="3411700"/>
            <a:ext cx="8695500" cy="2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soluciones se les ocurren para poder evitar almacenar los ceros en nuestra matriz?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Formato coordenado, o array triple. Se utilizan tres vectores, en donde se guarda la posición de la fila, la posición de la columna, y el valor. Los problemas son que la asignación sigue siendo lenta, y ocupa mucha memoria cuando es denso.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graphicFrame>
        <p:nvGraphicFramePr>
          <p:cNvPr id="164" name="Google Shape;164;p7"/>
          <p:cNvGraphicFramePr/>
          <p:nvPr/>
        </p:nvGraphicFramePr>
        <p:xfrm>
          <a:off x="10954313" y="433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{D784068F-6B91-4BE0-AA45-7CF7F89FFB6F}</a:tableStyleId>
              </a:tblPr>
              <a:tblGrid>
                <a:gridCol w="1500600"/>
                <a:gridCol w="1500600"/>
                <a:gridCol w="1500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Filas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Columnas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Valor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5" name="Google Shape;165;p7"/>
          <p:cNvSpPr txBox="1"/>
          <p:nvPr/>
        </p:nvSpPr>
        <p:spPr>
          <a:xfrm>
            <a:off x="881650" y="6688675"/>
            <a:ext cx="8695500" cy="21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b="0" i="0" lang="es-PE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triplet[3][size];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(matrix[i][j] != 0)  {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triplet[0][k] = i;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triplet[1][k] = j;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triplet[2][k] = matrix[i][j];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k++;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(hashing)</a:t>
            </a:r>
            <a:endParaRPr b="1"/>
          </a:p>
        </p:txBody>
      </p:sp>
      <p:sp>
        <p:nvSpPr>
          <p:cNvPr id="172" name="Google Shape;172;p8"/>
          <p:cNvSpPr txBox="1"/>
          <p:nvPr>
            <p:ph idx="1" type="body"/>
          </p:nvPr>
        </p:nvSpPr>
        <p:spPr>
          <a:xfrm>
            <a:off x="767804" y="3101984"/>
            <a:ext cx="14688329" cy="2261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¿Qué tal si usamos hash/map?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Almacenar los elementos en un hash usando un función de transformación de índices.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Matriz[i][j] 🡪 hash[trans(i,j)]                             trans(i,j) = i * m + j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¿Cuál sería el problema con esta implementación?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Operaciones en matrices están enfocadas a la localización e iteración. Por lo tanto, para una implementación eficiente de las operaciones matriciales se debe iterar en mismo hash table.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hash table ocupa más espacio de lo necesario. Rehashing. Colisiones.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767804" y="8368619"/>
            <a:ext cx="144537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Aspnäs, M., Signell, A., &amp; Westerholm, J. (2006, June). Efficient assembly of sparse matrices using hashing.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 </a:t>
            </a:r>
            <a:r>
              <a:rPr b="0" i="1" lang="es-PE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International Workshop on Applied Parallel Computing</a:t>
            </a:r>
            <a:r>
              <a:rPr b="0" i="0" lang="es-PE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(pp. 900-907). Springer, Berlin, Heidelberg.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(lista enlazada por fila)</a:t>
            </a:r>
            <a:endParaRPr b="1"/>
          </a:p>
        </p:txBody>
      </p:sp>
      <p:sp>
        <p:nvSpPr>
          <p:cNvPr id="180" name="Google Shape;180;p9"/>
          <p:cNvSpPr txBox="1"/>
          <p:nvPr>
            <p:ph idx="1" type="body"/>
          </p:nvPr>
        </p:nvSpPr>
        <p:spPr>
          <a:xfrm>
            <a:off x="838924" y="3411700"/>
            <a:ext cx="11204139" cy="2261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tal usar las listas enlazadas de otra manera?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Similar a como trabajamos con las listas de adyacencia, se podría tener una lista que mantenga los índices de las filas.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descr="Sparse-Matrix-List-of-Lists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533" y="5051771"/>
            <a:ext cx="7656141" cy="361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838924" y="5683827"/>
            <a:ext cx="7162076" cy="26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Cada fila tendría una lista enlazada para almacenar los elementos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Este formato posee dos ventajas. Primero: es más fácil poder ubicar las elementos, ya que podemos ir directo a su fila. Segundo, el valor de la fila ya no se tendrá que repetir en cada nodo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0"/>
          <p:cNvGraphicFramePr/>
          <p:nvPr/>
        </p:nvGraphicFramePr>
        <p:xfrm>
          <a:off x="1158829" y="33051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624700"/>
                <a:gridCol w="624700"/>
                <a:gridCol w="624700"/>
                <a:gridCol w="6247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8" name="Google Shape;188;p10"/>
          <p:cNvGraphicFramePr/>
          <p:nvPr/>
        </p:nvGraphicFramePr>
        <p:xfrm>
          <a:off x="4750169" y="33039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624700"/>
                <a:gridCol w="624700"/>
                <a:gridCol w="624700"/>
                <a:gridCol w="6247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9" name="Google Shape;189;p10"/>
          <p:cNvGraphicFramePr/>
          <p:nvPr/>
        </p:nvGraphicFramePr>
        <p:xfrm>
          <a:off x="704094" y="53764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253575"/>
              </a:tblGrid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0" name="Google Shape;190;p10"/>
          <p:cNvGraphicFramePr/>
          <p:nvPr/>
        </p:nvGraphicFramePr>
        <p:xfrm>
          <a:off x="1158829" y="53764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1" name="Google Shape;191;p10"/>
          <p:cNvGraphicFramePr/>
          <p:nvPr/>
        </p:nvGraphicFramePr>
        <p:xfrm>
          <a:off x="2211069" y="53764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2" name="Google Shape;192;p10"/>
          <p:cNvGraphicFramePr/>
          <p:nvPr/>
        </p:nvGraphicFramePr>
        <p:xfrm>
          <a:off x="1158829" y="5896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3" name="Google Shape;193;p10"/>
          <p:cNvGraphicFramePr/>
          <p:nvPr/>
        </p:nvGraphicFramePr>
        <p:xfrm>
          <a:off x="1158829" y="63287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4" name="Google Shape;194;p10"/>
          <p:cNvGraphicFramePr/>
          <p:nvPr/>
        </p:nvGraphicFramePr>
        <p:xfrm>
          <a:off x="1160008" y="6737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5" name="Google Shape;195;p10"/>
          <p:cNvGraphicFramePr/>
          <p:nvPr/>
        </p:nvGraphicFramePr>
        <p:xfrm>
          <a:off x="2131301" y="6737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6" name="Google Shape;196;p10"/>
          <p:cNvGraphicFramePr/>
          <p:nvPr/>
        </p:nvGraphicFramePr>
        <p:xfrm>
          <a:off x="4642273" y="5403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253575"/>
              </a:tblGrid>
              <a:tr h="42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7" name="Google Shape;197;p10"/>
          <p:cNvGraphicFramePr/>
          <p:nvPr/>
        </p:nvGraphicFramePr>
        <p:xfrm>
          <a:off x="5095829" y="5459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8" name="Google Shape;198;p10"/>
          <p:cNvGraphicFramePr/>
          <p:nvPr/>
        </p:nvGraphicFramePr>
        <p:xfrm>
          <a:off x="5095829" y="5921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9" name="Google Shape;199;p10"/>
          <p:cNvGraphicFramePr/>
          <p:nvPr/>
        </p:nvGraphicFramePr>
        <p:xfrm>
          <a:off x="5095829" y="6357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0" name="Google Shape;200;p10"/>
          <p:cNvGraphicFramePr/>
          <p:nvPr/>
        </p:nvGraphicFramePr>
        <p:xfrm>
          <a:off x="5097008" y="67925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1" name="Google Shape;201;p10"/>
          <p:cNvGraphicFramePr/>
          <p:nvPr/>
        </p:nvGraphicFramePr>
        <p:xfrm>
          <a:off x="6068301" y="6357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2" name="Google Shape;202;p10"/>
          <p:cNvGraphicFramePr/>
          <p:nvPr/>
        </p:nvGraphicFramePr>
        <p:xfrm>
          <a:off x="7771644" y="53423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253575"/>
              </a:tblGrid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3" name="Google Shape;203;p10"/>
          <p:cNvGraphicFramePr/>
          <p:nvPr/>
        </p:nvGraphicFramePr>
        <p:xfrm>
          <a:off x="6134084" y="54530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4" name="Google Shape;204;p10"/>
          <p:cNvGraphicFramePr/>
          <p:nvPr/>
        </p:nvGraphicFramePr>
        <p:xfrm>
          <a:off x="8224695" y="53444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5" name="Google Shape;205;p10"/>
          <p:cNvGraphicFramePr/>
          <p:nvPr/>
        </p:nvGraphicFramePr>
        <p:xfrm>
          <a:off x="9196919" y="53444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6" name="Google Shape;206;p10"/>
          <p:cNvGraphicFramePr/>
          <p:nvPr/>
        </p:nvGraphicFramePr>
        <p:xfrm>
          <a:off x="10129701" y="53423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7" name="Google Shape;207;p10"/>
          <p:cNvGraphicFramePr/>
          <p:nvPr/>
        </p:nvGraphicFramePr>
        <p:xfrm>
          <a:off x="8211738" y="57690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8" name="Google Shape;208;p10"/>
          <p:cNvGraphicFramePr/>
          <p:nvPr/>
        </p:nvGraphicFramePr>
        <p:xfrm>
          <a:off x="9217327" y="5768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9" name="Google Shape;209;p10"/>
          <p:cNvGraphicFramePr/>
          <p:nvPr/>
        </p:nvGraphicFramePr>
        <p:xfrm>
          <a:off x="8207112" y="6226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0" name="Google Shape;210;p10"/>
          <p:cNvGraphicFramePr/>
          <p:nvPr/>
        </p:nvGraphicFramePr>
        <p:xfrm>
          <a:off x="9196919" y="6226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1" name="Google Shape;211;p10"/>
          <p:cNvGraphicFramePr/>
          <p:nvPr/>
        </p:nvGraphicFramePr>
        <p:xfrm>
          <a:off x="10129701" y="62308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2" name="Google Shape;212;p10"/>
          <p:cNvGraphicFramePr/>
          <p:nvPr/>
        </p:nvGraphicFramePr>
        <p:xfrm>
          <a:off x="8207112" y="66878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3" name="Google Shape;213;p10"/>
          <p:cNvGraphicFramePr/>
          <p:nvPr/>
        </p:nvGraphicFramePr>
        <p:xfrm>
          <a:off x="9196919" y="66878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{D784068F-6B91-4BE0-AA45-7CF7F89FFB6F}</a:tableStyleId>
              </a:tblPr>
              <a:tblGrid>
                <a:gridCol w="385650"/>
                <a:gridCol w="385650"/>
              </a:tblGrid>
              <a:tr h="2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0825" y="4090175"/>
            <a:ext cx="6667500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 txBox="1"/>
          <p:nvPr>
            <p:ph type="title"/>
          </p:nvPr>
        </p:nvSpPr>
        <p:spPr>
          <a:xfrm>
            <a:off x="702538" y="703688"/>
            <a:ext cx="15335787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(representación enlazada)</a:t>
            </a:r>
            <a:endParaRPr b="1"/>
          </a:p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838925" y="3411700"/>
            <a:ext cx="8254800" cy="53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utilizan tres tipos de nodos: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Detalle (opcional)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Cabecera 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Elemento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nodo detalle suele contener la cantidad de filas y columnas de la matriz, y punteros hacia abajo y al siguiente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Las cabeceras tienen su posición en la fila o columna y un puntero hacia abajo y al siguiente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elemento contiene la posición, su valor no nulo y un putero hacia abajo y al siguiente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cxnSp>
        <p:nvCxnSpPr>
          <p:cNvPr id="222" name="Google Shape;222;p11"/>
          <p:cNvCxnSpPr/>
          <p:nvPr/>
        </p:nvCxnSpPr>
        <p:spPr>
          <a:xfrm flipH="1">
            <a:off x="9863100" y="4734800"/>
            <a:ext cx="13500" cy="271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0450" y="3538888"/>
            <a:ext cx="7751876" cy="448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 txBox="1"/>
          <p:nvPr>
            <p:ph type="title"/>
          </p:nvPr>
        </p:nvSpPr>
        <p:spPr>
          <a:xfrm>
            <a:off x="495666" y="903795"/>
            <a:ext cx="15264667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(representación enlazada)</a:t>
            </a:r>
            <a:endParaRPr b="1"/>
          </a:p>
        </p:txBody>
      </p:sp>
      <p:sp>
        <p:nvSpPr>
          <p:cNvPr id="230" name="Google Shape;230;p12"/>
          <p:cNvSpPr txBox="1"/>
          <p:nvPr>
            <p:ph idx="1" type="body"/>
          </p:nvPr>
        </p:nvSpPr>
        <p:spPr>
          <a:xfrm>
            <a:off x="486806" y="3879291"/>
            <a:ext cx="3665100" cy="53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template &lt;class T&gt;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class Node {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public: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T data;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int pos_row;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int pos_col;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Node&lt;T&gt;* next_row;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Node&lt;T&gt;* next_col;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};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</p:txBody>
      </p:sp>
      <p:sp>
        <p:nvSpPr>
          <p:cNvPr id="231" name="Google Shape;231;p12"/>
          <p:cNvSpPr txBox="1"/>
          <p:nvPr>
            <p:ph idx="1" type="body"/>
          </p:nvPr>
        </p:nvSpPr>
        <p:spPr>
          <a:xfrm>
            <a:off x="4072391" y="3938516"/>
            <a:ext cx="4664104" cy="48723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template &lt;class T&gt;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class SparseMatrix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private: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 vector&lt;Node&lt;T&gt;*&gt; rows;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 vector&lt;Node&lt;T&gt;*&gt; cols;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 int n_cols;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              int n_rows;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};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386445" y="3150659"/>
            <a:ext cx="12388703" cy="2261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Implementación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686532" y="795128"/>
            <a:ext cx="15315467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Matrices dispersas (representación enlazada)</a:t>
            </a:r>
            <a:endParaRPr b="1"/>
          </a:p>
        </p:txBody>
      </p:sp>
      <p:sp>
        <p:nvSpPr>
          <p:cNvPr id="239" name="Google Shape;239;p13"/>
          <p:cNvSpPr txBox="1"/>
          <p:nvPr>
            <p:ph idx="1" type="body"/>
          </p:nvPr>
        </p:nvSpPr>
        <p:spPr>
          <a:xfrm>
            <a:off x="507589" y="3900155"/>
            <a:ext cx="8010600" cy="43417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Insertar, eliminar y buscar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Obtener valor con sobrecarga de (i, j)</a:t>
            </a:r>
            <a:endParaRPr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Comparar dos matrices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Suma y restar de matrices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Transpuesta de una matriz</a:t>
            </a:r>
            <a:endParaRPr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Multiplicar de dos matrices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Constructor y destructor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0450" y="3538888"/>
            <a:ext cx="7751876" cy="448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 txBox="1"/>
          <p:nvPr/>
        </p:nvSpPr>
        <p:spPr>
          <a:xfrm>
            <a:off x="613674" y="3306050"/>
            <a:ext cx="12388703" cy="5941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Diseñar el seudocódigo para las siguientes operaciones: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/>
        </p:nvSpPr>
        <p:spPr>
          <a:xfrm>
            <a:off x="1076825" y="1353625"/>
            <a:ext cx="14487900" cy="70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</a:t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