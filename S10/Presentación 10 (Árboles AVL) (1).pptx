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9144000" cx="16256000"/>
  <p:notesSz cx="16256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Tahoma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6" roundtripDataSignature="AMtx7mipTNsvNNM9JoQ4/sXD6L4k+nA2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7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-italic.fntdata"/><Relationship Id="rId13" Type="http://schemas.openxmlformats.org/officeDocument/2006/relationships/slide" Target="slides/slide9.xml"/><Relationship Id="rId35" Type="http://schemas.openxmlformats.org/officeDocument/2006/relationships/font" Target="fonts/Tahoma-bold.fntdata"/><Relationship Id="rId12" Type="http://schemas.openxmlformats.org/officeDocument/2006/relationships/slide" Target="slides/slide8.xml"/><Relationship Id="rId34" Type="http://schemas.openxmlformats.org/officeDocument/2006/relationships/font" Target="fonts/Tahoma-regular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7043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9207500" y="0"/>
            <a:ext cx="70453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7043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9207500" y="8685213"/>
            <a:ext cx="70453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P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geeksforgeeks.org/avl-tree-set-2-deletion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geeksforgeeks.org/avl-tree-set-2-deletion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PE"/>
              <a:t>Explicar casos de doble rotación: </a:t>
            </a:r>
            <a:r>
              <a:rPr lang="es-PE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https://www.geeksforgeeks.org/avl-tree-set-2-deletion/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https://programmingpraxis.com/2011/11/25/avl-trees/</a:t>
            </a:r>
            <a:endParaRPr/>
          </a:p>
        </p:txBody>
      </p:sp>
      <p:sp>
        <p:nvSpPr>
          <p:cNvPr id="197" name="Google Shape;197;p11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2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10" name="Google Shape;310;p12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3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https://programmingpraxis.com/2011/11/25/avl-trees/</a:t>
            </a:r>
            <a:endParaRPr/>
          </a:p>
        </p:txBody>
      </p:sp>
      <p:sp>
        <p:nvSpPr>
          <p:cNvPr id="320" name="Google Shape;320;p13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4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https://programmingpraxis.com/2011/11/25/avl-trees/</a:t>
            </a:r>
            <a:endParaRPr/>
          </a:p>
        </p:txBody>
      </p:sp>
      <p:sp>
        <p:nvSpPr>
          <p:cNvPr id="355" name="Google Shape;355;p14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5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https://programmingpraxis.com/2011/11/25/avl-trees/</a:t>
            </a:r>
            <a:endParaRPr/>
          </a:p>
        </p:txBody>
      </p:sp>
      <p:sp>
        <p:nvSpPr>
          <p:cNvPr id="390" name="Google Shape;390;p15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6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6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https://programmingpraxis.com/2011/11/25/avl-trees/</a:t>
            </a:r>
            <a:endParaRPr/>
          </a:p>
        </p:txBody>
      </p:sp>
      <p:sp>
        <p:nvSpPr>
          <p:cNvPr id="425" name="Google Shape;425;p16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7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17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https://programmingpraxis.com/2011/11/25/avl-trees/</a:t>
            </a:r>
            <a:endParaRPr/>
          </a:p>
        </p:txBody>
      </p:sp>
      <p:sp>
        <p:nvSpPr>
          <p:cNvPr id="460" name="Google Shape;460;p17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8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8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9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19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76" name="Google Shape;476;p19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0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20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84" name="Google Shape;484;p20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1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21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05" name="Google Shape;505;p21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2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22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Comparen los tiempos con los algoritmos conocidos de ordenamiento</a:t>
            </a:r>
            <a:endParaRPr/>
          </a:p>
        </p:txBody>
      </p:sp>
      <p:sp>
        <p:nvSpPr>
          <p:cNvPr id="553" name="Google Shape;553;p22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3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23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Comparen los tiempos con los algoritmos conocidos de ordenamiento</a:t>
            </a:r>
            <a:endParaRPr/>
          </a:p>
        </p:txBody>
      </p:sp>
      <p:sp>
        <p:nvSpPr>
          <p:cNvPr id="561" name="Google Shape;561;p23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4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24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/>
              <a:t>Comparen los tiempos con los algoritmos conocidos de ordenamiento</a:t>
            </a:r>
            <a:endParaRPr/>
          </a:p>
        </p:txBody>
      </p:sp>
      <p:sp>
        <p:nvSpPr>
          <p:cNvPr id="569" name="Google Shape;569;p24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5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PE"/>
              <a:t>Explicar casos de doble rotación: </a:t>
            </a:r>
            <a:r>
              <a:rPr lang="es-PE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https://www.geeksforgeeks.org/avl-tree-set-2-deletion/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7"/>
          <p:cNvSpPr txBox="1"/>
          <p:nvPr>
            <p:ph idx="11" type="ftr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7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/>
          <p:nvPr/>
        </p:nvSpPr>
        <p:spPr>
          <a:xfrm flipH="1" rot="10800000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8"/>
          <p:cNvSpPr/>
          <p:nvPr/>
        </p:nvSpPr>
        <p:spPr>
          <a:xfrm>
            <a:off x="0" y="2997333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8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28"/>
          <p:cNvSpPr txBox="1"/>
          <p:nvPr>
            <p:ph idx="1" type="body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9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29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ítulo 1">
  <p:cSld name="Solo título 1"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/>
          <p:nvPr>
            <p:ph type="title"/>
          </p:nvPr>
        </p:nvSpPr>
        <p:spPr>
          <a:xfrm>
            <a:off x="812800" y="0"/>
            <a:ext cx="15172201" cy="10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2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0" name="Google Shape;30;p30"/>
          <p:cNvSpPr txBox="1"/>
          <p:nvPr>
            <p:ph idx="1" type="body"/>
          </p:nvPr>
        </p:nvSpPr>
        <p:spPr>
          <a:xfrm>
            <a:off x="2102554" y="2690282"/>
            <a:ext cx="13795200" cy="5469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558800" lvl="0" marL="457200" marR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●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520700" lvl="1" marL="914400" marR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Roboto"/>
              <a:buChar char="○"/>
              <a:defRPr b="0" i="0" sz="4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476250" lvl="2" marL="13716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900"/>
              <a:buFont typeface="Roboto"/>
              <a:buChar char="■"/>
              <a:defRPr b="0" i="0" sz="3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438150" lvl="3" marL="1828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Roboto"/>
              <a:buChar char="●"/>
              <a:defRPr b="0" i="0" sz="33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438150" lvl="4" marL="22860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Roboto"/>
              <a:buChar char="○"/>
              <a:defRPr b="0" i="0" sz="33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558800" lvl="5" marL="2743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■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558800" lvl="6" marL="3200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●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558800" lvl="7" marL="3657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○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558800" lvl="8" marL="4114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■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1" name="Google Shape;31;p30"/>
          <p:cNvSpPr txBox="1"/>
          <p:nvPr>
            <p:ph idx="10" type="dt"/>
          </p:nvPr>
        </p:nvSpPr>
        <p:spPr>
          <a:xfrm>
            <a:off x="2065866" y="8322733"/>
            <a:ext cx="3364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0"/>
          <p:cNvSpPr txBox="1"/>
          <p:nvPr>
            <p:ph idx="11" type="ftr"/>
          </p:nvPr>
        </p:nvSpPr>
        <p:spPr>
          <a:xfrm>
            <a:off x="6502400" y="8322733"/>
            <a:ext cx="5125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0"/>
          <p:cNvSpPr txBox="1"/>
          <p:nvPr>
            <p:ph idx="12" type="sldNum"/>
          </p:nvPr>
        </p:nvSpPr>
        <p:spPr>
          <a:xfrm>
            <a:off x="12519377" y="8322733"/>
            <a:ext cx="3364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1"/>
          <p:cNvSpPr txBox="1"/>
          <p:nvPr>
            <p:ph type="ctrTitle"/>
          </p:nvPr>
        </p:nvSpPr>
        <p:spPr>
          <a:xfrm>
            <a:off x="4762500" y="2159000"/>
            <a:ext cx="67311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" name="Google Shape;36;p31"/>
          <p:cNvSpPr txBox="1"/>
          <p:nvPr>
            <p:ph idx="1" type="subTitle"/>
          </p:nvPr>
        </p:nvSpPr>
        <p:spPr>
          <a:xfrm>
            <a:off x="2438400" y="5120639"/>
            <a:ext cx="11379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31"/>
          <p:cNvSpPr txBox="1"/>
          <p:nvPr>
            <p:ph idx="11" type="ftr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31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812800" y="2103119"/>
            <a:ext cx="14630400" cy="6035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32"/>
          <p:cNvSpPr txBox="1"/>
          <p:nvPr>
            <p:ph idx="11" type="ftr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32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32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3"/>
          <p:cNvSpPr/>
          <p:nvPr/>
        </p:nvSpPr>
        <p:spPr>
          <a:xfrm flipH="1">
            <a:off x="14660300" y="7548311"/>
            <a:ext cx="1595700" cy="1595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3"/>
          <p:cNvSpPr/>
          <p:nvPr/>
        </p:nvSpPr>
        <p:spPr>
          <a:xfrm flipH="1">
            <a:off x="14660300" y="7548222"/>
            <a:ext cx="1595700" cy="1595700"/>
          </a:xfrm>
          <a:prstGeom prst="round1Rect">
            <a:avLst>
              <a:gd fmla="val 16667" name="adj"/>
            </a:avLst>
          </a:prstGeom>
          <a:solidFill>
            <a:schemeClr val="lt1">
              <a:alpha val="67450"/>
            </a:schemeClr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3"/>
          <p:cNvSpPr txBox="1"/>
          <p:nvPr>
            <p:ph type="ctrTitle"/>
          </p:nvPr>
        </p:nvSpPr>
        <p:spPr>
          <a:xfrm>
            <a:off x="694266" y="3234266"/>
            <a:ext cx="14617199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8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" name="Google Shape;50;p33"/>
          <p:cNvSpPr txBox="1"/>
          <p:nvPr>
            <p:ph idx="1" type="subTitle"/>
          </p:nvPr>
        </p:nvSpPr>
        <p:spPr>
          <a:xfrm>
            <a:off x="694266" y="4958453"/>
            <a:ext cx="14617199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1" name="Google Shape;51;p33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4"/>
          <p:cNvSpPr txBox="1"/>
          <p:nvPr>
            <p:ph type="title"/>
          </p:nvPr>
        </p:nvSpPr>
        <p:spPr>
          <a:xfrm>
            <a:off x="819466" y="3671733"/>
            <a:ext cx="14617199" cy="18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" name="Google Shape;54;p34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5"/>
          <p:cNvSpPr/>
          <p:nvPr/>
        </p:nvSpPr>
        <p:spPr>
          <a:xfrm flipH="1" rot="10800000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5"/>
          <p:cNvSpPr/>
          <p:nvPr/>
        </p:nvSpPr>
        <p:spPr>
          <a:xfrm>
            <a:off x="0" y="2997333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5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" name="Google Shape;59;p35"/>
          <p:cNvSpPr txBox="1"/>
          <p:nvPr>
            <p:ph idx="1" type="body"/>
          </p:nvPr>
        </p:nvSpPr>
        <p:spPr>
          <a:xfrm>
            <a:off x="8389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73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19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19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19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19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19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19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19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" name="Google Shape;60;p35"/>
          <p:cNvSpPr txBox="1"/>
          <p:nvPr>
            <p:ph idx="2" type="body"/>
          </p:nvPr>
        </p:nvSpPr>
        <p:spPr>
          <a:xfrm>
            <a:off x="83453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73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19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19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19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19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19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19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19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1" name="Google Shape;61;p35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6"/>
          <p:cNvSpPr/>
          <p:nvPr/>
        </p:nvSpPr>
        <p:spPr>
          <a:xfrm flipH="1" rot="10800000">
            <a:off x="0" y="1167000"/>
            <a:ext cx="16256101" cy="797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6"/>
          <p:cNvSpPr/>
          <p:nvPr/>
        </p:nvSpPr>
        <p:spPr>
          <a:xfrm>
            <a:off x="0" y="1166844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6"/>
          <p:cNvSpPr txBox="1"/>
          <p:nvPr>
            <p:ph type="title"/>
          </p:nvPr>
        </p:nvSpPr>
        <p:spPr>
          <a:xfrm>
            <a:off x="174666" y="29066"/>
            <a:ext cx="156918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6" name="Google Shape;66;p36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7"/>
          <p:cNvSpPr txBox="1"/>
          <p:nvPr/>
        </p:nvSpPr>
        <p:spPr>
          <a:xfrm flipH="1" rot="10800000">
            <a:off x="5825066" y="43"/>
            <a:ext cx="10430999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7"/>
          <p:cNvSpPr/>
          <p:nvPr/>
        </p:nvSpPr>
        <p:spPr>
          <a:xfrm rot="-5400000">
            <a:off x="1349666" y="4475400"/>
            <a:ext cx="9144000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7"/>
          <p:cNvSpPr txBox="1"/>
          <p:nvPr>
            <p:ph type="title"/>
          </p:nvPr>
        </p:nvSpPr>
        <p:spPr>
          <a:xfrm>
            <a:off x="401915" y="636088"/>
            <a:ext cx="4992000" cy="169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1" name="Google Shape;71;p37"/>
          <p:cNvSpPr txBox="1"/>
          <p:nvPr>
            <p:ph idx="1" type="body"/>
          </p:nvPr>
        </p:nvSpPr>
        <p:spPr>
          <a:xfrm>
            <a:off x="401911" y="2605866"/>
            <a:ext cx="4992000" cy="56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19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19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19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19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19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19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19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19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37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/>
          <p:nvPr>
            <p:ph type="title"/>
          </p:nvPr>
        </p:nvSpPr>
        <p:spPr>
          <a:xfrm>
            <a:off x="871555" y="868000"/>
            <a:ext cx="110703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0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5" name="Google Shape;75;p38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9"/>
          <p:cNvSpPr/>
          <p:nvPr/>
        </p:nvSpPr>
        <p:spPr>
          <a:xfrm flipH="1">
            <a:off x="100" y="0"/>
            <a:ext cx="8127900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9"/>
          <p:cNvSpPr/>
          <p:nvPr/>
        </p:nvSpPr>
        <p:spPr>
          <a:xfrm rot="5400000">
            <a:off x="3460311" y="4475866"/>
            <a:ext cx="9142800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9"/>
          <p:cNvSpPr txBox="1"/>
          <p:nvPr>
            <p:ph type="title"/>
          </p:nvPr>
        </p:nvSpPr>
        <p:spPr>
          <a:xfrm>
            <a:off x="472000" y="2192311"/>
            <a:ext cx="7191600" cy="26351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b="0" i="0" sz="7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0" name="Google Shape;80;p39"/>
          <p:cNvSpPr txBox="1"/>
          <p:nvPr>
            <p:ph idx="1" type="subTitle"/>
          </p:nvPr>
        </p:nvSpPr>
        <p:spPr>
          <a:xfrm>
            <a:off x="472000" y="4941274"/>
            <a:ext cx="7191600" cy="2195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37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" name="Google Shape;81;p39"/>
          <p:cNvSpPr txBox="1"/>
          <p:nvPr>
            <p:ph idx="2" type="body"/>
          </p:nvPr>
        </p:nvSpPr>
        <p:spPr>
          <a:xfrm>
            <a:off x="8781333" y="1287466"/>
            <a:ext cx="6821400" cy="6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39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0"/>
          <p:cNvSpPr txBox="1"/>
          <p:nvPr/>
        </p:nvSpPr>
        <p:spPr>
          <a:xfrm flipH="1" rot="10800000">
            <a:off x="0" y="-133"/>
            <a:ext cx="16256101" cy="834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0"/>
          <p:cNvSpPr/>
          <p:nvPr/>
        </p:nvSpPr>
        <p:spPr>
          <a:xfrm flipH="1" rot="10800000">
            <a:off x="0" y="8218211"/>
            <a:ext cx="16256101" cy="1317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0"/>
          <p:cNvSpPr txBox="1"/>
          <p:nvPr>
            <p:ph idx="1" type="body"/>
          </p:nvPr>
        </p:nvSpPr>
        <p:spPr>
          <a:xfrm>
            <a:off x="101600" y="8349911"/>
            <a:ext cx="14901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7" name="Google Shape;87;p40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bg>
      <p:bgPr>
        <a:solidFill>
          <a:schemeClr val="accent4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1"/>
          <p:cNvSpPr txBox="1"/>
          <p:nvPr>
            <p:ph type="title"/>
          </p:nvPr>
        </p:nvSpPr>
        <p:spPr>
          <a:xfrm>
            <a:off x="845333" y="2237377"/>
            <a:ext cx="14617199" cy="34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b="0" i="0" sz="2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0" name="Google Shape;90;p41"/>
          <p:cNvSpPr txBox="1"/>
          <p:nvPr>
            <p:ph idx="1" type="body"/>
          </p:nvPr>
        </p:nvSpPr>
        <p:spPr>
          <a:xfrm>
            <a:off x="845333" y="5874888"/>
            <a:ext cx="14617199" cy="2312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ctr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1" name="Google Shape;91;p41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2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8.gif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 txBox="1"/>
          <p:nvPr/>
        </p:nvSpPr>
        <p:spPr>
          <a:xfrm>
            <a:off x="1076825" y="660450"/>
            <a:ext cx="14487900" cy="80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Welcome to </a:t>
            </a:r>
            <a:b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Algorithms and Data Structures! - CS2100  </a:t>
            </a:r>
            <a:endParaRPr b="1" i="0" sz="6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1313" y="0"/>
            <a:ext cx="3114600" cy="14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 Binario de Búsqueda</a:t>
            </a:r>
            <a:endParaRPr b="1"/>
          </a:p>
        </p:txBody>
      </p:sp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Los árboles binarios de búsqueda (BST) permiten tiempos muy eficientes en sus funciones como: búsqueda, inserción y remover.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En todos los casos promedios O(log n). Y ocupan un espacio de O(n)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¿Cuál es el problema de los BST? 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El problema está en que deben estar balanceados, sino podrían caer en los peores casos O(n)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¿Cómo solucionarían su desbalance?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27773" y="3472024"/>
            <a:ext cx="5311525" cy="469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 AVL: BST Balanceado</a:t>
            </a:r>
            <a:endParaRPr b="1"/>
          </a:p>
        </p:txBody>
      </p:sp>
      <p:sp>
        <p:nvSpPr>
          <p:cNvPr id="114" name="Google Shape;114;p3"/>
          <p:cNvSpPr txBox="1"/>
          <p:nvPr>
            <p:ph idx="1" type="body"/>
          </p:nvPr>
        </p:nvSpPr>
        <p:spPr>
          <a:xfrm>
            <a:off x="838925" y="3411700"/>
            <a:ext cx="79146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Es el primer árbol binario auto balanceado que se inventó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Ocupa un espacio de O(n), y tanto su búsqueda, inserción y borrado toman O(log n) en su caso promedio y peor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Son árboles similares a los </a:t>
            </a:r>
            <a:r>
              <a:rPr i="1" lang="es-PE" sz="2400">
                <a:solidFill>
                  <a:srgbClr val="000000"/>
                </a:solidFill>
              </a:rPr>
              <a:t>red-black</a:t>
            </a:r>
            <a:r>
              <a:rPr lang="es-PE" sz="2400">
                <a:solidFill>
                  <a:srgbClr val="000000"/>
                </a:solidFill>
              </a:rPr>
              <a:t>, ya que soportan el mismo conjunto de operaciones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Las búsquedas en un árbol AVL se realizan de la misma manera que en un BST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8325" y="3893968"/>
            <a:ext cx="6622300" cy="385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 AVL</a:t>
            </a:r>
            <a:endParaRPr b="1"/>
          </a:p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575375" y="3519985"/>
            <a:ext cx="876113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En el árbol AVL las alturas de los sub-árboles de cada nodo difieren por un máximo de uno.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Altura(H): </a:t>
            </a:r>
            <a:r>
              <a:rPr lang="es-PE" sz="2400">
                <a:solidFill>
                  <a:srgbClr val="000000"/>
                </a:solidFill>
              </a:rPr>
              <a:t>Para un árbol T con v como su raíz. La altura es la longitud de la ruta más larga de v a una hoja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Entonces, para todo nodo </a:t>
            </a:r>
            <a:r>
              <a:rPr b="1" i="1" lang="es-PE" sz="2400">
                <a:solidFill>
                  <a:srgbClr val="000000"/>
                </a:solidFill>
              </a:rPr>
              <a:t>u</a:t>
            </a:r>
            <a:r>
              <a:rPr lang="es-PE" sz="2400">
                <a:solidFill>
                  <a:srgbClr val="000000"/>
                </a:solidFill>
              </a:rPr>
              <a:t> su </a:t>
            </a:r>
            <a:r>
              <a:rPr b="1" lang="es-PE" sz="2400">
                <a:solidFill>
                  <a:srgbClr val="000000"/>
                </a:solidFill>
              </a:rPr>
              <a:t>factor de balanceo (hb) </a:t>
            </a:r>
            <a:r>
              <a:rPr lang="es-PE" sz="2400">
                <a:solidFill>
                  <a:srgbClr val="000000"/>
                </a:solidFill>
              </a:rPr>
              <a:t>se define:</a:t>
            </a:r>
            <a:r>
              <a:rPr b="1" lang="es-PE" sz="2400">
                <a:solidFill>
                  <a:srgbClr val="000000"/>
                </a:solidFill>
              </a:rPr>
              <a:t>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s-PE" sz="2400">
                <a:solidFill>
                  <a:srgbClr val="000000"/>
                </a:solidFill>
              </a:rPr>
              <a:t>hb(u) = H(Left(u)) - H(Right(u))</a:t>
            </a:r>
            <a:endParaRPr i="1" sz="2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i="1" sz="2400">
              <a:solidFill>
                <a:srgbClr val="000000"/>
              </a:solidFill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8325" y="3893968"/>
            <a:ext cx="6622300" cy="385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682792" y="8232685"/>
            <a:ext cx="141882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donde los resultados deben ser {</a:t>
            </a: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0:</a:t>
            </a: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balanceado, </a:t>
            </a: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+1</a:t>
            </a: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cargado a la izquierda, </a:t>
            </a: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-1</a:t>
            </a: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cargado a la derecha}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 AVL (calcule el factor de equilibrio)</a:t>
            </a:r>
            <a:endParaRPr b="1"/>
          </a:p>
        </p:txBody>
      </p:sp>
      <p:sp>
        <p:nvSpPr>
          <p:cNvPr id="131" name="Google Shape;131;p5"/>
          <p:cNvSpPr txBox="1"/>
          <p:nvPr/>
        </p:nvSpPr>
        <p:spPr>
          <a:xfrm>
            <a:off x="718887" y="3287144"/>
            <a:ext cx="6493571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Inserta los siguientes elementos y calcular el balanceo de cada nodo: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57, 35, 92, 64, 44, 77, 13, 68, 87, 13, 88, 90, 7, 23, 24, 14 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263804" y="7974112"/>
            <a:ext cx="8128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hb(u) = H(Left(u)) - H(Right(u))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 AVL (calcule el factor de equilibrio)</a:t>
            </a:r>
            <a:endParaRPr b="1"/>
          </a:p>
        </p:txBody>
      </p:sp>
      <p:sp>
        <p:nvSpPr>
          <p:cNvPr id="139" name="Google Shape;139;p6"/>
          <p:cNvSpPr txBox="1"/>
          <p:nvPr/>
        </p:nvSpPr>
        <p:spPr>
          <a:xfrm>
            <a:off x="718887" y="3287144"/>
            <a:ext cx="6493571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Inserta los siguientes elementos y calcular el balanceo de cada nodo: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57, 35, 92, 64, 44, 77, 13, 68, 87, 13, 88, 90, 7, 23, 24, 14 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263804" y="7974112"/>
            <a:ext cx="8128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hb(u) = H(Left(u)) - H(Right(u))</a:t>
            </a:r>
            <a:endParaRPr/>
          </a:p>
        </p:txBody>
      </p:sp>
      <p:pic>
        <p:nvPicPr>
          <p:cNvPr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2175" y="3066202"/>
            <a:ext cx="7763958" cy="607779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14935200" y="8188960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0 (0)</a:t>
            </a:r>
            <a:endParaRPr b="0" i="0" sz="1800" u="none" cap="none" strike="noStrike">
              <a:solidFill>
                <a:srgbClr val="083C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14254480" y="7461380"/>
            <a:ext cx="7360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1 (-1)</a:t>
            </a:r>
            <a:endParaRPr b="0" i="0" sz="1800" u="none" cap="none" strike="noStrike">
              <a:solidFill>
                <a:srgbClr val="083C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13441680" y="6546980"/>
            <a:ext cx="7360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 (-2)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12760960" y="5642740"/>
            <a:ext cx="7360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 (-2)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11740133" y="6544332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0 (0)</a:t>
            </a:r>
            <a:endParaRPr b="0" i="0" sz="1800" u="none" cap="none" strike="noStrike">
              <a:solidFill>
                <a:srgbClr val="083C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11658853" y="4711092"/>
            <a:ext cx="7360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 (-4)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12859732" y="3800473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 (5)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11427227" y="3025538"/>
            <a:ext cx="7360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 (-2)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8897387" y="6913664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0(0)</a:t>
            </a:r>
            <a:endParaRPr b="0" i="0" sz="1800" u="none" cap="none" strike="noStrike">
              <a:solidFill>
                <a:srgbClr val="083C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9960746" y="6544332"/>
            <a:ext cx="6591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0 (0)</a:t>
            </a:r>
            <a:endParaRPr b="0" i="0" sz="1800" u="none" cap="none" strike="noStrike">
              <a:solidFill>
                <a:srgbClr val="083C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8235351" y="5735769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0(0)</a:t>
            </a:r>
            <a:endParaRPr b="0" i="0" sz="1800" u="none" cap="none" strike="noStrike">
              <a:solidFill>
                <a:srgbClr val="083C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9270031" y="5458074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1(0)</a:t>
            </a:r>
            <a:endParaRPr b="0" i="0" sz="1800" u="none" cap="none" strike="noStrike">
              <a:solidFill>
                <a:srgbClr val="083C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8337039" y="4546999"/>
            <a:ext cx="671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2(-1)</a:t>
            </a:r>
            <a:endParaRPr b="0" i="0" sz="1800" u="none" cap="none" strike="noStrike">
              <a:solidFill>
                <a:srgbClr val="083C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10195039" y="4731665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0(0)</a:t>
            </a:r>
            <a:endParaRPr b="0" i="0" sz="1800" u="none" cap="none" strike="noStrike">
              <a:solidFill>
                <a:srgbClr val="083C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9426484" y="3782287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3(2)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 AVL</a:t>
            </a:r>
            <a:endParaRPr b="1"/>
          </a:p>
        </p:txBody>
      </p:sp>
      <p:sp>
        <p:nvSpPr>
          <p:cNvPr id="163" name="Google Shape;163;p7"/>
          <p:cNvSpPr txBox="1"/>
          <p:nvPr>
            <p:ph idx="1" type="body"/>
          </p:nvPr>
        </p:nvSpPr>
        <p:spPr>
          <a:xfrm>
            <a:off x="838925" y="3411700"/>
            <a:ext cx="79146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Dado que el árbol AVL es un árbol binario, los nuevos elementos también se agregan como hojas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El nuevo nodo hoja actualizará los factores de equilibrio de los nodos en la ruta que tomó para su ingreso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Si el equilibrio cae fuera del rango aceptado, entonces es necesario volver a equilibrar el árbol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Existen tres casos posibles cuando se inserta un nuevo elemento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64" name="Google Shape;1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1997" y="4221719"/>
            <a:ext cx="6354875" cy="317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Inserción</a:t>
            </a:r>
            <a:endParaRPr b="1"/>
          </a:p>
        </p:txBody>
      </p:sp>
      <p:sp>
        <p:nvSpPr>
          <p:cNvPr id="171" name="Google Shape;171;p8"/>
          <p:cNvSpPr txBox="1"/>
          <p:nvPr>
            <p:ph idx="1" type="body"/>
          </p:nvPr>
        </p:nvSpPr>
        <p:spPr>
          <a:xfrm>
            <a:off x="838925" y="3411700"/>
            <a:ext cx="79146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Caso 1: </a:t>
            </a:r>
            <a:r>
              <a:rPr lang="es-PE" sz="2400">
                <a:solidFill>
                  <a:srgbClr val="000000"/>
                </a:solidFill>
              </a:rPr>
              <a:t>La altura del árbol se mantiene y basta con agregar el nuevo nodo</a:t>
            </a:r>
            <a:r>
              <a:rPr b="1" lang="es-PE" sz="2400">
                <a:solidFill>
                  <a:srgbClr val="000000"/>
                </a:solidFill>
              </a:rPr>
              <a:t> </a:t>
            </a:r>
            <a:endParaRPr b="1" sz="2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Caso 2: </a:t>
            </a:r>
            <a:r>
              <a:rPr lang="es-PE" sz="2400">
                <a:solidFill>
                  <a:srgbClr val="000000"/>
                </a:solidFill>
              </a:rPr>
              <a:t>Se necesita volver a equilibrar, por ello se realizan rotaciones simples o dobles</a:t>
            </a:r>
            <a:endParaRPr sz="2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Caso 3:</a:t>
            </a:r>
            <a:r>
              <a:rPr lang="es-PE" sz="2400">
                <a:solidFill>
                  <a:srgbClr val="000000"/>
                </a:solidFill>
              </a:rPr>
              <a:t>La altura del árbol crece, pero no hay necesidad de volver a equilibrar. Solo se actualizan las alturas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El peor caso del AVL tree, es cuando se requiere hacer rotaciones en todos los niveles hasta llegar al padre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72" name="Google Shape;1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0450" y="4169090"/>
            <a:ext cx="6512400" cy="3303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Rotaciones simples</a:t>
            </a:r>
            <a:endParaRPr b="1"/>
          </a:p>
        </p:txBody>
      </p:sp>
      <p:sp>
        <p:nvSpPr>
          <p:cNvPr id="179" name="Google Shape;179;p9"/>
          <p:cNvSpPr txBox="1"/>
          <p:nvPr>
            <p:ph idx="1" type="body"/>
          </p:nvPr>
        </p:nvSpPr>
        <p:spPr>
          <a:xfrm>
            <a:off x="838925" y="3411700"/>
            <a:ext cx="79146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Nos podemos dar cuenta que es una rotación simple si los valores de equilibrio del nuevo nodo con su padre tienen el mismo signo (e.g. +2, +1)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La rotación se hace a partir del nodo crítico, el cual es el que tiene el factor de equilibrio fuera del rango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Ejemplo, insertar: 75, 24, 10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Qué pasaría en el siguiente caso?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Insertar: 75, 24, 32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80" name="Google Shape;1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0125" y="4430831"/>
            <a:ext cx="6861625" cy="277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9"/>
          <p:cNvSpPr txBox="1"/>
          <p:nvPr/>
        </p:nvSpPr>
        <p:spPr>
          <a:xfrm>
            <a:off x="8980125" y="7645200"/>
            <a:ext cx="6861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PE" sz="3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xAyBz                  =               xAyBz</a:t>
            </a:r>
            <a:endParaRPr b="0"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Rotaciones dobles</a:t>
            </a:r>
            <a:endParaRPr b="1"/>
          </a:p>
        </p:txBody>
      </p:sp>
      <p:sp>
        <p:nvSpPr>
          <p:cNvPr id="188" name="Google Shape;188;p10"/>
          <p:cNvSpPr txBox="1"/>
          <p:nvPr>
            <p:ph idx="1" type="body"/>
          </p:nvPr>
        </p:nvSpPr>
        <p:spPr>
          <a:xfrm>
            <a:off x="838925" y="3411700"/>
            <a:ext cx="79146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Las rotaciones dobles son importantes en situaciones donde una rotación simple nos dejaría en el mismo problema (ver imagen)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En dicho caso se debe realizar primero una rotación contraria sobre el nodo hijo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En la imagen se debería hacer una rotación a la izquierda sobre el nodo 1 primero y después una rotación a la derecha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Esto sería una rotación izquierda derecha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89" name="Google Shape;1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5834" y="3835150"/>
            <a:ext cx="5690291" cy="397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0"/>
          <p:cNvSpPr txBox="1"/>
          <p:nvPr/>
        </p:nvSpPr>
        <p:spPr>
          <a:xfrm>
            <a:off x="10109771" y="6061753"/>
            <a:ext cx="367408" cy="33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1" i="0" sz="16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14772526" y="6061753"/>
            <a:ext cx="367408" cy="33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1" i="0" sz="16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11000198" y="4888787"/>
            <a:ext cx="367408" cy="33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13751960" y="4888787"/>
            <a:ext cx="418704" cy="33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+2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Rotaciones </a:t>
            </a:r>
            <a:endParaRPr b="1"/>
          </a:p>
        </p:txBody>
      </p:sp>
      <p:sp>
        <p:nvSpPr>
          <p:cNvPr id="200" name="Google Shape;200;p11"/>
          <p:cNvSpPr txBox="1"/>
          <p:nvPr/>
        </p:nvSpPr>
        <p:spPr>
          <a:xfrm>
            <a:off x="2619775" y="5449875"/>
            <a:ext cx="3438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Rotación a la derecha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1" name="Google Shape;201;p11"/>
          <p:cNvGrpSpPr/>
          <p:nvPr/>
        </p:nvGrpSpPr>
        <p:grpSpPr>
          <a:xfrm>
            <a:off x="522575" y="3234350"/>
            <a:ext cx="2747025" cy="2120550"/>
            <a:chOff x="10276175" y="3539150"/>
            <a:chExt cx="2747025" cy="2120550"/>
          </a:xfrm>
        </p:grpSpPr>
        <p:grpSp>
          <p:nvGrpSpPr>
            <p:cNvPr id="202" name="Google Shape;202;p11"/>
            <p:cNvGrpSpPr/>
            <p:nvPr/>
          </p:nvGrpSpPr>
          <p:grpSpPr>
            <a:xfrm>
              <a:off x="12393500" y="3539150"/>
              <a:ext cx="629700" cy="629750"/>
              <a:chOff x="11738575" y="3740675"/>
              <a:chExt cx="629700" cy="629750"/>
            </a:xfrm>
          </p:grpSpPr>
          <p:sp>
            <p:nvSpPr>
              <p:cNvPr id="203" name="Google Shape;203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1"/>
              <p:cNvSpPr txBox="1"/>
              <p:nvPr/>
            </p:nvSpPr>
            <p:spPr>
              <a:xfrm>
                <a:off x="11738575" y="374067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05" name="Google Shape;205;p11"/>
            <p:cNvGrpSpPr/>
            <p:nvPr/>
          </p:nvGrpSpPr>
          <p:grpSpPr>
            <a:xfrm>
              <a:off x="11236025" y="4168950"/>
              <a:ext cx="1472250" cy="717900"/>
              <a:chOff x="11236025" y="4168950"/>
              <a:chExt cx="1472250" cy="717900"/>
            </a:xfrm>
          </p:grpSpPr>
          <p:grpSp>
            <p:nvGrpSpPr>
              <p:cNvPr id="206" name="Google Shape;206;p11"/>
              <p:cNvGrpSpPr/>
              <p:nvPr/>
            </p:nvGrpSpPr>
            <p:grpSpPr>
              <a:xfrm>
                <a:off x="11236025" y="4257150"/>
                <a:ext cx="629700" cy="629700"/>
                <a:chOff x="11738575" y="3740725"/>
                <a:chExt cx="629700" cy="629700"/>
              </a:xfrm>
            </p:grpSpPr>
            <p:sp>
              <p:nvSpPr>
                <p:cNvPr id="207" name="Google Shape;207;p11"/>
                <p:cNvSpPr/>
                <p:nvPr/>
              </p:nvSpPr>
              <p:spPr>
                <a:xfrm>
                  <a:off x="11738575" y="3740725"/>
                  <a:ext cx="629700" cy="6297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" name="Google Shape;208;p11"/>
                <p:cNvSpPr txBox="1"/>
                <p:nvPr/>
              </p:nvSpPr>
              <p:spPr>
                <a:xfrm>
                  <a:off x="11738575" y="3740725"/>
                  <a:ext cx="629700" cy="629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s-PE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209" name="Google Shape;209;p11"/>
              <p:cNvCxnSpPr>
                <a:stCxn id="208" idx="0"/>
                <a:endCxn id="204" idx="2"/>
              </p:cNvCxnSpPr>
              <p:nvPr/>
            </p:nvCxnSpPr>
            <p:spPr>
              <a:xfrm flipH="1" rot="10800000">
                <a:off x="11550875" y="4168950"/>
                <a:ext cx="1157400" cy="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10" name="Google Shape;210;p11"/>
            <p:cNvGrpSpPr/>
            <p:nvPr/>
          </p:nvGrpSpPr>
          <p:grpSpPr>
            <a:xfrm>
              <a:off x="10276175" y="5029950"/>
              <a:ext cx="629700" cy="629750"/>
              <a:chOff x="11738575" y="3740675"/>
              <a:chExt cx="629700" cy="629750"/>
            </a:xfrm>
          </p:grpSpPr>
          <p:sp>
            <p:nvSpPr>
              <p:cNvPr id="211" name="Google Shape;211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1"/>
              <p:cNvSpPr txBox="1"/>
              <p:nvPr/>
            </p:nvSpPr>
            <p:spPr>
              <a:xfrm>
                <a:off x="11738575" y="374067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13" name="Google Shape;213;p11"/>
            <p:cNvCxnSpPr>
              <a:stCxn id="212" idx="0"/>
              <a:endCxn id="208" idx="2"/>
            </p:cNvCxnSpPr>
            <p:nvPr/>
          </p:nvCxnSpPr>
          <p:spPr>
            <a:xfrm flipH="1" rot="10800000">
              <a:off x="10591025" y="4886850"/>
              <a:ext cx="960000" cy="14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14" name="Google Shape;214;p11"/>
          <p:cNvCxnSpPr/>
          <p:nvPr/>
        </p:nvCxnSpPr>
        <p:spPr>
          <a:xfrm flipH="1" rot="10800000">
            <a:off x="3433400" y="4254600"/>
            <a:ext cx="1524000" cy="126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15" name="Google Shape;215;p11"/>
          <p:cNvGrpSpPr/>
          <p:nvPr/>
        </p:nvGrpSpPr>
        <p:grpSpPr>
          <a:xfrm>
            <a:off x="5167000" y="3660150"/>
            <a:ext cx="2595875" cy="1402550"/>
            <a:chOff x="5090800" y="4422150"/>
            <a:chExt cx="2595875" cy="1402550"/>
          </a:xfrm>
        </p:grpSpPr>
        <p:grpSp>
          <p:nvGrpSpPr>
            <p:cNvPr id="216" name="Google Shape;216;p11"/>
            <p:cNvGrpSpPr/>
            <p:nvPr/>
          </p:nvGrpSpPr>
          <p:grpSpPr>
            <a:xfrm>
              <a:off x="7056975" y="5194950"/>
              <a:ext cx="629700" cy="629750"/>
              <a:chOff x="11738575" y="3740675"/>
              <a:chExt cx="629700" cy="629750"/>
            </a:xfrm>
          </p:grpSpPr>
          <p:sp>
            <p:nvSpPr>
              <p:cNvPr id="217" name="Google Shape;217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1"/>
              <p:cNvSpPr txBox="1"/>
              <p:nvPr/>
            </p:nvSpPr>
            <p:spPr>
              <a:xfrm>
                <a:off x="11738575" y="374067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6050650" y="4422150"/>
              <a:ext cx="629700" cy="629700"/>
              <a:chOff x="11738575" y="3740725"/>
              <a:chExt cx="629700" cy="629700"/>
            </a:xfrm>
          </p:grpSpPr>
          <p:sp>
            <p:nvSpPr>
              <p:cNvPr id="220" name="Google Shape;220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1"/>
              <p:cNvSpPr txBox="1"/>
              <p:nvPr/>
            </p:nvSpPr>
            <p:spPr>
              <a:xfrm>
                <a:off x="11738575" y="374072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22" name="Google Shape;222;p11"/>
            <p:cNvCxnSpPr>
              <a:stCxn id="221" idx="2"/>
              <a:endCxn id="218" idx="0"/>
            </p:cNvCxnSpPr>
            <p:nvPr/>
          </p:nvCxnSpPr>
          <p:spPr>
            <a:xfrm>
              <a:off x="6365500" y="5051850"/>
              <a:ext cx="1006200" cy="14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23" name="Google Shape;223;p11"/>
            <p:cNvGrpSpPr/>
            <p:nvPr/>
          </p:nvGrpSpPr>
          <p:grpSpPr>
            <a:xfrm>
              <a:off x="5090800" y="5194950"/>
              <a:ext cx="629700" cy="629750"/>
              <a:chOff x="11738575" y="3740675"/>
              <a:chExt cx="629700" cy="629750"/>
            </a:xfrm>
          </p:grpSpPr>
          <p:sp>
            <p:nvSpPr>
              <p:cNvPr id="224" name="Google Shape;224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1"/>
              <p:cNvSpPr txBox="1"/>
              <p:nvPr/>
            </p:nvSpPr>
            <p:spPr>
              <a:xfrm>
                <a:off x="11738575" y="374067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26" name="Google Shape;226;p11"/>
            <p:cNvCxnSpPr>
              <a:stCxn id="225" idx="0"/>
              <a:endCxn id="221" idx="2"/>
            </p:cNvCxnSpPr>
            <p:nvPr/>
          </p:nvCxnSpPr>
          <p:spPr>
            <a:xfrm flipH="1" rot="10800000">
              <a:off x="5405650" y="5051850"/>
              <a:ext cx="960000" cy="14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7" name="Google Shape;227;p11"/>
          <p:cNvSpPr txBox="1"/>
          <p:nvPr/>
        </p:nvSpPr>
        <p:spPr>
          <a:xfrm>
            <a:off x="10564700" y="5449875"/>
            <a:ext cx="3438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Rotación a la izquierda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8" name="Google Shape;228;p11"/>
          <p:cNvGrpSpPr/>
          <p:nvPr/>
        </p:nvGrpSpPr>
        <p:grpSpPr>
          <a:xfrm>
            <a:off x="8202500" y="3386750"/>
            <a:ext cx="629700" cy="629750"/>
            <a:chOff x="11738575" y="3740675"/>
            <a:chExt cx="629700" cy="629750"/>
          </a:xfrm>
        </p:grpSpPr>
        <p:sp>
          <p:nvSpPr>
            <p:cNvPr id="229" name="Google Shape;229;p11"/>
            <p:cNvSpPr/>
            <p:nvPr/>
          </p:nvSpPr>
          <p:spPr>
            <a:xfrm>
              <a:off x="11738575" y="3740725"/>
              <a:ext cx="629700" cy="6297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1"/>
            <p:cNvSpPr txBox="1"/>
            <p:nvPr/>
          </p:nvSpPr>
          <p:spPr>
            <a:xfrm>
              <a:off x="11738575" y="3740675"/>
              <a:ext cx="6297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35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1" name="Google Shape;231;p11"/>
          <p:cNvGrpSpPr/>
          <p:nvPr/>
        </p:nvGrpSpPr>
        <p:grpSpPr>
          <a:xfrm>
            <a:off x="8517275" y="4016550"/>
            <a:ext cx="1519650" cy="717900"/>
            <a:chOff x="10346075" y="4168950"/>
            <a:chExt cx="1519650" cy="717900"/>
          </a:xfrm>
        </p:grpSpPr>
        <p:grpSp>
          <p:nvGrpSpPr>
            <p:cNvPr id="232" name="Google Shape;232;p11"/>
            <p:cNvGrpSpPr/>
            <p:nvPr/>
          </p:nvGrpSpPr>
          <p:grpSpPr>
            <a:xfrm>
              <a:off x="11236025" y="4257150"/>
              <a:ext cx="629700" cy="629700"/>
              <a:chOff x="11738575" y="3740725"/>
              <a:chExt cx="629700" cy="629700"/>
            </a:xfrm>
          </p:grpSpPr>
          <p:sp>
            <p:nvSpPr>
              <p:cNvPr id="233" name="Google Shape;233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1"/>
              <p:cNvSpPr txBox="1"/>
              <p:nvPr/>
            </p:nvSpPr>
            <p:spPr>
              <a:xfrm>
                <a:off x="11738575" y="374072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35" name="Google Shape;235;p11"/>
            <p:cNvCxnSpPr>
              <a:stCxn id="234" idx="0"/>
              <a:endCxn id="230" idx="2"/>
            </p:cNvCxnSpPr>
            <p:nvPr/>
          </p:nvCxnSpPr>
          <p:spPr>
            <a:xfrm rot="10800000">
              <a:off x="10346075" y="4168950"/>
              <a:ext cx="1204800" cy="8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6" name="Google Shape;236;p11"/>
          <p:cNvGrpSpPr/>
          <p:nvPr/>
        </p:nvGrpSpPr>
        <p:grpSpPr>
          <a:xfrm>
            <a:off x="10564700" y="4877550"/>
            <a:ext cx="629700" cy="629750"/>
            <a:chOff x="11738575" y="3740675"/>
            <a:chExt cx="629700" cy="629750"/>
          </a:xfrm>
        </p:grpSpPr>
        <p:sp>
          <p:nvSpPr>
            <p:cNvPr id="237" name="Google Shape;237;p11"/>
            <p:cNvSpPr/>
            <p:nvPr/>
          </p:nvSpPr>
          <p:spPr>
            <a:xfrm>
              <a:off x="11738575" y="3740725"/>
              <a:ext cx="629700" cy="6297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1"/>
            <p:cNvSpPr txBox="1"/>
            <p:nvPr/>
          </p:nvSpPr>
          <p:spPr>
            <a:xfrm>
              <a:off x="11738575" y="3740675"/>
              <a:ext cx="6297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9" name="Google Shape;239;p11"/>
          <p:cNvCxnSpPr>
            <a:stCxn id="238" idx="0"/>
          </p:cNvCxnSpPr>
          <p:nvPr/>
        </p:nvCxnSpPr>
        <p:spPr>
          <a:xfrm rot="10800000">
            <a:off x="9722150" y="4734450"/>
            <a:ext cx="1157400" cy="1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11"/>
          <p:cNvCxnSpPr/>
          <p:nvPr/>
        </p:nvCxnSpPr>
        <p:spPr>
          <a:xfrm flipH="1" rot="10800000">
            <a:off x="11358200" y="4407000"/>
            <a:ext cx="1524000" cy="126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41" name="Google Shape;241;p11"/>
          <p:cNvGrpSpPr/>
          <p:nvPr/>
        </p:nvGrpSpPr>
        <p:grpSpPr>
          <a:xfrm>
            <a:off x="13091800" y="3812550"/>
            <a:ext cx="2595875" cy="1402550"/>
            <a:chOff x="5090800" y="4422150"/>
            <a:chExt cx="2595875" cy="1402550"/>
          </a:xfrm>
        </p:grpSpPr>
        <p:grpSp>
          <p:nvGrpSpPr>
            <p:cNvPr id="242" name="Google Shape;242;p11"/>
            <p:cNvGrpSpPr/>
            <p:nvPr/>
          </p:nvGrpSpPr>
          <p:grpSpPr>
            <a:xfrm>
              <a:off x="7056975" y="5194950"/>
              <a:ext cx="629700" cy="629750"/>
              <a:chOff x="11738575" y="3740675"/>
              <a:chExt cx="629700" cy="629750"/>
            </a:xfrm>
          </p:grpSpPr>
          <p:sp>
            <p:nvSpPr>
              <p:cNvPr id="243" name="Google Shape;243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1"/>
              <p:cNvSpPr txBox="1"/>
              <p:nvPr/>
            </p:nvSpPr>
            <p:spPr>
              <a:xfrm>
                <a:off x="11738575" y="374067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45" name="Google Shape;245;p11"/>
            <p:cNvGrpSpPr/>
            <p:nvPr/>
          </p:nvGrpSpPr>
          <p:grpSpPr>
            <a:xfrm>
              <a:off x="6050650" y="4422150"/>
              <a:ext cx="629700" cy="629700"/>
              <a:chOff x="11738575" y="3740725"/>
              <a:chExt cx="629700" cy="629700"/>
            </a:xfrm>
          </p:grpSpPr>
          <p:sp>
            <p:nvSpPr>
              <p:cNvPr id="246" name="Google Shape;246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1"/>
              <p:cNvSpPr txBox="1"/>
              <p:nvPr/>
            </p:nvSpPr>
            <p:spPr>
              <a:xfrm>
                <a:off x="11738575" y="374072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48" name="Google Shape;248;p11"/>
            <p:cNvCxnSpPr>
              <a:stCxn id="247" idx="2"/>
              <a:endCxn id="244" idx="0"/>
            </p:cNvCxnSpPr>
            <p:nvPr/>
          </p:nvCxnSpPr>
          <p:spPr>
            <a:xfrm>
              <a:off x="6365500" y="5051850"/>
              <a:ext cx="1006200" cy="14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49" name="Google Shape;249;p11"/>
            <p:cNvGrpSpPr/>
            <p:nvPr/>
          </p:nvGrpSpPr>
          <p:grpSpPr>
            <a:xfrm>
              <a:off x="5090800" y="5194950"/>
              <a:ext cx="629700" cy="629750"/>
              <a:chOff x="11738575" y="3740675"/>
              <a:chExt cx="629700" cy="629750"/>
            </a:xfrm>
          </p:grpSpPr>
          <p:sp>
            <p:nvSpPr>
              <p:cNvPr id="250" name="Google Shape;250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11"/>
              <p:cNvSpPr txBox="1"/>
              <p:nvPr/>
            </p:nvSpPr>
            <p:spPr>
              <a:xfrm>
                <a:off x="11738575" y="374067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52" name="Google Shape;252;p11"/>
            <p:cNvCxnSpPr>
              <a:stCxn id="251" idx="0"/>
              <a:endCxn id="247" idx="2"/>
            </p:cNvCxnSpPr>
            <p:nvPr/>
          </p:nvCxnSpPr>
          <p:spPr>
            <a:xfrm flipH="1" rot="10800000">
              <a:off x="5405650" y="5051850"/>
              <a:ext cx="960000" cy="14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53" name="Google Shape;253;p11"/>
          <p:cNvCxnSpPr/>
          <p:nvPr/>
        </p:nvCxnSpPr>
        <p:spPr>
          <a:xfrm flipH="1">
            <a:off x="7972650" y="3010225"/>
            <a:ext cx="12600" cy="615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11"/>
          <p:cNvSpPr txBox="1"/>
          <p:nvPr/>
        </p:nvSpPr>
        <p:spPr>
          <a:xfrm>
            <a:off x="1721150" y="8497875"/>
            <a:ext cx="46269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Rotación a la izquierda derecha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5" name="Google Shape;255;p11"/>
          <p:cNvGrpSpPr/>
          <p:nvPr/>
        </p:nvGrpSpPr>
        <p:grpSpPr>
          <a:xfrm>
            <a:off x="2182700" y="6129950"/>
            <a:ext cx="629700" cy="629750"/>
            <a:chOff x="11738575" y="3740675"/>
            <a:chExt cx="629700" cy="629750"/>
          </a:xfrm>
        </p:grpSpPr>
        <p:sp>
          <p:nvSpPr>
            <p:cNvPr id="256" name="Google Shape;256;p11"/>
            <p:cNvSpPr/>
            <p:nvPr/>
          </p:nvSpPr>
          <p:spPr>
            <a:xfrm>
              <a:off x="11738575" y="3740725"/>
              <a:ext cx="629700" cy="6297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1"/>
            <p:cNvSpPr txBox="1"/>
            <p:nvPr/>
          </p:nvSpPr>
          <p:spPr>
            <a:xfrm>
              <a:off x="11738575" y="3740675"/>
              <a:ext cx="6297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8" name="Google Shape;258;p11"/>
          <p:cNvGrpSpPr/>
          <p:nvPr/>
        </p:nvGrpSpPr>
        <p:grpSpPr>
          <a:xfrm>
            <a:off x="1025225" y="6759750"/>
            <a:ext cx="1472250" cy="717900"/>
            <a:chOff x="11236025" y="4168950"/>
            <a:chExt cx="1472250" cy="717900"/>
          </a:xfrm>
        </p:grpSpPr>
        <p:grpSp>
          <p:nvGrpSpPr>
            <p:cNvPr id="259" name="Google Shape;259;p11"/>
            <p:cNvGrpSpPr/>
            <p:nvPr/>
          </p:nvGrpSpPr>
          <p:grpSpPr>
            <a:xfrm>
              <a:off x="11236025" y="4257150"/>
              <a:ext cx="629700" cy="629700"/>
              <a:chOff x="11738575" y="3740725"/>
              <a:chExt cx="629700" cy="629700"/>
            </a:xfrm>
          </p:grpSpPr>
          <p:sp>
            <p:nvSpPr>
              <p:cNvPr id="260" name="Google Shape;260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11"/>
              <p:cNvSpPr txBox="1"/>
              <p:nvPr/>
            </p:nvSpPr>
            <p:spPr>
              <a:xfrm>
                <a:off x="11738575" y="374072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62" name="Google Shape;262;p11"/>
            <p:cNvCxnSpPr>
              <a:stCxn id="261" idx="0"/>
              <a:endCxn id="257" idx="2"/>
            </p:cNvCxnSpPr>
            <p:nvPr/>
          </p:nvCxnSpPr>
          <p:spPr>
            <a:xfrm flipH="1" rot="10800000">
              <a:off x="11550875" y="4168950"/>
              <a:ext cx="1157400" cy="8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63" name="Google Shape;263;p11"/>
          <p:cNvGrpSpPr/>
          <p:nvPr/>
        </p:nvGrpSpPr>
        <p:grpSpPr>
          <a:xfrm>
            <a:off x="2182700" y="7620750"/>
            <a:ext cx="629700" cy="629750"/>
            <a:chOff x="11738575" y="3740675"/>
            <a:chExt cx="629700" cy="629750"/>
          </a:xfrm>
        </p:grpSpPr>
        <p:sp>
          <p:nvSpPr>
            <p:cNvPr id="264" name="Google Shape;264;p11"/>
            <p:cNvSpPr/>
            <p:nvPr/>
          </p:nvSpPr>
          <p:spPr>
            <a:xfrm>
              <a:off x="11738575" y="3740725"/>
              <a:ext cx="629700" cy="6297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1"/>
            <p:cNvSpPr txBox="1"/>
            <p:nvPr/>
          </p:nvSpPr>
          <p:spPr>
            <a:xfrm>
              <a:off x="11738575" y="3740675"/>
              <a:ext cx="6297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66" name="Google Shape;266;p11"/>
          <p:cNvCxnSpPr>
            <a:stCxn id="265" idx="0"/>
            <a:endCxn id="261" idx="2"/>
          </p:cNvCxnSpPr>
          <p:nvPr/>
        </p:nvCxnSpPr>
        <p:spPr>
          <a:xfrm rot="10800000">
            <a:off x="1340150" y="7477650"/>
            <a:ext cx="1157400" cy="1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11"/>
          <p:cNvCxnSpPr/>
          <p:nvPr/>
        </p:nvCxnSpPr>
        <p:spPr>
          <a:xfrm flipH="1" rot="10800000">
            <a:off x="3357200" y="7150200"/>
            <a:ext cx="1524000" cy="126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68" name="Google Shape;268;p11"/>
          <p:cNvGrpSpPr/>
          <p:nvPr/>
        </p:nvGrpSpPr>
        <p:grpSpPr>
          <a:xfrm>
            <a:off x="5090800" y="6555750"/>
            <a:ext cx="2595875" cy="1402550"/>
            <a:chOff x="5090800" y="4422150"/>
            <a:chExt cx="2595875" cy="1402550"/>
          </a:xfrm>
        </p:grpSpPr>
        <p:grpSp>
          <p:nvGrpSpPr>
            <p:cNvPr id="269" name="Google Shape;269;p11"/>
            <p:cNvGrpSpPr/>
            <p:nvPr/>
          </p:nvGrpSpPr>
          <p:grpSpPr>
            <a:xfrm>
              <a:off x="7056975" y="5194950"/>
              <a:ext cx="629700" cy="629750"/>
              <a:chOff x="11738575" y="3740675"/>
              <a:chExt cx="629700" cy="629750"/>
            </a:xfrm>
          </p:grpSpPr>
          <p:sp>
            <p:nvSpPr>
              <p:cNvPr id="270" name="Google Shape;270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11"/>
              <p:cNvSpPr txBox="1"/>
              <p:nvPr/>
            </p:nvSpPr>
            <p:spPr>
              <a:xfrm>
                <a:off x="11738575" y="374067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72" name="Google Shape;272;p11"/>
            <p:cNvGrpSpPr/>
            <p:nvPr/>
          </p:nvGrpSpPr>
          <p:grpSpPr>
            <a:xfrm>
              <a:off x="6050650" y="4422150"/>
              <a:ext cx="629700" cy="629700"/>
              <a:chOff x="11738575" y="3740725"/>
              <a:chExt cx="629700" cy="629700"/>
            </a:xfrm>
          </p:grpSpPr>
          <p:sp>
            <p:nvSpPr>
              <p:cNvPr id="273" name="Google Shape;273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11"/>
              <p:cNvSpPr txBox="1"/>
              <p:nvPr/>
            </p:nvSpPr>
            <p:spPr>
              <a:xfrm>
                <a:off x="11738575" y="374072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85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75" name="Google Shape;275;p11"/>
            <p:cNvCxnSpPr>
              <a:stCxn id="274" idx="2"/>
              <a:endCxn id="271" idx="0"/>
            </p:cNvCxnSpPr>
            <p:nvPr/>
          </p:nvCxnSpPr>
          <p:spPr>
            <a:xfrm>
              <a:off x="6365500" y="5051850"/>
              <a:ext cx="1006200" cy="14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76" name="Google Shape;276;p11"/>
            <p:cNvGrpSpPr/>
            <p:nvPr/>
          </p:nvGrpSpPr>
          <p:grpSpPr>
            <a:xfrm>
              <a:off x="5090800" y="5194950"/>
              <a:ext cx="629700" cy="629750"/>
              <a:chOff x="11738575" y="3740675"/>
              <a:chExt cx="629700" cy="629750"/>
            </a:xfrm>
          </p:grpSpPr>
          <p:sp>
            <p:nvSpPr>
              <p:cNvPr id="277" name="Google Shape;277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11"/>
              <p:cNvSpPr txBox="1"/>
              <p:nvPr/>
            </p:nvSpPr>
            <p:spPr>
              <a:xfrm>
                <a:off x="11738575" y="374067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79" name="Google Shape;279;p11"/>
            <p:cNvCxnSpPr>
              <a:stCxn id="278" idx="0"/>
              <a:endCxn id="274" idx="2"/>
            </p:cNvCxnSpPr>
            <p:nvPr/>
          </p:nvCxnSpPr>
          <p:spPr>
            <a:xfrm flipH="1" rot="10800000">
              <a:off x="5405650" y="5051850"/>
              <a:ext cx="960000" cy="14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0" name="Google Shape;280;p11"/>
          <p:cNvSpPr txBox="1"/>
          <p:nvPr/>
        </p:nvSpPr>
        <p:spPr>
          <a:xfrm>
            <a:off x="10151600" y="8497875"/>
            <a:ext cx="45594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Rotación a la derecha izquierda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81" name="Google Shape;281;p11"/>
          <p:cNvGrpSpPr/>
          <p:nvPr/>
        </p:nvGrpSpPr>
        <p:grpSpPr>
          <a:xfrm>
            <a:off x="8812100" y="6282350"/>
            <a:ext cx="629700" cy="629750"/>
            <a:chOff x="11738575" y="3740675"/>
            <a:chExt cx="629700" cy="629750"/>
          </a:xfrm>
        </p:grpSpPr>
        <p:sp>
          <p:nvSpPr>
            <p:cNvPr id="282" name="Google Shape;282;p11"/>
            <p:cNvSpPr/>
            <p:nvPr/>
          </p:nvSpPr>
          <p:spPr>
            <a:xfrm>
              <a:off x="11738575" y="3740725"/>
              <a:ext cx="629700" cy="6297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1"/>
            <p:cNvSpPr txBox="1"/>
            <p:nvPr/>
          </p:nvSpPr>
          <p:spPr>
            <a:xfrm>
              <a:off x="11738575" y="3740675"/>
              <a:ext cx="6297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70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4" name="Google Shape;284;p11"/>
          <p:cNvGrpSpPr/>
          <p:nvPr/>
        </p:nvGrpSpPr>
        <p:grpSpPr>
          <a:xfrm>
            <a:off x="9127025" y="6911986"/>
            <a:ext cx="1391850" cy="713400"/>
            <a:chOff x="10473875" y="4173450"/>
            <a:chExt cx="1391850" cy="713400"/>
          </a:xfrm>
        </p:grpSpPr>
        <p:grpSp>
          <p:nvGrpSpPr>
            <p:cNvPr id="285" name="Google Shape;285;p11"/>
            <p:cNvGrpSpPr/>
            <p:nvPr/>
          </p:nvGrpSpPr>
          <p:grpSpPr>
            <a:xfrm>
              <a:off x="11236025" y="4257150"/>
              <a:ext cx="629700" cy="629700"/>
              <a:chOff x="11738575" y="3740725"/>
              <a:chExt cx="629700" cy="629700"/>
            </a:xfrm>
          </p:grpSpPr>
          <p:sp>
            <p:nvSpPr>
              <p:cNvPr id="286" name="Google Shape;286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11"/>
              <p:cNvSpPr txBox="1"/>
              <p:nvPr/>
            </p:nvSpPr>
            <p:spPr>
              <a:xfrm>
                <a:off x="11738575" y="374072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88" name="Google Shape;288;p11"/>
            <p:cNvCxnSpPr>
              <a:stCxn id="287" idx="0"/>
              <a:endCxn id="283" idx="2"/>
            </p:cNvCxnSpPr>
            <p:nvPr/>
          </p:nvCxnSpPr>
          <p:spPr>
            <a:xfrm rot="10800000">
              <a:off x="10473875" y="4173450"/>
              <a:ext cx="1077000" cy="8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9" name="Google Shape;289;p11"/>
          <p:cNvGrpSpPr/>
          <p:nvPr/>
        </p:nvGrpSpPr>
        <p:grpSpPr>
          <a:xfrm>
            <a:off x="8831740" y="7694275"/>
            <a:ext cx="629700" cy="629750"/>
            <a:chOff x="11738575" y="3740675"/>
            <a:chExt cx="629700" cy="629750"/>
          </a:xfrm>
        </p:grpSpPr>
        <p:sp>
          <p:nvSpPr>
            <p:cNvPr id="290" name="Google Shape;290;p11"/>
            <p:cNvSpPr/>
            <p:nvPr/>
          </p:nvSpPr>
          <p:spPr>
            <a:xfrm>
              <a:off x="11738575" y="3740725"/>
              <a:ext cx="629700" cy="6297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1"/>
            <p:cNvSpPr txBox="1"/>
            <p:nvPr/>
          </p:nvSpPr>
          <p:spPr>
            <a:xfrm>
              <a:off x="11738575" y="3740675"/>
              <a:ext cx="6297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92" name="Google Shape;292;p11"/>
          <p:cNvCxnSpPr>
            <a:stCxn id="291" idx="0"/>
            <a:endCxn id="287" idx="2"/>
          </p:cNvCxnSpPr>
          <p:nvPr/>
        </p:nvCxnSpPr>
        <p:spPr>
          <a:xfrm flipH="1" rot="10800000">
            <a:off x="9146590" y="7625275"/>
            <a:ext cx="1057500" cy="6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11"/>
          <p:cNvCxnSpPr/>
          <p:nvPr/>
        </p:nvCxnSpPr>
        <p:spPr>
          <a:xfrm flipH="1" rot="10800000">
            <a:off x="11282000" y="7302600"/>
            <a:ext cx="1524000" cy="126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94" name="Google Shape;294;p11"/>
          <p:cNvGrpSpPr/>
          <p:nvPr/>
        </p:nvGrpSpPr>
        <p:grpSpPr>
          <a:xfrm>
            <a:off x="13091800" y="6725000"/>
            <a:ext cx="2595875" cy="1402550"/>
            <a:chOff x="5090800" y="4422150"/>
            <a:chExt cx="2595875" cy="1402550"/>
          </a:xfrm>
        </p:grpSpPr>
        <p:grpSp>
          <p:nvGrpSpPr>
            <p:cNvPr id="295" name="Google Shape;295;p11"/>
            <p:cNvGrpSpPr/>
            <p:nvPr/>
          </p:nvGrpSpPr>
          <p:grpSpPr>
            <a:xfrm>
              <a:off x="7056975" y="5194950"/>
              <a:ext cx="629700" cy="629750"/>
              <a:chOff x="11738575" y="3740675"/>
              <a:chExt cx="629700" cy="629750"/>
            </a:xfrm>
          </p:grpSpPr>
          <p:sp>
            <p:nvSpPr>
              <p:cNvPr id="296" name="Google Shape;296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1"/>
              <p:cNvSpPr txBox="1"/>
              <p:nvPr/>
            </p:nvSpPr>
            <p:spPr>
              <a:xfrm>
                <a:off x="11738575" y="374067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98" name="Google Shape;298;p11"/>
            <p:cNvGrpSpPr/>
            <p:nvPr/>
          </p:nvGrpSpPr>
          <p:grpSpPr>
            <a:xfrm>
              <a:off x="6050650" y="4422150"/>
              <a:ext cx="629700" cy="629700"/>
              <a:chOff x="11738575" y="3740725"/>
              <a:chExt cx="629700" cy="629700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11"/>
              <p:cNvSpPr txBox="1"/>
              <p:nvPr/>
            </p:nvSpPr>
            <p:spPr>
              <a:xfrm>
                <a:off x="11738575" y="374072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85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01" name="Google Shape;301;p11"/>
            <p:cNvCxnSpPr>
              <a:stCxn id="300" idx="2"/>
              <a:endCxn id="297" idx="0"/>
            </p:cNvCxnSpPr>
            <p:nvPr/>
          </p:nvCxnSpPr>
          <p:spPr>
            <a:xfrm>
              <a:off x="6365500" y="5051850"/>
              <a:ext cx="1006200" cy="14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02" name="Google Shape;302;p11"/>
            <p:cNvGrpSpPr/>
            <p:nvPr/>
          </p:nvGrpSpPr>
          <p:grpSpPr>
            <a:xfrm>
              <a:off x="5090800" y="5194950"/>
              <a:ext cx="629700" cy="629750"/>
              <a:chOff x="11738575" y="3740675"/>
              <a:chExt cx="629700" cy="629750"/>
            </a:xfrm>
          </p:grpSpPr>
          <p:sp>
            <p:nvSpPr>
              <p:cNvPr id="303" name="Google Shape;303;p1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11"/>
              <p:cNvSpPr txBox="1"/>
              <p:nvPr/>
            </p:nvSpPr>
            <p:spPr>
              <a:xfrm>
                <a:off x="11738575" y="374067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05" name="Google Shape;305;p11"/>
            <p:cNvCxnSpPr>
              <a:stCxn id="304" idx="0"/>
              <a:endCxn id="300" idx="2"/>
            </p:cNvCxnSpPr>
            <p:nvPr/>
          </p:nvCxnSpPr>
          <p:spPr>
            <a:xfrm flipH="1" rot="10800000">
              <a:off x="5405650" y="5051850"/>
              <a:ext cx="960000" cy="14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306" name="Google Shape;306;p11"/>
          <p:cNvCxnSpPr/>
          <p:nvPr/>
        </p:nvCxnSpPr>
        <p:spPr>
          <a:xfrm>
            <a:off x="0" y="5970050"/>
            <a:ext cx="16272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Rotaciones simples</a:t>
            </a:r>
            <a:endParaRPr b="1"/>
          </a:p>
        </p:txBody>
      </p:sp>
      <p:sp>
        <p:nvSpPr>
          <p:cNvPr id="313" name="Google Shape;313;p12"/>
          <p:cNvSpPr txBox="1"/>
          <p:nvPr>
            <p:ph idx="1" type="body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</a:pPr>
            <a:r>
              <a:rPr lang="es-PE" sz="2400">
                <a:solidFill>
                  <a:srgbClr val="000000"/>
                </a:solidFill>
              </a:rPr>
              <a:t>Ejemplo: rotación simple izquierda desde 3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314" name="Google Shape;31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8960" y="4437730"/>
            <a:ext cx="3326314" cy="3984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2"/>
          <p:cNvPicPr preferRelativeResize="0"/>
          <p:nvPr/>
        </p:nvPicPr>
        <p:blipFill rotWithShape="1">
          <a:blip r:embed="rId4">
            <a:alphaModFix/>
          </a:blip>
          <a:srcRect b="0" l="40330" r="0" t="0"/>
          <a:stretch/>
        </p:blipFill>
        <p:spPr>
          <a:xfrm>
            <a:off x="10064291" y="4305459"/>
            <a:ext cx="4342774" cy="3525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418" y="4572000"/>
            <a:ext cx="3382727" cy="3984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Rotaciones (algoritmo) </a:t>
            </a:r>
            <a:endParaRPr b="1"/>
          </a:p>
        </p:txBody>
      </p:sp>
      <p:sp>
        <p:nvSpPr>
          <p:cNvPr id="323" name="Google Shape;323;p13"/>
          <p:cNvSpPr txBox="1"/>
          <p:nvPr/>
        </p:nvSpPr>
        <p:spPr>
          <a:xfrm>
            <a:off x="838932" y="3230657"/>
            <a:ext cx="4257049" cy="6040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Rotación a la izquierda en X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1889126" y="4061681"/>
            <a:ext cx="575352" cy="5034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984831" y="5154414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722330" y="6121169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13"/>
          <p:cNvCxnSpPr>
            <a:stCxn id="324" idx="3"/>
            <a:endCxn id="325" idx="7"/>
          </p:cNvCxnSpPr>
          <p:nvPr/>
        </p:nvCxnSpPr>
        <p:spPr>
          <a:xfrm flipH="1">
            <a:off x="1475984" y="4491389"/>
            <a:ext cx="497400" cy="736800"/>
          </a:xfrm>
          <a:prstGeom prst="straightConnector1">
            <a:avLst/>
          </a:prstGeom>
          <a:noFill/>
          <a:ln cap="flat" cmpd="sng" w="2857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8" name="Google Shape;328;p13"/>
          <p:cNvCxnSpPr>
            <a:stCxn id="325" idx="5"/>
            <a:endCxn id="326" idx="1"/>
          </p:cNvCxnSpPr>
          <p:nvPr/>
        </p:nvCxnSpPr>
        <p:spPr>
          <a:xfrm>
            <a:off x="1475925" y="5584122"/>
            <a:ext cx="330600" cy="610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9" name="Google Shape;329;p13"/>
          <p:cNvSpPr/>
          <p:nvPr/>
        </p:nvSpPr>
        <p:spPr>
          <a:xfrm>
            <a:off x="331914" y="6121169"/>
            <a:ext cx="856497" cy="772136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13"/>
          <p:cNvCxnSpPr>
            <a:stCxn id="325" idx="3"/>
            <a:endCxn id="329" idx="0"/>
          </p:cNvCxnSpPr>
          <p:nvPr/>
        </p:nvCxnSpPr>
        <p:spPr>
          <a:xfrm flipH="1">
            <a:off x="760089" y="5584122"/>
            <a:ext cx="309000" cy="5370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" name="Google Shape;331;p13"/>
          <p:cNvSpPr/>
          <p:nvPr/>
        </p:nvSpPr>
        <p:spPr>
          <a:xfrm>
            <a:off x="950091" y="7087924"/>
            <a:ext cx="856497" cy="802227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2072852" y="7122617"/>
            <a:ext cx="856497" cy="767534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13"/>
          <p:cNvCxnSpPr>
            <a:stCxn id="326" idx="3"/>
            <a:endCxn id="331" idx="0"/>
          </p:cNvCxnSpPr>
          <p:nvPr/>
        </p:nvCxnSpPr>
        <p:spPr>
          <a:xfrm flipH="1">
            <a:off x="1378488" y="6550877"/>
            <a:ext cx="428100" cy="53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4" name="Google Shape;334;p13"/>
          <p:cNvCxnSpPr>
            <a:stCxn id="326" idx="5"/>
            <a:endCxn id="332" idx="0"/>
          </p:cNvCxnSpPr>
          <p:nvPr/>
        </p:nvCxnSpPr>
        <p:spPr>
          <a:xfrm>
            <a:off x="2213424" y="6550877"/>
            <a:ext cx="287700" cy="571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5" name="Google Shape;335;p13"/>
          <p:cNvSpPr/>
          <p:nvPr/>
        </p:nvSpPr>
        <p:spPr>
          <a:xfrm>
            <a:off x="2361631" y="5055955"/>
            <a:ext cx="856497" cy="65669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13"/>
          <p:cNvCxnSpPr>
            <a:stCxn id="324" idx="5"/>
            <a:endCxn id="335" idx="0"/>
          </p:cNvCxnSpPr>
          <p:nvPr/>
        </p:nvCxnSpPr>
        <p:spPr>
          <a:xfrm>
            <a:off x="2380220" y="4491389"/>
            <a:ext cx="409800" cy="564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7" name="Google Shape;337;p13"/>
          <p:cNvSpPr/>
          <p:nvPr/>
        </p:nvSpPr>
        <p:spPr>
          <a:xfrm>
            <a:off x="6190922" y="3987955"/>
            <a:ext cx="575352" cy="5034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5359631" y="5019114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715612" y="6034453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13"/>
          <p:cNvCxnSpPr>
            <a:stCxn id="337" idx="3"/>
            <a:endCxn id="338" idx="7"/>
          </p:cNvCxnSpPr>
          <p:nvPr/>
        </p:nvCxnSpPr>
        <p:spPr>
          <a:xfrm flipH="1">
            <a:off x="5850680" y="4417663"/>
            <a:ext cx="424500" cy="6753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" name="Google Shape;341;p13"/>
          <p:cNvSpPr/>
          <p:nvPr/>
        </p:nvSpPr>
        <p:spPr>
          <a:xfrm>
            <a:off x="3929575" y="7161701"/>
            <a:ext cx="856497" cy="772136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13"/>
          <p:cNvCxnSpPr>
            <a:stCxn id="338" idx="5"/>
            <a:endCxn id="343" idx="0"/>
          </p:cNvCxnSpPr>
          <p:nvPr/>
        </p:nvCxnSpPr>
        <p:spPr>
          <a:xfrm>
            <a:off x="5850725" y="5448822"/>
            <a:ext cx="505800" cy="5403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4" name="Google Shape;344;p13"/>
          <p:cNvSpPr/>
          <p:nvPr/>
        </p:nvSpPr>
        <p:spPr>
          <a:xfrm>
            <a:off x="5334425" y="7127691"/>
            <a:ext cx="856497" cy="802227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5928224" y="5989119"/>
            <a:ext cx="856497" cy="767534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6663427" y="4982229"/>
            <a:ext cx="856497" cy="65669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13"/>
          <p:cNvCxnSpPr>
            <a:stCxn id="337" idx="5"/>
            <a:endCxn id="345" idx="0"/>
          </p:cNvCxnSpPr>
          <p:nvPr/>
        </p:nvCxnSpPr>
        <p:spPr>
          <a:xfrm>
            <a:off x="6682016" y="4417663"/>
            <a:ext cx="409800" cy="564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7" name="Google Shape;347;p13"/>
          <p:cNvSpPr/>
          <p:nvPr/>
        </p:nvSpPr>
        <p:spPr>
          <a:xfrm>
            <a:off x="3524439" y="6047443"/>
            <a:ext cx="628866" cy="4297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13"/>
          <p:cNvCxnSpPr>
            <a:stCxn id="339" idx="3"/>
            <a:endCxn id="341" idx="0"/>
          </p:cNvCxnSpPr>
          <p:nvPr/>
        </p:nvCxnSpPr>
        <p:spPr>
          <a:xfrm flipH="1">
            <a:off x="4357970" y="6464161"/>
            <a:ext cx="441900" cy="6975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9" name="Google Shape;349;p13"/>
          <p:cNvCxnSpPr>
            <a:stCxn id="339" idx="5"/>
            <a:endCxn id="344" idx="0"/>
          </p:cNvCxnSpPr>
          <p:nvPr/>
        </p:nvCxnSpPr>
        <p:spPr>
          <a:xfrm>
            <a:off x="5206706" y="6464161"/>
            <a:ext cx="555900" cy="663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" name="Google Shape;350;p13"/>
          <p:cNvCxnSpPr>
            <a:stCxn id="338" idx="3"/>
            <a:endCxn id="339" idx="0"/>
          </p:cNvCxnSpPr>
          <p:nvPr/>
        </p:nvCxnSpPr>
        <p:spPr>
          <a:xfrm flipH="1">
            <a:off x="5003189" y="5448822"/>
            <a:ext cx="440700" cy="585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1" name="Google Shape;351;p13"/>
          <p:cNvSpPr txBox="1"/>
          <p:nvPr/>
        </p:nvSpPr>
        <p:spPr>
          <a:xfrm>
            <a:off x="9234379" y="4113707"/>
            <a:ext cx="5132495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L_Rota(&amp;X):	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Rotaciones (algoritmo) </a:t>
            </a:r>
            <a:endParaRPr b="1"/>
          </a:p>
        </p:txBody>
      </p:sp>
      <p:sp>
        <p:nvSpPr>
          <p:cNvPr id="358" name="Google Shape;358;p14"/>
          <p:cNvSpPr txBox="1"/>
          <p:nvPr/>
        </p:nvSpPr>
        <p:spPr>
          <a:xfrm>
            <a:off x="838932" y="3230657"/>
            <a:ext cx="4257049" cy="6040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Rotación a la izquierda en X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889126" y="4061681"/>
            <a:ext cx="575352" cy="5034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984831" y="5154414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722330" y="6121169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14"/>
          <p:cNvCxnSpPr>
            <a:stCxn id="359" idx="3"/>
            <a:endCxn id="360" idx="7"/>
          </p:cNvCxnSpPr>
          <p:nvPr/>
        </p:nvCxnSpPr>
        <p:spPr>
          <a:xfrm flipH="1">
            <a:off x="1475984" y="4491389"/>
            <a:ext cx="497400" cy="736800"/>
          </a:xfrm>
          <a:prstGeom prst="straightConnector1">
            <a:avLst/>
          </a:prstGeom>
          <a:noFill/>
          <a:ln cap="flat" cmpd="sng" w="28575">
            <a:solidFill>
              <a:srgbClr val="D93E3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3" name="Google Shape;363;p14"/>
          <p:cNvCxnSpPr>
            <a:stCxn id="360" idx="5"/>
            <a:endCxn id="361" idx="1"/>
          </p:cNvCxnSpPr>
          <p:nvPr/>
        </p:nvCxnSpPr>
        <p:spPr>
          <a:xfrm>
            <a:off x="1475925" y="5584122"/>
            <a:ext cx="330600" cy="610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4" name="Google Shape;364;p14"/>
          <p:cNvSpPr/>
          <p:nvPr/>
        </p:nvSpPr>
        <p:spPr>
          <a:xfrm>
            <a:off x="331914" y="6121169"/>
            <a:ext cx="856497" cy="772136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14"/>
          <p:cNvCxnSpPr>
            <a:stCxn id="360" idx="3"/>
            <a:endCxn id="364" idx="0"/>
          </p:cNvCxnSpPr>
          <p:nvPr/>
        </p:nvCxnSpPr>
        <p:spPr>
          <a:xfrm flipH="1">
            <a:off x="760089" y="5584122"/>
            <a:ext cx="309000" cy="5370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6" name="Google Shape;366;p14"/>
          <p:cNvSpPr/>
          <p:nvPr/>
        </p:nvSpPr>
        <p:spPr>
          <a:xfrm>
            <a:off x="950091" y="7087924"/>
            <a:ext cx="856497" cy="802227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2072852" y="7122617"/>
            <a:ext cx="856497" cy="767534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14"/>
          <p:cNvCxnSpPr>
            <a:stCxn id="361" idx="3"/>
            <a:endCxn id="366" idx="0"/>
          </p:cNvCxnSpPr>
          <p:nvPr/>
        </p:nvCxnSpPr>
        <p:spPr>
          <a:xfrm flipH="1">
            <a:off x="1378488" y="6550877"/>
            <a:ext cx="428100" cy="53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9" name="Google Shape;369;p14"/>
          <p:cNvCxnSpPr>
            <a:stCxn id="361" idx="5"/>
            <a:endCxn id="367" idx="0"/>
          </p:cNvCxnSpPr>
          <p:nvPr/>
        </p:nvCxnSpPr>
        <p:spPr>
          <a:xfrm>
            <a:off x="2213424" y="6550877"/>
            <a:ext cx="287700" cy="571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0" name="Google Shape;370;p14"/>
          <p:cNvSpPr/>
          <p:nvPr/>
        </p:nvSpPr>
        <p:spPr>
          <a:xfrm>
            <a:off x="2361631" y="5055955"/>
            <a:ext cx="856497" cy="65669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14"/>
          <p:cNvCxnSpPr>
            <a:stCxn id="359" idx="5"/>
            <a:endCxn id="370" idx="0"/>
          </p:cNvCxnSpPr>
          <p:nvPr/>
        </p:nvCxnSpPr>
        <p:spPr>
          <a:xfrm>
            <a:off x="2380220" y="4491389"/>
            <a:ext cx="409800" cy="564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2" name="Google Shape;372;p14"/>
          <p:cNvSpPr/>
          <p:nvPr/>
        </p:nvSpPr>
        <p:spPr>
          <a:xfrm>
            <a:off x="6190922" y="3987955"/>
            <a:ext cx="575352" cy="5034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5359631" y="5019114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4715612" y="6034453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p14"/>
          <p:cNvCxnSpPr>
            <a:stCxn id="372" idx="3"/>
            <a:endCxn id="373" idx="7"/>
          </p:cNvCxnSpPr>
          <p:nvPr/>
        </p:nvCxnSpPr>
        <p:spPr>
          <a:xfrm flipH="1">
            <a:off x="5850680" y="4417663"/>
            <a:ext cx="424500" cy="6753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6" name="Google Shape;376;p14"/>
          <p:cNvSpPr/>
          <p:nvPr/>
        </p:nvSpPr>
        <p:spPr>
          <a:xfrm>
            <a:off x="3929575" y="7161701"/>
            <a:ext cx="856497" cy="772136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p14"/>
          <p:cNvCxnSpPr>
            <a:stCxn id="373" idx="5"/>
            <a:endCxn id="378" idx="0"/>
          </p:cNvCxnSpPr>
          <p:nvPr/>
        </p:nvCxnSpPr>
        <p:spPr>
          <a:xfrm>
            <a:off x="5850725" y="5448822"/>
            <a:ext cx="505800" cy="5403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9" name="Google Shape;379;p14"/>
          <p:cNvSpPr/>
          <p:nvPr/>
        </p:nvSpPr>
        <p:spPr>
          <a:xfrm>
            <a:off x="5334425" y="7127691"/>
            <a:ext cx="856497" cy="802227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5928224" y="5989119"/>
            <a:ext cx="856497" cy="767534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6663427" y="4982229"/>
            <a:ext cx="856497" cy="65669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14"/>
          <p:cNvCxnSpPr>
            <a:stCxn id="372" idx="5"/>
            <a:endCxn id="380" idx="0"/>
          </p:cNvCxnSpPr>
          <p:nvPr/>
        </p:nvCxnSpPr>
        <p:spPr>
          <a:xfrm>
            <a:off x="6682016" y="4417663"/>
            <a:ext cx="409800" cy="564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2" name="Google Shape;382;p14"/>
          <p:cNvSpPr/>
          <p:nvPr/>
        </p:nvSpPr>
        <p:spPr>
          <a:xfrm>
            <a:off x="3524439" y="6047443"/>
            <a:ext cx="628866" cy="4297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3" name="Google Shape;383;p14"/>
          <p:cNvCxnSpPr>
            <a:stCxn id="374" idx="3"/>
            <a:endCxn id="376" idx="0"/>
          </p:cNvCxnSpPr>
          <p:nvPr/>
        </p:nvCxnSpPr>
        <p:spPr>
          <a:xfrm flipH="1">
            <a:off x="4357970" y="6464161"/>
            <a:ext cx="441900" cy="6975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4" name="Google Shape;384;p14"/>
          <p:cNvCxnSpPr>
            <a:stCxn id="374" idx="5"/>
            <a:endCxn id="379" idx="0"/>
          </p:cNvCxnSpPr>
          <p:nvPr/>
        </p:nvCxnSpPr>
        <p:spPr>
          <a:xfrm>
            <a:off x="5206706" y="6464161"/>
            <a:ext cx="555900" cy="663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5" name="Google Shape;385;p14"/>
          <p:cNvCxnSpPr>
            <a:stCxn id="373" idx="3"/>
            <a:endCxn id="374" idx="0"/>
          </p:cNvCxnSpPr>
          <p:nvPr/>
        </p:nvCxnSpPr>
        <p:spPr>
          <a:xfrm flipH="1">
            <a:off x="5003189" y="5448822"/>
            <a:ext cx="440700" cy="585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6" name="Google Shape;386;p14"/>
          <p:cNvSpPr txBox="1"/>
          <p:nvPr/>
        </p:nvSpPr>
        <p:spPr>
          <a:xfrm>
            <a:off x="9234379" y="4113707"/>
            <a:ext cx="5915310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L_Rota(&amp;X):	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Z = X-&gt;right	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X-&gt;right = Z-&gt;left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Z-&gt;left = 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X = Z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Rotaciones (algoritmo) </a:t>
            </a:r>
            <a:endParaRPr b="1"/>
          </a:p>
        </p:txBody>
      </p:sp>
      <p:sp>
        <p:nvSpPr>
          <p:cNvPr id="393" name="Google Shape;393;p15"/>
          <p:cNvSpPr txBox="1"/>
          <p:nvPr/>
        </p:nvSpPr>
        <p:spPr>
          <a:xfrm>
            <a:off x="838932" y="3230657"/>
            <a:ext cx="4257049" cy="6040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Rotación a la derecha en Y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2392104" y="4320283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1560813" y="5351442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916794" y="6366781"/>
            <a:ext cx="575352" cy="5034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" name="Google Shape;397;p15"/>
          <p:cNvCxnSpPr>
            <a:stCxn id="394" idx="3"/>
            <a:endCxn id="395" idx="7"/>
          </p:cNvCxnSpPr>
          <p:nvPr/>
        </p:nvCxnSpPr>
        <p:spPr>
          <a:xfrm flipH="1">
            <a:off x="2051862" y="4749991"/>
            <a:ext cx="424500" cy="675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8" name="Google Shape;398;p15"/>
          <p:cNvSpPr/>
          <p:nvPr/>
        </p:nvSpPr>
        <p:spPr>
          <a:xfrm>
            <a:off x="130757" y="7494029"/>
            <a:ext cx="856497" cy="772136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p15"/>
          <p:cNvCxnSpPr>
            <a:stCxn id="395" idx="5"/>
            <a:endCxn id="400" idx="0"/>
          </p:cNvCxnSpPr>
          <p:nvPr/>
        </p:nvCxnSpPr>
        <p:spPr>
          <a:xfrm>
            <a:off x="2051907" y="5781150"/>
            <a:ext cx="505800" cy="54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1" name="Google Shape;401;p15"/>
          <p:cNvSpPr/>
          <p:nvPr/>
        </p:nvSpPr>
        <p:spPr>
          <a:xfrm>
            <a:off x="1535607" y="7460019"/>
            <a:ext cx="856497" cy="802227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2129406" y="6321447"/>
            <a:ext cx="856497" cy="7675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2864609" y="5314557"/>
            <a:ext cx="856497" cy="65669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3" name="Google Shape;403;p15"/>
          <p:cNvCxnSpPr>
            <a:stCxn id="394" idx="5"/>
            <a:endCxn id="402" idx="0"/>
          </p:cNvCxnSpPr>
          <p:nvPr/>
        </p:nvCxnSpPr>
        <p:spPr>
          <a:xfrm>
            <a:off x="2883198" y="4749991"/>
            <a:ext cx="409800" cy="564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4" name="Google Shape;404;p15"/>
          <p:cNvSpPr/>
          <p:nvPr/>
        </p:nvSpPr>
        <p:spPr>
          <a:xfrm>
            <a:off x="4122748" y="6251159"/>
            <a:ext cx="628866" cy="4297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15"/>
          <p:cNvCxnSpPr>
            <a:stCxn id="396" idx="3"/>
            <a:endCxn id="398" idx="0"/>
          </p:cNvCxnSpPr>
          <p:nvPr/>
        </p:nvCxnSpPr>
        <p:spPr>
          <a:xfrm flipH="1">
            <a:off x="559152" y="6796489"/>
            <a:ext cx="441900" cy="6975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6" name="Google Shape;406;p15"/>
          <p:cNvCxnSpPr>
            <a:stCxn id="396" idx="5"/>
            <a:endCxn id="401" idx="0"/>
          </p:cNvCxnSpPr>
          <p:nvPr/>
        </p:nvCxnSpPr>
        <p:spPr>
          <a:xfrm>
            <a:off x="1407888" y="6796489"/>
            <a:ext cx="555900" cy="663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7" name="Google Shape;407;p15"/>
          <p:cNvCxnSpPr>
            <a:stCxn id="395" idx="3"/>
            <a:endCxn id="396" idx="0"/>
          </p:cNvCxnSpPr>
          <p:nvPr/>
        </p:nvCxnSpPr>
        <p:spPr>
          <a:xfrm flipH="1">
            <a:off x="1204371" y="5781150"/>
            <a:ext cx="440700" cy="585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8" name="Google Shape;408;p15"/>
          <p:cNvSpPr/>
          <p:nvPr/>
        </p:nvSpPr>
        <p:spPr>
          <a:xfrm>
            <a:off x="7261130" y="5425168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6084801" y="4235993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5246580" y="5425168"/>
            <a:ext cx="575352" cy="5034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4509475" y="6466013"/>
            <a:ext cx="856497" cy="772136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15"/>
          <p:cNvCxnSpPr>
            <a:stCxn id="408" idx="3"/>
            <a:endCxn id="413" idx="0"/>
          </p:cNvCxnSpPr>
          <p:nvPr/>
        </p:nvCxnSpPr>
        <p:spPr>
          <a:xfrm flipH="1">
            <a:off x="7048988" y="5854876"/>
            <a:ext cx="296400" cy="5985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4" name="Google Shape;414;p15"/>
          <p:cNvSpPr/>
          <p:nvPr/>
        </p:nvSpPr>
        <p:spPr>
          <a:xfrm>
            <a:off x="5613141" y="6435922"/>
            <a:ext cx="856497" cy="802227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6620651" y="6453268"/>
            <a:ext cx="856497" cy="7675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7747860" y="6523736"/>
            <a:ext cx="856497" cy="65669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p15"/>
          <p:cNvCxnSpPr>
            <a:stCxn id="408" idx="5"/>
            <a:endCxn id="415" idx="0"/>
          </p:cNvCxnSpPr>
          <p:nvPr/>
        </p:nvCxnSpPr>
        <p:spPr>
          <a:xfrm>
            <a:off x="7752224" y="5854876"/>
            <a:ext cx="423900" cy="6690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7" name="Google Shape;417;p15"/>
          <p:cNvCxnSpPr>
            <a:stCxn id="410" idx="3"/>
            <a:endCxn id="411" idx="0"/>
          </p:cNvCxnSpPr>
          <p:nvPr/>
        </p:nvCxnSpPr>
        <p:spPr>
          <a:xfrm flipH="1">
            <a:off x="4937838" y="5854876"/>
            <a:ext cx="393000" cy="611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8" name="Google Shape;418;p15"/>
          <p:cNvCxnSpPr>
            <a:stCxn id="410" idx="5"/>
            <a:endCxn id="414" idx="0"/>
          </p:cNvCxnSpPr>
          <p:nvPr/>
        </p:nvCxnSpPr>
        <p:spPr>
          <a:xfrm>
            <a:off x="5737674" y="5854876"/>
            <a:ext cx="303600" cy="581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9" name="Google Shape;419;p15"/>
          <p:cNvCxnSpPr>
            <a:stCxn id="409" idx="3"/>
            <a:endCxn id="410" idx="0"/>
          </p:cNvCxnSpPr>
          <p:nvPr/>
        </p:nvCxnSpPr>
        <p:spPr>
          <a:xfrm flipH="1">
            <a:off x="5534259" y="4665701"/>
            <a:ext cx="634800" cy="759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0" name="Google Shape;420;p15"/>
          <p:cNvCxnSpPr>
            <a:stCxn id="409" idx="5"/>
            <a:endCxn id="408" idx="1"/>
          </p:cNvCxnSpPr>
          <p:nvPr/>
        </p:nvCxnSpPr>
        <p:spPr>
          <a:xfrm>
            <a:off x="6575895" y="4665701"/>
            <a:ext cx="769500" cy="833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1" name="Google Shape;421;p15"/>
          <p:cNvSpPr txBox="1"/>
          <p:nvPr/>
        </p:nvSpPr>
        <p:spPr>
          <a:xfrm>
            <a:off x="9275680" y="3773260"/>
            <a:ext cx="5132495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R_Rota(&amp;Y):	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Rotaciones (algoritmo) </a:t>
            </a:r>
            <a:endParaRPr b="1"/>
          </a:p>
        </p:txBody>
      </p:sp>
      <p:sp>
        <p:nvSpPr>
          <p:cNvPr id="428" name="Google Shape;428;p16"/>
          <p:cNvSpPr txBox="1"/>
          <p:nvPr/>
        </p:nvSpPr>
        <p:spPr>
          <a:xfrm>
            <a:off x="838932" y="3230657"/>
            <a:ext cx="4257049" cy="6040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Rotación a la derecha en Y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2392104" y="4320283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1560813" y="5351442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916794" y="6366781"/>
            <a:ext cx="575352" cy="5034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2" name="Google Shape;432;p16"/>
          <p:cNvCxnSpPr>
            <a:stCxn id="429" idx="3"/>
            <a:endCxn id="430" idx="7"/>
          </p:cNvCxnSpPr>
          <p:nvPr/>
        </p:nvCxnSpPr>
        <p:spPr>
          <a:xfrm flipH="1">
            <a:off x="2051862" y="4749991"/>
            <a:ext cx="424500" cy="675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3" name="Google Shape;433;p16"/>
          <p:cNvSpPr/>
          <p:nvPr/>
        </p:nvSpPr>
        <p:spPr>
          <a:xfrm>
            <a:off x="130757" y="7494029"/>
            <a:ext cx="856497" cy="772136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p16"/>
          <p:cNvCxnSpPr>
            <a:stCxn id="430" idx="5"/>
            <a:endCxn id="435" idx="0"/>
          </p:cNvCxnSpPr>
          <p:nvPr/>
        </p:nvCxnSpPr>
        <p:spPr>
          <a:xfrm>
            <a:off x="2051907" y="5781150"/>
            <a:ext cx="505800" cy="54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6" name="Google Shape;436;p16"/>
          <p:cNvSpPr/>
          <p:nvPr/>
        </p:nvSpPr>
        <p:spPr>
          <a:xfrm>
            <a:off x="1535607" y="7460019"/>
            <a:ext cx="856497" cy="802227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2129406" y="6321447"/>
            <a:ext cx="856497" cy="7675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2864609" y="5314557"/>
            <a:ext cx="856497" cy="65669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" name="Google Shape;438;p16"/>
          <p:cNvCxnSpPr>
            <a:stCxn id="429" idx="5"/>
            <a:endCxn id="437" idx="0"/>
          </p:cNvCxnSpPr>
          <p:nvPr/>
        </p:nvCxnSpPr>
        <p:spPr>
          <a:xfrm>
            <a:off x="2883198" y="4749991"/>
            <a:ext cx="409800" cy="564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9" name="Google Shape;439;p16"/>
          <p:cNvSpPr/>
          <p:nvPr/>
        </p:nvSpPr>
        <p:spPr>
          <a:xfrm>
            <a:off x="4122748" y="6251159"/>
            <a:ext cx="628866" cy="4297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" name="Google Shape;440;p16"/>
          <p:cNvCxnSpPr>
            <a:stCxn id="431" idx="3"/>
            <a:endCxn id="433" idx="0"/>
          </p:cNvCxnSpPr>
          <p:nvPr/>
        </p:nvCxnSpPr>
        <p:spPr>
          <a:xfrm flipH="1">
            <a:off x="559152" y="6796489"/>
            <a:ext cx="441900" cy="6975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1" name="Google Shape;441;p16"/>
          <p:cNvCxnSpPr>
            <a:stCxn id="431" idx="5"/>
            <a:endCxn id="436" idx="0"/>
          </p:cNvCxnSpPr>
          <p:nvPr/>
        </p:nvCxnSpPr>
        <p:spPr>
          <a:xfrm>
            <a:off x="1407888" y="6796489"/>
            <a:ext cx="555900" cy="663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2" name="Google Shape;442;p16"/>
          <p:cNvCxnSpPr>
            <a:stCxn id="430" idx="3"/>
            <a:endCxn id="431" idx="0"/>
          </p:cNvCxnSpPr>
          <p:nvPr/>
        </p:nvCxnSpPr>
        <p:spPr>
          <a:xfrm flipH="1">
            <a:off x="1204371" y="5781150"/>
            <a:ext cx="440700" cy="585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3" name="Google Shape;443;p16"/>
          <p:cNvSpPr/>
          <p:nvPr/>
        </p:nvSpPr>
        <p:spPr>
          <a:xfrm>
            <a:off x="7261130" y="5425168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6084801" y="4235993"/>
            <a:ext cx="575352" cy="50343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5246580" y="5425168"/>
            <a:ext cx="575352" cy="5034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4509475" y="6466013"/>
            <a:ext cx="856497" cy="772136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" name="Google Shape;447;p16"/>
          <p:cNvCxnSpPr>
            <a:stCxn id="443" idx="3"/>
            <a:endCxn id="448" idx="0"/>
          </p:cNvCxnSpPr>
          <p:nvPr/>
        </p:nvCxnSpPr>
        <p:spPr>
          <a:xfrm flipH="1">
            <a:off x="7048988" y="5854876"/>
            <a:ext cx="296400" cy="5985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9" name="Google Shape;449;p16"/>
          <p:cNvSpPr/>
          <p:nvPr/>
        </p:nvSpPr>
        <p:spPr>
          <a:xfrm>
            <a:off x="5613141" y="6435922"/>
            <a:ext cx="856497" cy="802227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6620651" y="6453268"/>
            <a:ext cx="856497" cy="7675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7747860" y="6523736"/>
            <a:ext cx="856497" cy="65669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p16"/>
          <p:cNvCxnSpPr>
            <a:stCxn id="443" idx="5"/>
            <a:endCxn id="450" idx="0"/>
          </p:cNvCxnSpPr>
          <p:nvPr/>
        </p:nvCxnSpPr>
        <p:spPr>
          <a:xfrm>
            <a:off x="7752224" y="5854876"/>
            <a:ext cx="423900" cy="6690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2" name="Google Shape;452;p16"/>
          <p:cNvCxnSpPr>
            <a:stCxn id="445" idx="3"/>
            <a:endCxn id="446" idx="0"/>
          </p:cNvCxnSpPr>
          <p:nvPr/>
        </p:nvCxnSpPr>
        <p:spPr>
          <a:xfrm flipH="1">
            <a:off x="4937838" y="5854876"/>
            <a:ext cx="393000" cy="611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3" name="Google Shape;453;p16"/>
          <p:cNvCxnSpPr>
            <a:stCxn id="445" idx="5"/>
            <a:endCxn id="449" idx="0"/>
          </p:cNvCxnSpPr>
          <p:nvPr/>
        </p:nvCxnSpPr>
        <p:spPr>
          <a:xfrm>
            <a:off x="5737674" y="5854876"/>
            <a:ext cx="303600" cy="581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4" name="Google Shape;454;p16"/>
          <p:cNvCxnSpPr>
            <a:stCxn id="444" idx="3"/>
            <a:endCxn id="445" idx="0"/>
          </p:cNvCxnSpPr>
          <p:nvPr/>
        </p:nvCxnSpPr>
        <p:spPr>
          <a:xfrm flipH="1">
            <a:off x="5534259" y="4665701"/>
            <a:ext cx="634800" cy="759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5" name="Google Shape;455;p16"/>
          <p:cNvCxnSpPr>
            <a:stCxn id="444" idx="5"/>
            <a:endCxn id="443" idx="1"/>
          </p:cNvCxnSpPr>
          <p:nvPr/>
        </p:nvCxnSpPr>
        <p:spPr>
          <a:xfrm>
            <a:off x="6575895" y="4665701"/>
            <a:ext cx="769500" cy="833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6" name="Google Shape;456;p16"/>
          <p:cNvSpPr txBox="1"/>
          <p:nvPr/>
        </p:nvSpPr>
        <p:spPr>
          <a:xfrm>
            <a:off x="9275680" y="3773260"/>
            <a:ext cx="6180453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R_Rota(&amp;Y):	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Z = Y-&gt;left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Y-&gt;left = Z-&gt;right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Z-&gt;right = 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Y = Z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7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Rotaciones (algoritmo) </a:t>
            </a:r>
            <a:endParaRPr b="1"/>
          </a:p>
        </p:txBody>
      </p:sp>
      <p:sp>
        <p:nvSpPr>
          <p:cNvPr id="463" name="Google Shape;463;p17"/>
          <p:cNvSpPr txBox="1"/>
          <p:nvPr/>
        </p:nvSpPr>
        <p:spPr>
          <a:xfrm>
            <a:off x="838932" y="3230657"/>
            <a:ext cx="5695218" cy="6040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Rotación doble izquierda derecha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17"/>
          <p:cNvSpPr txBox="1"/>
          <p:nvPr/>
        </p:nvSpPr>
        <p:spPr>
          <a:xfrm>
            <a:off x="838932" y="4247473"/>
            <a:ext cx="5132495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LR_Rota(&amp;Y):	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L_Rota(Y-&gt;left)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R_Rota(Y)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7"/>
          <p:cNvSpPr txBox="1"/>
          <p:nvPr/>
        </p:nvSpPr>
        <p:spPr>
          <a:xfrm>
            <a:off x="8128000" y="3321882"/>
            <a:ext cx="5695218" cy="6040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Rotación doble derecha izquierda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7"/>
          <p:cNvSpPr txBox="1"/>
          <p:nvPr/>
        </p:nvSpPr>
        <p:spPr>
          <a:xfrm>
            <a:off x="8128000" y="4338698"/>
            <a:ext cx="5892800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RL_Rota(&amp;Y):	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R_Rota(Y-&gt;right)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L_Rota(Y)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8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b="1" lang="es-PE"/>
              <a:t>Rotaciones (algoritmo balancear) </a:t>
            </a:r>
            <a:endParaRPr/>
          </a:p>
        </p:txBody>
      </p:sp>
      <p:sp>
        <p:nvSpPr>
          <p:cNvPr id="472" name="Google Shape;472;p18"/>
          <p:cNvSpPr txBox="1"/>
          <p:nvPr>
            <p:ph idx="1" type="body"/>
          </p:nvPr>
        </p:nvSpPr>
        <p:spPr>
          <a:xfrm>
            <a:off x="5033592" y="3100567"/>
            <a:ext cx="5355622" cy="5872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chemeClr val="dk2"/>
                </a:solidFill>
              </a:rPr>
              <a:t>Balancear(node)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chemeClr val="dk2"/>
                </a:solidFill>
              </a:rPr>
              <a:t>--------------------------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chemeClr val="dk2"/>
                </a:solidFill>
              </a:rPr>
              <a:t>si hb(node) &gt;= 2: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chemeClr val="dk2"/>
                </a:solidFill>
              </a:rPr>
              <a:t>	si hb(node-&gt;left) &lt;= -1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chemeClr val="dk2"/>
                </a:solidFill>
              </a:rPr>
              <a:t>		L_Rota(node)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chemeClr val="dk2"/>
                </a:solidFill>
              </a:rPr>
              <a:t>	</a:t>
            </a:r>
            <a:r>
              <a:rPr lang="es-PE" sz="2400"/>
              <a:t> R</a:t>
            </a:r>
            <a:r>
              <a:rPr lang="es-PE" sz="2400">
                <a:solidFill>
                  <a:schemeClr val="dk2"/>
                </a:solidFill>
              </a:rPr>
              <a:t>_Rota(node</a:t>
            </a:r>
            <a:r>
              <a:rPr lang="es-PE" sz="2400"/>
              <a:t>)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chemeClr val="dk2"/>
                </a:solidFill>
              </a:rPr>
              <a:t>si hb(node) &lt;= -2: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chemeClr val="dk2"/>
                </a:solidFill>
              </a:rPr>
              <a:t>	si hb(node-&gt;right) &gt;= 1: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chemeClr val="dk2"/>
                </a:solidFill>
              </a:rPr>
              <a:t>		R_Rota(node)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chemeClr val="dk2"/>
                </a:solidFill>
              </a:rPr>
              <a:t>	L_Rota(node)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9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</a:t>
            </a:r>
            <a:endParaRPr b="1"/>
          </a:p>
        </p:txBody>
      </p:sp>
      <p:sp>
        <p:nvSpPr>
          <p:cNvPr id="479" name="Google Shape;479;p19"/>
          <p:cNvSpPr txBox="1"/>
          <p:nvPr>
            <p:ph idx="1" type="body"/>
          </p:nvPr>
        </p:nvSpPr>
        <p:spPr>
          <a:xfrm>
            <a:off x="838925" y="3411700"/>
            <a:ext cx="79146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Para el borrado hay ciertos casos a tener en cuenta: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Buscar el desbalance verificando los hijos de mayor altura.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Este proceso se repite hasta encontrar dos casos e identificar el tipo de rotación.</a:t>
            </a:r>
            <a:endParaRPr sz="2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Por ejemplo, borrar el 26: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s-PE" sz="2400">
                <a:solidFill>
                  <a:srgbClr val="000000"/>
                </a:solidFill>
              </a:rPr>
              <a:t>El nodo en desbalance sería el 23, su hijo con mayor altura 14, y el el siguiente 18. 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s-PE" sz="2400">
                <a:solidFill>
                  <a:srgbClr val="000000"/>
                </a:solidFill>
              </a:rPr>
              <a:t>Entonces sería una rotación LR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480" name="Google Shape;480;p19"/>
          <p:cNvPicPr preferRelativeResize="0"/>
          <p:nvPr/>
        </p:nvPicPr>
        <p:blipFill rotWithShape="1">
          <a:blip r:embed="rId3">
            <a:alphaModFix/>
          </a:blip>
          <a:srcRect b="7988" l="8794" r="7895" t="467"/>
          <a:stretch/>
        </p:blipFill>
        <p:spPr>
          <a:xfrm>
            <a:off x="10072235" y="3750089"/>
            <a:ext cx="5029952" cy="408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0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</a:t>
            </a:r>
            <a:endParaRPr b="1"/>
          </a:p>
        </p:txBody>
      </p:sp>
      <p:sp>
        <p:nvSpPr>
          <p:cNvPr id="487" name="Google Shape;487;p20"/>
          <p:cNvSpPr txBox="1"/>
          <p:nvPr>
            <p:ph idx="1" type="body"/>
          </p:nvPr>
        </p:nvSpPr>
        <p:spPr>
          <a:xfrm>
            <a:off x="838925" y="3411700"/>
            <a:ext cx="79146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Para el borrado hay ciertos casos a tener en cuenta: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Buscar el desbalance verificando los hijos de mayor altura.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Este proceso se repite hasta encontrar dos casos e identificar el tipo de rotación.</a:t>
            </a:r>
            <a:endParaRPr sz="2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Por ejemplo, borrar el 26: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s-PE" sz="2400">
                <a:solidFill>
                  <a:srgbClr val="000000"/>
                </a:solidFill>
              </a:rPr>
              <a:t>El nodo en desbalance sería el 23, su hijo con mayor altura 14, y el el siguiente 18. 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s-PE" sz="2400">
                <a:solidFill>
                  <a:srgbClr val="000000"/>
                </a:solidFill>
              </a:rPr>
              <a:t>Entonces sería una rotación LR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488" name="Google Shape;488;p20"/>
          <p:cNvPicPr preferRelativeResize="0"/>
          <p:nvPr/>
        </p:nvPicPr>
        <p:blipFill rotWithShape="1">
          <a:blip r:embed="rId3">
            <a:alphaModFix/>
          </a:blip>
          <a:srcRect b="7988" l="8794" r="7895" t="467"/>
          <a:stretch/>
        </p:blipFill>
        <p:spPr>
          <a:xfrm>
            <a:off x="9710990" y="1015713"/>
            <a:ext cx="5029952" cy="4080623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20"/>
          <p:cNvSpPr/>
          <p:nvPr/>
        </p:nvSpPr>
        <p:spPr>
          <a:xfrm>
            <a:off x="12854327" y="6763915"/>
            <a:ext cx="650240" cy="65024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10478806" y="6859140"/>
            <a:ext cx="650240" cy="65024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9701184" y="8017572"/>
            <a:ext cx="650240" cy="65024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11575726" y="5726813"/>
            <a:ext cx="650240" cy="65024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11232043" y="8017572"/>
            <a:ext cx="650240" cy="65024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0"/>
          <p:cNvSpPr/>
          <p:nvPr/>
        </p:nvSpPr>
        <p:spPr>
          <a:xfrm>
            <a:off x="12215176" y="7999905"/>
            <a:ext cx="650240" cy="65024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0"/>
          <p:cNvSpPr/>
          <p:nvPr/>
        </p:nvSpPr>
        <p:spPr>
          <a:xfrm>
            <a:off x="13969435" y="7999905"/>
            <a:ext cx="650240" cy="65024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156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20"/>
          <p:cNvCxnSpPr>
            <a:stCxn id="492" idx="5"/>
            <a:endCxn id="489" idx="1"/>
          </p:cNvCxnSpPr>
          <p:nvPr/>
        </p:nvCxnSpPr>
        <p:spPr>
          <a:xfrm>
            <a:off x="12130741" y="6281828"/>
            <a:ext cx="818700" cy="577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7" name="Google Shape;497;p20"/>
          <p:cNvCxnSpPr>
            <a:stCxn id="489" idx="5"/>
            <a:endCxn id="495" idx="1"/>
          </p:cNvCxnSpPr>
          <p:nvPr/>
        </p:nvCxnSpPr>
        <p:spPr>
          <a:xfrm>
            <a:off x="13409342" y="7318930"/>
            <a:ext cx="655200" cy="776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8" name="Google Shape;498;p20"/>
          <p:cNvCxnSpPr>
            <a:stCxn id="490" idx="3"/>
            <a:endCxn id="491" idx="7"/>
          </p:cNvCxnSpPr>
          <p:nvPr/>
        </p:nvCxnSpPr>
        <p:spPr>
          <a:xfrm flipH="1">
            <a:off x="10256331" y="7414155"/>
            <a:ext cx="317700" cy="698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9" name="Google Shape;499;p20"/>
          <p:cNvCxnSpPr>
            <a:stCxn id="492" idx="2"/>
            <a:endCxn id="490" idx="7"/>
          </p:cNvCxnSpPr>
          <p:nvPr/>
        </p:nvCxnSpPr>
        <p:spPr>
          <a:xfrm flipH="1">
            <a:off x="11033926" y="6051933"/>
            <a:ext cx="541800" cy="902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0" name="Google Shape;500;p20"/>
          <p:cNvCxnSpPr>
            <a:stCxn id="490" idx="5"/>
            <a:endCxn id="493" idx="0"/>
          </p:cNvCxnSpPr>
          <p:nvPr/>
        </p:nvCxnSpPr>
        <p:spPr>
          <a:xfrm>
            <a:off x="11033821" y="7414155"/>
            <a:ext cx="523200" cy="6033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1" name="Google Shape;501;p20"/>
          <p:cNvCxnSpPr>
            <a:stCxn id="489" idx="4"/>
            <a:endCxn id="494" idx="0"/>
          </p:cNvCxnSpPr>
          <p:nvPr/>
        </p:nvCxnSpPr>
        <p:spPr>
          <a:xfrm flipH="1">
            <a:off x="12540147" y="7414155"/>
            <a:ext cx="639300" cy="585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1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Borrado</a:t>
            </a:r>
            <a:endParaRPr b="1"/>
          </a:p>
        </p:txBody>
      </p:sp>
      <p:sp>
        <p:nvSpPr>
          <p:cNvPr id="508" name="Google Shape;508;p21"/>
          <p:cNvSpPr txBox="1"/>
          <p:nvPr>
            <p:ph idx="1" type="body"/>
          </p:nvPr>
        </p:nvSpPr>
        <p:spPr>
          <a:xfrm>
            <a:off x="838925" y="3411700"/>
            <a:ext cx="79146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El caso del borrado se trata similar al del borrado en un BST: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Primero debemos cambiar el nodo con el nodo siguiente (derecha, más a la izquierda) o anterior (izquierda, más a la derecha)</a:t>
            </a:r>
            <a:endParaRPr sz="2400">
              <a:solidFill>
                <a:srgbClr val="000000"/>
              </a:solidFill>
            </a:endParaRPr>
          </a:p>
          <a:p>
            <a:pPr indent="-254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457200" lvl="0" marL="990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Se procede a eliminar el nodo en la hoja</a:t>
            </a:r>
            <a:endParaRPr sz="2400">
              <a:solidFill>
                <a:srgbClr val="000000"/>
              </a:solidFill>
            </a:endParaRPr>
          </a:p>
          <a:p>
            <a:pPr indent="-254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b="1" lang="es-PE" sz="2400">
                <a:solidFill>
                  <a:srgbClr val="000000"/>
                </a:solidFill>
              </a:rPr>
              <a:t>Se verifica el equilibrio y se aplican rotaciones si es necesario</a:t>
            </a:r>
            <a:endParaRPr b="1" sz="2400">
              <a:solidFill>
                <a:srgbClr val="000000"/>
              </a:solidFill>
            </a:endParaRPr>
          </a:p>
        </p:txBody>
      </p:sp>
      <p:grpSp>
        <p:nvGrpSpPr>
          <p:cNvPr id="509" name="Google Shape;509;p21"/>
          <p:cNvGrpSpPr/>
          <p:nvPr/>
        </p:nvGrpSpPr>
        <p:grpSpPr>
          <a:xfrm>
            <a:off x="12393500" y="3539150"/>
            <a:ext cx="629700" cy="629750"/>
            <a:chOff x="11738575" y="3740675"/>
            <a:chExt cx="629700" cy="629750"/>
          </a:xfrm>
        </p:grpSpPr>
        <p:sp>
          <p:nvSpPr>
            <p:cNvPr id="510" name="Google Shape;510;p21"/>
            <p:cNvSpPr/>
            <p:nvPr/>
          </p:nvSpPr>
          <p:spPr>
            <a:xfrm>
              <a:off x="11738575" y="3740725"/>
              <a:ext cx="629700" cy="6297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1"/>
            <p:cNvSpPr txBox="1"/>
            <p:nvPr/>
          </p:nvSpPr>
          <p:spPr>
            <a:xfrm>
              <a:off x="11738575" y="3740675"/>
              <a:ext cx="6297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2" name="Google Shape;512;p21"/>
          <p:cNvGrpSpPr/>
          <p:nvPr/>
        </p:nvGrpSpPr>
        <p:grpSpPr>
          <a:xfrm>
            <a:off x="13591275" y="4257150"/>
            <a:ext cx="629700" cy="629700"/>
            <a:chOff x="11738575" y="3740725"/>
            <a:chExt cx="629700" cy="629700"/>
          </a:xfrm>
        </p:grpSpPr>
        <p:sp>
          <p:nvSpPr>
            <p:cNvPr id="513" name="Google Shape;513;p21"/>
            <p:cNvSpPr/>
            <p:nvPr/>
          </p:nvSpPr>
          <p:spPr>
            <a:xfrm>
              <a:off x="11738575" y="3740725"/>
              <a:ext cx="629700" cy="6297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1"/>
            <p:cNvSpPr txBox="1"/>
            <p:nvPr/>
          </p:nvSpPr>
          <p:spPr>
            <a:xfrm>
              <a:off x="11738575" y="3740725"/>
              <a:ext cx="6297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140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5" name="Google Shape;515;p21"/>
          <p:cNvGrpSpPr/>
          <p:nvPr/>
        </p:nvGrpSpPr>
        <p:grpSpPr>
          <a:xfrm>
            <a:off x="12708275" y="5030050"/>
            <a:ext cx="629700" cy="629750"/>
            <a:chOff x="11738575" y="3740675"/>
            <a:chExt cx="629700" cy="629750"/>
          </a:xfrm>
        </p:grpSpPr>
        <p:sp>
          <p:nvSpPr>
            <p:cNvPr id="516" name="Google Shape;516;p21"/>
            <p:cNvSpPr/>
            <p:nvPr/>
          </p:nvSpPr>
          <p:spPr>
            <a:xfrm>
              <a:off x="11738575" y="3740725"/>
              <a:ext cx="629700" cy="6297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21"/>
            <p:cNvSpPr txBox="1"/>
            <p:nvPr/>
          </p:nvSpPr>
          <p:spPr>
            <a:xfrm>
              <a:off x="11738575" y="3740675"/>
              <a:ext cx="6297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PE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125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8" name="Google Shape;518;p21"/>
          <p:cNvGrpSpPr/>
          <p:nvPr/>
        </p:nvGrpSpPr>
        <p:grpSpPr>
          <a:xfrm>
            <a:off x="11236025" y="4168950"/>
            <a:ext cx="1472250" cy="717900"/>
            <a:chOff x="11236025" y="4168950"/>
            <a:chExt cx="1472250" cy="717900"/>
          </a:xfrm>
        </p:grpSpPr>
        <p:grpSp>
          <p:nvGrpSpPr>
            <p:cNvPr id="519" name="Google Shape;519;p21"/>
            <p:cNvGrpSpPr/>
            <p:nvPr/>
          </p:nvGrpSpPr>
          <p:grpSpPr>
            <a:xfrm>
              <a:off x="11236025" y="4257150"/>
              <a:ext cx="629700" cy="629700"/>
              <a:chOff x="11738575" y="3740725"/>
              <a:chExt cx="629700" cy="629700"/>
            </a:xfrm>
          </p:grpSpPr>
          <p:sp>
            <p:nvSpPr>
              <p:cNvPr id="520" name="Google Shape;520;p2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21"/>
              <p:cNvSpPr txBox="1"/>
              <p:nvPr/>
            </p:nvSpPr>
            <p:spPr>
              <a:xfrm>
                <a:off x="11738575" y="374072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22" name="Google Shape;522;p21"/>
            <p:cNvCxnSpPr>
              <a:stCxn id="521" idx="0"/>
              <a:endCxn id="511" idx="2"/>
            </p:cNvCxnSpPr>
            <p:nvPr/>
          </p:nvCxnSpPr>
          <p:spPr>
            <a:xfrm flipH="1" rot="10800000">
              <a:off x="11550875" y="4168950"/>
              <a:ext cx="1157400" cy="8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23" name="Google Shape;523;p21"/>
          <p:cNvCxnSpPr>
            <a:stCxn id="511" idx="2"/>
            <a:endCxn id="514" idx="0"/>
          </p:cNvCxnSpPr>
          <p:nvPr/>
        </p:nvCxnSpPr>
        <p:spPr>
          <a:xfrm>
            <a:off x="12708350" y="4168850"/>
            <a:ext cx="1197900" cy="8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4" name="Google Shape;524;p21"/>
          <p:cNvCxnSpPr>
            <a:stCxn id="517" idx="0"/>
            <a:endCxn id="514" idx="2"/>
          </p:cNvCxnSpPr>
          <p:nvPr/>
        </p:nvCxnSpPr>
        <p:spPr>
          <a:xfrm flipH="1" rot="10800000">
            <a:off x="13023125" y="4886950"/>
            <a:ext cx="882900" cy="1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5" name="Google Shape;525;p21"/>
          <p:cNvSpPr txBox="1"/>
          <p:nvPr/>
        </p:nvSpPr>
        <p:spPr>
          <a:xfrm>
            <a:off x="11121425" y="5792450"/>
            <a:ext cx="2216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Borrar el 70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26" name="Google Shape;526;p21"/>
          <p:cNvGrpSpPr/>
          <p:nvPr/>
        </p:nvGrpSpPr>
        <p:grpSpPr>
          <a:xfrm>
            <a:off x="9924925" y="6657675"/>
            <a:ext cx="2783350" cy="2120650"/>
            <a:chOff x="12393500" y="6520950"/>
            <a:chExt cx="2783350" cy="2120650"/>
          </a:xfrm>
        </p:grpSpPr>
        <p:grpSp>
          <p:nvGrpSpPr>
            <p:cNvPr id="527" name="Google Shape;527;p21"/>
            <p:cNvGrpSpPr/>
            <p:nvPr/>
          </p:nvGrpSpPr>
          <p:grpSpPr>
            <a:xfrm>
              <a:off x="12393500" y="6520950"/>
              <a:ext cx="629700" cy="629750"/>
              <a:chOff x="11738575" y="3740675"/>
              <a:chExt cx="629700" cy="629750"/>
            </a:xfrm>
          </p:grpSpPr>
          <p:sp>
            <p:nvSpPr>
              <p:cNvPr id="528" name="Google Shape;528;p2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21"/>
              <p:cNvSpPr txBox="1"/>
              <p:nvPr/>
            </p:nvSpPr>
            <p:spPr>
              <a:xfrm>
                <a:off x="11738575" y="374067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30" name="Google Shape;530;p21"/>
            <p:cNvGrpSpPr/>
            <p:nvPr/>
          </p:nvGrpSpPr>
          <p:grpSpPr>
            <a:xfrm>
              <a:off x="13591275" y="7238950"/>
              <a:ext cx="629700" cy="629700"/>
              <a:chOff x="11738575" y="3740725"/>
              <a:chExt cx="629700" cy="629700"/>
            </a:xfrm>
          </p:grpSpPr>
          <p:sp>
            <p:nvSpPr>
              <p:cNvPr id="531" name="Google Shape;531;p2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21"/>
              <p:cNvSpPr txBox="1"/>
              <p:nvPr/>
            </p:nvSpPr>
            <p:spPr>
              <a:xfrm>
                <a:off x="11738575" y="374072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125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33" name="Google Shape;533;p21"/>
            <p:cNvGrpSpPr/>
            <p:nvPr/>
          </p:nvGrpSpPr>
          <p:grpSpPr>
            <a:xfrm>
              <a:off x="14547150" y="8011850"/>
              <a:ext cx="629700" cy="629750"/>
              <a:chOff x="11738575" y="3740675"/>
              <a:chExt cx="629700" cy="629750"/>
            </a:xfrm>
          </p:grpSpPr>
          <p:sp>
            <p:nvSpPr>
              <p:cNvPr id="534" name="Google Shape;534;p2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21"/>
              <p:cNvSpPr txBox="1"/>
              <p:nvPr/>
            </p:nvSpPr>
            <p:spPr>
              <a:xfrm>
                <a:off x="11738575" y="374067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140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36" name="Google Shape;536;p21"/>
            <p:cNvCxnSpPr>
              <a:stCxn id="529" idx="2"/>
              <a:endCxn id="532" idx="0"/>
            </p:cNvCxnSpPr>
            <p:nvPr/>
          </p:nvCxnSpPr>
          <p:spPr>
            <a:xfrm>
              <a:off x="12708350" y="7150650"/>
              <a:ext cx="1197900" cy="8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7" name="Google Shape;537;p21"/>
            <p:cNvCxnSpPr>
              <a:stCxn id="535" idx="0"/>
              <a:endCxn id="532" idx="2"/>
            </p:cNvCxnSpPr>
            <p:nvPr/>
          </p:nvCxnSpPr>
          <p:spPr>
            <a:xfrm rot="10800000">
              <a:off x="13906200" y="7868750"/>
              <a:ext cx="955800" cy="14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38" name="Google Shape;538;p21"/>
          <p:cNvGrpSpPr/>
          <p:nvPr/>
        </p:nvGrpSpPr>
        <p:grpSpPr>
          <a:xfrm>
            <a:off x="13023125" y="6697662"/>
            <a:ext cx="2984950" cy="1347700"/>
            <a:chOff x="12874650" y="6412100"/>
            <a:chExt cx="2984950" cy="1347700"/>
          </a:xfrm>
        </p:grpSpPr>
        <p:grpSp>
          <p:nvGrpSpPr>
            <p:cNvPr id="539" name="Google Shape;539;p21"/>
            <p:cNvGrpSpPr/>
            <p:nvPr/>
          </p:nvGrpSpPr>
          <p:grpSpPr>
            <a:xfrm>
              <a:off x="14032125" y="6412100"/>
              <a:ext cx="629700" cy="629750"/>
              <a:chOff x="11738575" y="3740675"/>
              <a:chExt cx="629700" cy="629750"/>
            </a:xfrm>
          </p:grpSpPr>
          <p:sp>
            <p:nvSpPr>
              <p:cNvPr id="540" name="Google Shape;540;p2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21"/>
              <p:cNvSpPr txBox="1"/>
              <p:nvPr/>
            </p:nvSpPr>
            <p:spPr>
              <a:xfrm>
                <a:off x="11738575" y="374067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125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42" name="Google Shape;542;p21"/>
            <p:cNvGrpSpPr/>
            <p:nvPr/>
          </p:nvGrpSpPr>
          <p:grpSpPr>
            <a:xfrm>
              <a:off x="12874650" y="7130100"/>
              <a:ext cx="629700" cy="629700"/>
              <a:chOff x="11738575" y="3740725"/>
              <a:chExt cx="629700" cy="629700"/>
            </a:xfrm>
          </p:grpSpPr>
          <p:sp>
            <p:nvSpPr>
              <p:cNvPr id="543" name="Google Shape;543;p2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21"/>
              <p:cNvSpPr txBox="1"/>
              <p:nvPr/>
            </p:nvSpPr>
            <p:spPr>
              <a:xfrm>
                <a:off x="11738575" y="374072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5" name="Google Shape;545;p21"/>
            <p:cNvGrpSpPr/>
            <p:nvPr/>
          </p:nvGrpSpPr>
          <p:grpSpPr>
            <a:xfrm>
              <a:off x="15229900" y="7130100"/>
              <a:ext cx="629700" cy="629700"/>
              <a:chOff x="11738575" y="3740725"/>
              <a:chExt cx="629700" cy="629700"/>
            </a:xfrm>
          </p:grpSpPr>
          <p:sp>
            <p:nvSpPr>
              <p:cNvPr id="546" name="Google Shape;546;p21"/>
              <p:cNvSpPr/>
              <p:nvPr/>
            </p:nvSpPr>
            <p:spPr>
              <a:xfrm>
                <a:off x="11738575" y="3740725"/>
                <a:ext cx="629700" cy="6297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21"/>
              <p:cNvSpPr txBox="1"/>
              <p:nvPr/>
            </p:nvSpPr>
            <p:spPr>
              <a:xfrm>
                <a:off x="11738575" y="3740725"/>
                <a:ext cx="629700" cy="6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s-PE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140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cxnSp>
          <p:nvCxnSpPr>
            <p:cNvPr id="548" name="Google Shape;548;p21"/>
            <p:cNvCxnSpPr>
              <a:stCxn id="544" idx="0"/>
              <a:endCxn id="541" idx="2"/>
            </p:cNvCxnSpPr>
            <p:nvPr/>
          </p:nvCxnSpPr>
          <p:spPr>
            <a:xfrm flipH="1" rot="10800000">
              <a:off x="13189500" y="7041900"/>
              <a:ext cx="1157400" cy="8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9" name="Google Shape;549;p21"/>
            <p:cNvCxnSpPr>
              <a:stCxn id="541" idx="2"/>
              <a:endCxn id="547" idx="0"/>
            </p:cNvCxnSpPr>
            <p:nvPr/>
          </p:nvCxnSpPr>
          <p:spPr>
            <a:xfrm>
              <a:off x="14346975" y="7041800"/>
              <a:ext cx="1197900" cy="8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2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AVL Sort</a:t>
            </a:r>
            <a:endParaRPr b="1"/>
          </a:p>
        </p:txBody>
      </p:sp>
      <p:sp>
        <p:nvSpPr>
          <p:cNvPr id="556" name="Google Shape;556;p22"/>
          <p:cNvSpPr txBox="1"/>
          <p:nvPr>
            <p:ph idx="1" type="body"/>
          </p:nvPr>
        </p:nvSpPr>
        <p:spPr>
          <a:xfrm>
            <a:off x="838925" y="3411700"/>
            <a:ext cx="79146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Un árbol AVL, debido al tiempo de ejecución en sus funciones puede ser utilizado similar a los heaps (e.g. cola de prioridad)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Insertar O(n log n) y el recorrido (traversal) de un árbol AVL se realiza en tiempo O(n)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A pesar que los árboles AVL son bastante eficientes como para reemplazar a los heaps,</a:t>
            </a:r>
            <a:r>
              <a:rPr b="1" lang="es-PE" sz="2400">
                <a:solidFill>
                  <a:srgbClr val="000000"/>
                </a:solidFill>
              </a:rPr>
              <a:t> por qué se preferiría usar heaps? 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Porque los árboles AVL ocupan más espacio que un heap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557" name="Google Shape;5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1000" y="3777575"/>
            <a:ext cx="5505450" cy="40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3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Ejemplo</a:t>
            </a:r>
            <a:endParaRPr b="1"/>
          </a:p>
        </p:txBody>
      </p:sp>
      <p:sp>
        <p:nvSpPr>
          <p:cNvPr id="564" name="Google Shape;564;p23"/>
          <p:cNvSpPr txBox="1"/>
          <p:nvPr>
            <p:ph idx="1" type="body"/>
          </p:nvPr>
        </p:nvSpPr>
        <p:spPr>
          <a:xfrm>
            <a:off x="838925" y="3411700"/>
            <a:ext cx="79146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Insertar en un árbol AVL: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35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30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27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11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16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100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50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91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73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5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565" name="Google Shape;565;p23"/>
          <p:cNvSpPr txBox="1"/>
          <p:nvPr>
            <p:ph idx="1" type="body"/>
          </p:nvPr>
        </p:nvSpPr>
        <p:spPr>
          <a:xfrm>
            <a:off x="4492750" y="3411700"/>
            <a:ext cx="42609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Remover: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30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35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100</a:t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4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Ejemplo</a:t>
            </a:r>
            <a:endParaRPr b="1"/>
          </a:p>
        </p:txBody>
      </p:sp>
      <p:sp>
        <p:nvSpPr>
          <p:cNvPr id="572" name="Google Shape;572;p24"/>
          <p:cNvSpPr txBox="1"/>
          <p:nvPr>
            <p:ph idx="1" type="body"/>
          </p:nvPr>
        </p:nvSpPr>
        <p:spPr>
          <a:xfrm>
            <a:off x="838925" y="3411700"/>
            <a:ext cx="79146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Insertar en un árbol AVL: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35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30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27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11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16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100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50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91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73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5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573" name="Google Shape;573;p24"/>
          <p:cNvSpPr txBox="1"/>
          <p:nvPr>
            <p:ph idx="1" type="body"/>
          </p:nvPr>
        </p:nvSpPr>
        <p:spPr>
          <a:xfrm>
            <a:off x="4492750" y="3411700"/>
            <a:ext cx="42609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Remover: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30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35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100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574" name="Google Shape;5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3040" y="5656071"/>
            <a:ext cx="4645835" cy="322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6559" y="1645920"/>
            <a:ext cx="5425466" cy="3998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5"/>
          <p:cNvSpPr txBox="1"/>
          <p:nvPr/>
        </p:nvSpPr>
        <p:spPr>
          <a:xfrm>
            <a:off x="1076825" y="660450"/>
            <a:ext cx="14487900" cy="80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Welcome to </a:t>
            </a:r>
            <a:b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Algorithms and Data Structures! - CS2100  </a:t>
            </a:r>
            <a:endParaRPr b="1" i="0" sz="6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1" name="Google Shape;58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1313" y="0"/>
            <a:ext cx="3114600" cy="14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