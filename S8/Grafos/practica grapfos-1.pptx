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8"/>
  </p:notesMasterIdLst>
  <p:sldIdLst>
    <p:sldId id="258" r:id="rId2"/>
    <p:sldId id="270" r:id="rId3"/>
    <p:sldId id="271" r:id="rId4"/>
    <p:sldId id="267" r:id="rId5"/>
    <p:sldId id="269" r:id="rId6"/>
    <p:sldId id="268" r:id="rId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Tahoma" panose="020B060403050404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6764" autoAdjust="0"/>
  </p:normalViewPr>
  <p:slideViewPr>
    <p:cSldViewPr snapToGrid="0">
      <p:cViewPr varScale="1">
        <p:scale>
          <a:sx n="132" d="100"/>
          <a:sy n="132" d="100"/>
        </p:scale>
        <p:origin x="40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af8c529a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5af8c529a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 b="0" i="0" u="none" strike="noStrike" cap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673100" lvl="1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054100" lvl="2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460500" lvl="3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92300" lvl="4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311400" lvl="5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717800" lvl="6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149600" lvl="7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568700" lvl="8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412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sz="2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ubTitle" idx="1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body" idx="1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Práctica Calificada </a:t>
            </a:r>
            <a:endParaRPr dirty="0"/>
          </a:p>
        </p:txBody>
      </p:sp>
      <p:sp>
        <p:nvSpPr>
          <p:cNvPr id="157" name="Google Shape;157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t" anchorCtr="0">
            <a:noAutofit/>
          </a:bodyPr>
          <a:lstStyle/>
          <a:p>
            <a:pPr marL="1651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r>
              <a:rPr lang="en-US" sz="2400" b="1" dirty="0"/>
              <a:t>Graphs &amp; AVL</a:t>
            </a:r>
            <a:endParaRPr lang="en-US" sz="600" b="1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0638A16-F4AF-4A35-80D4-AC250F24754C}"/>
              </a:ext>
            </a:extLst>
          </p:cNvPr>
          <p:cNvSpPr txBox="1">
            <a:spLocks/>
          </p:cNvSpPr>
          <p:nvPr/>
        </p:nvSpPr>
        <p:spPr>
          <a:xfrm>
            <a:off x="132212" y="288598"/>
            <a:ext cx="4526597" cy="1019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1) Hallar el </a:t>
            </a:r>
            <a:r>
              <a:rPr lang="es-ES" sz="1400" dirty="0">
                <a:solidFill>
                  <a:srgbClr val="000000"/>
                </a:solidFill>
              </a:rPr>
              <a:t>Árbol de expansión </a:t>
            </a:r>
            <a:r>
              <a:rPr lang="es-ES" sz="1400" dirty="0" err="1">
                <a:solidFill>
                  <a:srgbClr val="000000"/>
                </a:solidFill>
              </a:rPr>
              <a:t>minima</a:t>
            </a:r>
            <a:r>
              <a:rPr lang="es-ES" sz="1400" dirty="0">
                <a:solidFill>
                  <a:srgbClr val="000000"/>
                </a:solidFill>
              </a:rPr>
              <a:t> (MST) aplicando Kruskal con </a:t>
            </a:r>
            <a:r>
              <a:rPr lang="es-ES" sz="1400" dirty="0" err="1">
                <a:solidFill>
                  <a:srgbClr val="000000"/>
                </a:solidFill>
              </a:rPr>
              <a:t>Disjoint</a:t>
            </a:r>
            <a:r>
              <a:rPr lang="es-ES" sz="1400" dirty="0">
                <a:solidFill>
                  <a:srgbClr val="000000"/>
                </a:solidFill>
              </a:rPr>
              <a:t> Set: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9DEB00C2-1542-4198-80E0-B5A113A014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93327" y="1141924"/>
            <a:ext cx="3804366" cy="2693638"/>
          </a:xfrm>
          <a:prstGeom prst="rect">
            <a:avLst/>
          </a:prstGeom>
          <a:ln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C39CA3-648B-4B51-BE1A-3A0DED52F694}"/>
              </a:ext>
            </a:extLst>
          </p:cNvPr>
          <p:cNvSpPr txBox="1"/>
          <p:nvPr/>
        </p:nvSpPr>
        <p:spPr>
          <a:xfrm>
            <a:off x="5075498" y="34108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Dibuje el DS al agregar la 4ta arista</a:t>
            </a:r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F565DB-1169-4AF2-96A4-252DC683D75B}"/>
              </a:ext>
            </a:extLst>
          </p:cNvPr>
          <p:cNvSpPr txBox="1"/>
          <p:nvPr/>
        </p:nvSpPr>
        <p:spPr>
          <a:xfrm>
            <a:off x="5002957" y="23207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Dibuje el DS al agregar la 7ta arista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E524F-F6BD-473F-AC1F-DD385CA5D95D}"/>
              </a:ext>
            </a:extLst>
          </p:cNvPr>
          <p:cNvSpPr txBox="1"/>
          <p:nvPr/>
        </p:nvSpPr>
        <p:spPr>
          <a:xfrm>
            <a:off x="396432" y="4186863"/>
            <a:ext cx="6658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Kruskal (orden de aristas):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411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0E03B3F-8BF0-43FE-B4A2-01FEBD54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0638A16-F4AF-4A35-80D4-AC250F24754C}"/>
              </a:ext>
            </a:extLst>
          </p:cNvPr>
          <p:cNvSpPr txBox="1">
            <a:spLocks/>
          </p:cNvSpPr>
          <p:nvPr/>
        </p:nvSpPr>
        <p:spPr>
          <a:xfrm>
            <a:off x="132212" y="288598"/>
            <a:ext cx="4526597" cy="1019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2)  Hallar el </a:t>
            </a:r>
            <a:r>
              <a:rPr lang="es-ES" sz="1400" dirty="0">
                <a:solidFill>
                  <a:srgbClr val="000000"/>
                </a:solidFill>
              </a:rPr>
              <a:t>Árbol de expansión </a:t>
            </a:r>
            <a:r>
              <a:rPr lang="es-ES" sz="1400" dirty="0" err="1">
                <a:solidFill>
                  <a:srgbClr val="000000"/>
                </a:solidFill>
              </a:rPr>
              <a:t>minima</a:t>
            </a:r>
            <a:r>
              <a:rPr lang="es-ES" sz="1400" dirty="0">
                <a:solidFill>
                  <a:srgbClr val="000000"/>
                </a:solidFill>
              </a:rPr>
              <a:t> (MST) aplicando Prim (H):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E524F-F6BD-473F-AC1F-DD385CA5D95D}"/>
              </a:ext>
            </a:extLst>
          </p:cNvPr>
          <p:cNvSpPr txBox="1"/>
          <p:nvPr/>
        </p:nvSpPr>
        <p:spPr>
          <a:xfrm>
            <a:off x="5249121" y="645813"/>
            <a:ext cx="292670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Prim (orden de aristas):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Dibuje el MST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PE" dirty="0"/>
          </a:p>
        </p:txBody>
      </p:sp>
      <p:pic>
        <p:nvPicPr>
          <p:cNvPr id="1026" name="Picture 2" descr="MATEM´ATICA DISCRETA">
            <a:extLst>
              <a:ext uri="{FF2B5EF4-FFF2-40B4-BE49-F238E27FC236}">
                <a16:creationId xmlns:a16="http://schemas.microsoft.com/office/drawing/2014/main" id="{D6BDF0E2-6FA2-47B5-84D1-5EB8AA7C8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2" y="1357655"/>
            <a:ext cx="4573451" cy="226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92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E86F5B-8B38-44CA-B1B4-0F45C833A803}"/>
              </a:ext>
            </a:extLst>
          </p:cNvPr>
          <p:cNvSpPr txBox="1">
            <a:spLocks/>
          </p:cNvSpPr>
          <p:nvPr/>
        </p:nvSpPr>
        <p:spPr>
          <a:xfrm>
            <a:off x="132212" y="288597"/>
            <a:ext cx="4526597" cy="219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3) </a:t>
            </a:r>
            <a:r>
              <a:rPr lang="es-ES" sz="1400" dirty="0">
                <a:solidFill>
                  <a:srgbClr val="000000"/>
                </a:solidFill>
              </a:rPr>
              <a:t>Ejecute el algoritmo de Dijkstra sobre la </a:t>
            </a:r>
            <a:r>
              <a:rPr lang="es-ES" sz="1400" b="1" dirty="0">
                <a:solidFill>
                  <a:srgbClr val="000000"/>
                </a:solidFill>
              </a:rPr>
              <a:t>arista C </a:t>
            </a:r>
            <a:r>
              <a:rPr lang="es-ES" sz="1400" dirty="0">
                <a:solidFill>
                  <a:srgbClr val="000000"/>
                </a:solidFill>
              </a:rPr>
              <a:t>en el siguiente grafo. Ejecute los pasos en orden, e indique al final los pesos y los caminos más cortos encontrados. Pinte sobre el grafo los caminos o dibuje el árbol resultante. </a:t>
            </a:r>
            <a:r>
              <a:rPr lang="es-ES" sz="1400" b="1" dirty="0">
                <a:solidFill>
                  <a:srgbClr val="000000"/>
                </a:solidFill>
              </a:rPr>
              <a:t>Que el orden en que se exploran los vértices sea claro.</a:t>
            </a: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43B3861B-283B-4718-BDE6-42B8F65B19C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440045" y="236511"/>
            <a:ext cx="3104519" cy="2626393"/>
          </a:xfrm>
          <a:prstGeom prst="rect">
            <a:avLst/>
          </a:prstGeom>
          <a:ln/>
        </p:spPr>
      </p:pic>
      <p:graphicFrame>
        <p:nvGraphicFramePr>
          <p:cNvPr id="6" name="Google Shape;278;p33">
            <a:extLst>
              <a:ext uri="{FF2B5EF4-FFF2-40B4-BE49-F238E27FC236}">
                <a16:creationId xmlns:a16="http://schemas.microsoft.com/office/drawing/2014/main" id="{AFC33932-8C80-4963-A6F1-390AEAB69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75873"/>
              </p:ext>
            </p:extLst>
          </p:nvPr>
        </p:nvGraphicFramePr>
        <p:xfrm>
          <a:off x="656488" y="3288754"/>
          <a:ext cx="6392490" cy="8450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850655728"/>
                    </a:ext>
                  </a:extLst>
                </a:gridCol>
              </a:tblGrid>
              <a:tr h="422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sz="12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FF0B25E-6FC5-4443-B849-E7AEFA5B4607}"/>
              </a:ext>
            </a:extLst>
          </p:cNvPr>
          <p:cNvSpPr txBox="1"/>
          <p:nvPr/>
        </p:nvSpPr>
        <p:spPr>
          <a:xfrm>
            <a:off x="599436" y="2612580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/>
              <a:t>Actual</a:t>
            </a:r>
            <a:endParaRPr lang="es-PE" sz="1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6447C9-21E9-437A-A08A-1C094B60C2CA}"/>
              </a:ext>
            </a:extLst>
          </p:cNvPr>
          <p:cNvSpPr txBox="1"/>
          <p:nvPr/>
        </p:nvSpPr>
        <p:spPr>
          <a:xfrm>
            <a:off x="3261780" y="2585905"/>
            <a:ext cx="1944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/>
              <a:t>Distancia desde C hacia</a:t>
            </a:r>
            <a:endParaRPr lang="es-PE" sz="1200" b="1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EC26665-C962-4A43-B11A-8344F90067F0}"/>
              </a:ext>
            </a:extLst>
          </p:cNvPr>
          <p:cNvCxnSpPr>
            <a:cxnSpLocks/>
          </p:cNvCxnSpPr>
          <p:nvPr/>
        </p:nvCxnSpPr>
        <p:spPr>
          <a:xfrm flipH="1">
            <a:off x="1006595" y="2914460"/>
            <a:ext cx="1" cy="34697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errar llave 9">
            <a:extLst>
              <a:ext uri="{FF2B5EF4-FFF2-40B4-BE49-F238E27FC236}">
                <a16:creationId xmlns:a16="http://schemas.microsoft.com/office/drawing/2014/main" id="{7C0084B1-F056-4F8A-B82C-9DC88452D4C4}"/>
              </a:ext>
            </a:extLst>
          </p:cNvPr>
          <p:cNvSpPr/>
          <p:nvPr/>
        </p:nvSpPr>
        <p:spPr>
          <a:xfrm rot="16200000">
            <a:off x="4018690" y="331498"/>
            <a:ext cx="377353" cy="5440165"/>
          </a:xfrm>
          <a:prstGeom prst="righ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100"/>
          </a:p>
        </p:txBody>
      </p:sp>
    </p:spTree>
    <p:extLst>
      <p:ext uri="{BB962C8B-B14F-4D97-AF65-F5344CB8AC3E}">
        <p14:creationId xmlns:p14="http://schemas.microsoft.com/office/powerpoint/2010/main" val="230651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497D04-0F06-453D-A114-4A28F154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06D9F9C2-94F5-416F-8802-4BE311B819D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370652" y="198940"/>
            <a:ext cx="3235124" cy="2372810"/>
          </a:xfrm>
          <a:prstGeom prst="rect">
            <a:avLst/>
          </a:prstGeom>
          <a:ln/>
        </p:spPr>
      </p:pic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0EA2DC27-F4C0-4C19-ADD7-BDA1B360228E}"/>
              </a:ext>
            </a:extLst>
          </p:cNvPr>
          <p:cNvSpPr txBox="1">
            <a:spLocks/>
          </p:cNvSpPr>
          <p:nvPr/>
        </p:nvSpPr>
        <p:spPr>
          <a:xfrm>
            <a:off x="149574" y="107879"/>
            <a:ext cx="4954861" cy="269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4) </a:t>
            </a:r>
            <a:r>
              <a:rPr lang="es-ES" sz="1400" dirty="0">
                <a:solidFill>
                  <a:srgbClr val="000000"/>
                </a:solidFill>
              </a:rPr>
              <a:t>Considere el siguiente grafo no dirigido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Encuentre el camino más eficiente para llegar del vértice ‘A’ al vértice ‘J’ utilizando el algoritmo de A*. 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Los números en las aristas representan la distancia entre vértices.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Los números en los nodos representan el valor de la heurística.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Anote en la tabla el resultado de cada iteración.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Al final coloque el camino resultante.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85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497D04-0F06-453D-A114-4A28F154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3" name="image6.png">
            <a:extLst>
              <a:ext uri="{FF2B5EF4-FFF2-40B4-BE49-F238E27FC236}">
                <a16:creationId xmlns:a16="http://schemas.microsoft.com/office/drawing/2014/main" id="{2BD8F7A2-4175-4EAF-B1F7-C5EC74CADB5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06100" y="1471499"/>
            <a:ext cx="2587840" cy="2296060"/>
          </a:xfrm>
          <a:prstGeom prst="rect">
            <a:avLst/>
          </a:prstGeom>
          <a:ln/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C75BF-AB08-4BA0-A591-F7BD6162F368}"/>
              </a:ext>
            </a:extLst>
          </p:cNvPr>
          <p:cNvSpPr txBox="1">
            <a:spLocks/>
          </p:cNvSpPr>
          <p:nvPr/>
        </p:nvSpPr>
        <p:spPr>
          <a:xfrm>
            <a:off x="149574" y="107879"/>
            <a:ext cx="4526597" cy="164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5) </a:t>
            </a:r>
            <a:r>
              <a:rPr lang="es-ES" sz="1400" dirty="0">
                <a:solidFill>
                  <a:srgbClr val="000000"/>
                </a:solidFill>
              </a:rPr>
              <a:t>Muestre los árboles resultantes de insertar 18, luego 13 y finalmente 4 en el siguiente árbol AVL (SE DEBEN MOSTRAR LOS 3 ÁRBOLES):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31792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256</Words>
  <Application>Microsoft Office PowerPoint</Application>
  <PresentationFormat>Presentación en pantalla (16:9)</PresentationFormat>
  <Paragraphs>47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Tahoma</vt:lpstr>
      <vt:lpstr>Roboto</vt:lpstr>
      <vt:lpstr>Calibri</vt:lpstr>
      <vt:lpstr>Arial</vt:lpstr>
      <vt:lpstr>Material</vt:lpstr>
      <vt:lpstr>Práctica Calificada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</dc:title>
  <cp:lastModifiedBy>heider sanchez</cp:lastModifiedBy>
  <cp:revision>62</cp:revision>
  <dcterms:modified xsi:type="dcterms:W3CDTF">2022-06-06T15:01:12Z</dcterms:modified>
</cp:coreProperties>
</file>